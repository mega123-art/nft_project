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large / near objects</c:v>
                </c:pt>
              </c:strCache>
            </c:strRef>
          </c:tx>
          <c:spPr>
            <a:solidFill>
              <a:srgbClr val="5EC8E5"/>
            </a:solidFill>
            <a:effectLst/>
          </c:spPr>
          <c:invertIfNegative val="0"/>
          <c:dLbls>
            <c:numFmt formatCode="0.000;;;" sourceLinked="0"/>
            <c:txPr>
              <a:bodyPr/>
              <a:lstStyle/>
              <a:p>
                <a:pPr>
                  <a:defRPr b="1" i="0" strike="noStrike" sz="1200" u="none">
                    <a:solidFill>
                      <a:srgbClr val="0E1116"/>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signal_green</c:v>
                  </c:pt>
                  <c:pt idx="1">
                    <c:v>signal_red</c:v>
                  </c:pt>
                  <c:pt idx="2">
                    <c:v>bus</c:v>
                  </c:pt>
                  <c:pt idx="3">
                    <c:v>person</c:v>
                  </c:pt>
                  <c:pt idx="4">
                    <c:v>truck</c:v>
                  </c:pt>
                  <c:pt idx="5">
                    <c:v>motorcycle</c:v>
                  </c:pt>
                  <c:pt idx="6">
                    <c:v>autorickshaw</c:v>
                  </c:pt>
                  <c:pt idx="7">
                    <c:v>crosswalk</c:v>
                  </c:pt>
                  <c:pt idx="8">
                    <c:v>car</c:v>
                  </c:pt>
                </c:lvl>
              </c:multiLvlStrCache>
            </c:multiLvlStrRef>
          </c:cat>
          <c:val>
            <c:numRef>
              <c:f>Sheet1!$B$2:$B$10</c:f>
              <c:numCache>
                <c:formatCode>General</c:formatCode>
                <c:ptCount val="9"/>
                <c:pt idx="0">
                  <c:v>0</c:v>
                </c:pt>
                <c:pt idx="1">
                  <c:v>0</c:v>
                </c:pt>
                <c:pt idx="2">
                  <c:v>0.738</c:v>
                </c:pt>
                <c:pt idx="3">
                  <c:v>0.765</c:v>
                </c:pt>
                <c:pt idx="4">
                  <c:v>0.839</c:v>
                </c:pt>
                <c:pt idx="5">
                  <c:v>0.877</c:v>
                </c:pt>
                <c:pt idx="6">
                  <c:v>0.921</c:v>
                </c:pt>
                <c:pt idx="7">
                  <c:v>0.932</c:v>
                </c:pt>
                <c:pt idx="8">
                  <c:v>0.939</c:v>
                </c:pt>
              </c:numCache>
            </c:numRef>
          </c:val>
        </c:ser>
        <c:ser>
          <c:idx val="1"/>
          <c:order val="1"/>
          <c:tx>
            <c:strRef>
              <c:f>Sheet1!$C$1</c:f>
              <c:strCache>
                <c:ptCount val="1"/>
                <c:pt idx="0">
                  <c:v>signal heads</c:v>
                </c:pt>
              </c:strCache>
            </c:strRef>
          </c:tx>
          <c:spPr>
            <a:solidFill>
              <a:srgbClr val="F5B43C"/>
            </a:solidFill>
            <a:effectLst/>
          </c:spPr>
          <c:invertIfNegative val="0"/>
          <c:dLbls>
            <c:numFmt formatCode="0.000;;;" sourceLinked="0"/>
            <c:txPr>
              <a:bodyPr/>
              <a:lstStyle/>
              <a:p>
                <a:pPr>
                  <a:defRPr b="1" i="0" strike="noStrike" sz="1200" u="none">
                    <a:solidFill>
                      <a:srgbClr val="0E1116"/>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signal_green</c:v>
                  </c:pt>
                  <c:pt idx="1">
                    <c:v>signal_red</c:v>
                  </c:pt>
                  <c:pt idx="2">
                    <c:v>bus</c:v>
                  </c:pt>
                  <c:pt idx="3">
                    <c:v>person</c:v>
                  </c:pt>
                  <c:pt idx="4">
                    <c:v>truck</c:v>
                  </c:pt>
                  <c:pt idx="5">
                    <c:v>motorcycle</c:v>
                  </c:pt>
                  <c:pt idx="6">
                    <c:v>autorickshaw</c:v>
                  </c:pt>
                  <c:pt idx="7">
                    <c:v>crosswalk</c:v>
                  </c:pt>
                  <c:pt idx="8">
                    <c:v>car</c:v>
                  </c:pt>
                </c:lvl>
              </c:multiLvlStrCache>
            </c:multiLvlStrRef>
          </c:cat>
          <c:val>
            <c:numRef>
              <c:f>Sheet1!$C$2:$C$10</c:f>
              <c:numCache>
                <c:formatCode>General</c:formatCode>
                <c:ptCount val="9"/>
                <c:pt idx="0">
                  <c:v>0.721</c:v>
                </c:pt>
                <c:pt idx="1">
                  <c:v>0.731</c:v>
                </c:pt>
                <c:pt idx="2">
                  <c:v>0</c:v>
                </c:pt>
                <c:pt idx="3">
                  <c:v>0</c:v>
                </c:pt>
                <c:pt idx="4">
                  <c:v>0</c:v>
                </c:pt>
                <c:pt idx="5">
                  <c:v>0</c:v>
                </c:pt>
                <c:pt idx="6">
                  <c:v>0</c:v>
                </c:pt>
                <c:pt idx="7">
                  <c:v>0</c:v>
                </c:pt>
                <c:pt idx="8">
                  <c:v>0</c:v>
                </c:pt>
              </c:numCache>
            </c:numRef>
          </c:val>
        </c:ser>
        <c:dLbls>
          <c:numFmt formatCode="0.000;;;" sourceLinked="0"/>
          <c:txPr>
            <a:bodyPr/>
            <a:lstStyle/>
            <a:p>
              <a:pPr>
                <a:defRPr b="1" i="0" strike="noStrike" sz="1200" u="none">
                  <a:solidFill>
                    <a:srgbClr val="0E1116"/>
                  </a:solidFill>
                  <a:latin typeface="Arial"/>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2F4F7"/>
                </a:solidFill>
                <a:latin typeface="Consolas"/>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2E3845"/>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A3ACBA"/>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covers the problem, prior work, the research gap, the method, the architecture and the workflow. Results and evaluation come in later rounds. Replace the bracketed placeholders with the guide name and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view of a crossing. The camera sees the crosswalk, the signal and the traffic. The PC runs the vision pipeline and the pedestrian hears a spoken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2x2 is the intellectual core of the project. Every later design choice (confidence gating, hysteresis, unknown-means-wait) is a consequence of the bottom-right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citations on this slide are well-known works; two slots are deliberately marked CITATION NEEDED because assistive-crossing papers must be chosen and verified by the team. Check every venue and year against the actual paper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moved from two-stage (R-CNN, Faster R-CNN) to single-pass (YOLO) designs. Tracking moved from SORT to DeepSORT to ByteTrack, which also uses low-confidence boxes during association.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1: detection metrics are symmetric. Gap 2: monocular TTC usually needs calibration or known sizes. Gap 3: behaviour under absent or ambiguous evidence is rarely specified. The contribution is the integration plus explicit asymmetry.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detectors first propose candidate regions, then classify each one. YOLO predicts boxes and classes for the whole image in a single network pass, which is what makes CPU real-time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mAP50 from the trained detector. Sorted high to low. The two signal classes are highlighted because they are small, distant objects. This is the accuracy of one component, not of the whole crossing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identity you cannot tell approach from recession. ByteTrack predicts track motion, matches high-confidence boxes by IoU, then runs a second association with low-confidence boxes so tracks survive occlusion.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Pinhole geometry: apparent width is inversely proportional to distance. The constant k combines focal length and the true vehicle width. We never need to know it, because it cancels in the TTC calculation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Width against time is a hyperbola, so a linear fit on w underestimates growth and overestimates the time left. Its reciprocal u = 1/w = D/k is exactly linear in time at constant closing speed. Fit a line to the last few u samples and extrapolate to u = 0: TTC = u / (−du/dt). The unknown constant k cancels, so no camera calibration or vehicle size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±1.5 px wobble is 7.5% of a 20 px box but 0.75% of a 200 px box. The apparent approach rate that noise alone can fake scales as δ/(w²T), so no single fixed threshold works across sizes. Instead the system converts this into a TTC noise horizon that grows with box size, and returns UNKNOWN (which blocks SAFE) when the horizon is too short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false-positive red only causes extra caution, so red is trusted at whatever confidence the detector reports. Crosswalk and green both push toward SAFE, so they must clear 0.6. Between 0.4 and 0.6 they are treated as not seen, which falls through to WAIT (or SEARCHING for a crosswalk). Uncertainty can only ever push toward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diagram. Perception (camera, detector, tracker) feeds measurement (TTC), which feeds the safety logic (six rules, then asymmetric hysteresis), which drives audio. Every decision is also written to a SQLite log by a background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detector on every Nth frame roughly doubles throughput at N=2. Tracking, TTC, rules and the hysteresis vote run only on frames that were actually detected. If a skipped frame reused the previous box with a new timestamp, widths would lag the truth, the fitted approach would look slower, and TTC would be overestimated: the dangerous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and logging each run in their own thread behind a queue, so the vision loop never blocks. Earcons give instant, language-free meaning. Repeated messages are rate-limited, but a transition into WAIT bypasses every limit and drops stale pending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checked in order and the first match wins. Rule 1 gates everything on a confident crosswalk. Rules 2, 3 and 4 are danger checks that force WAIT. Rule 5 is the only rule that can produce SAFE, and it needs a confident green AND a road that is assessably clear: no unresolved vehicle, and any approaching vehicle’s TTC longer than the time needed to walk the crossing. Rule 6 is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what the rules say on each frame. Middle: the vote counter. Bottom: what is actually announced. A single WAIT in the run at frame 5 resets the count. SAFE is announced only at frame 13, after 8 agreeing frames. At frame 16 one WAIT withdraws SAFE on the same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only ever emit three states. Transitions into any state are debounced by an 8-frame vote; the single exception is leaving SAFE_TO_CROSS, which happens on the next disagreeing frame. WAITING is drawn largest because it is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workflow: collect, unify classes, label, train, integrate phase by phase, log. Evaluation is planned for later rounds: decision logs are compared frame-by-frame with hand-annotated ground truth, and false-SAFE and false-WAIT are reported separately because their costs are not comparable. No whole-system accuracy is claimed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6309360" y="5989320"/>
            <a:ext cx="384048" cy="868680"/>
          </a:xfrm>
          <a:prstGeom prst="rect">
            <a:avLst/>
          </a:prstGeom>
          <a:solidFill>
            <a:srgbClr val="E6E9EE">
              <a:alpha val="10000"/>
            </a:srgbClr>
          </a:solidFill>
          <a:ln/>
        </p:spPr>
      </p:sp>
      <p:sp>
        <p:nvSpPr>
          <p:cNvPr id="3" name="Shape 1"/>
          <p:cNvSpPr/>
          <p:nvPr/>
        </p:nvSpPr>
        <p:spPr>
          <a:xfrm>
            <a:off x="6967728" y="5989320"/>
            <a:ext cx="384048" cy="868680"/>
          </a:xfrm>
          <a:prstGeom prst="rect">
            <a:avLst/>
          </a:prstGeom>
          <a:solidFill>
            <a:srgbClr val="E6E9EE">
              <a:alpha val="10000"/>
            </a:srgbClr>
          </a:solidFill>
          <a:ln/>
        </p:spPr>
      </p:sp>
      <p:sp>
        <p:nvSpPr>
          <p:cNvPr id="4" name="Shape 2"/>
          <p:cNvSpPr/>
          <p:nvPr/>
        </p:nvSpPr>
        <p:spPr>
          <a:xfrm>
            <a:off x="7626096" y="5989320"/>
            <a:ext cx="384048" cy="868680"/>
          </a:xfrm>
          <a:prstGeom prst="rect">
            <a:avLst/>
          </a:prstGeom>
          <a:solidFill>
            <a:srgbClr val="E6E9EE">
              <a:alpha val="10000"/>
            </a:srgbClr>
          </a:solidFill>
          <a:ln/>
        </p:spPr>
      </p:sp>
      <p:sp>
        <p:nvSpPr>
          <p:cNvPr id="5" name="Shape 3"/>
          <p:cNvSpPr/>
          <p:nvPr/>
        </p:nvSpPr>
        <p:spPr>
          <a:xfrm>
            <a:off x="8284464" y="5989320"/>
            <a:ext cx="384048" cy="868680"/>
          </a:xfrm>
          <a:prstGeom prst="rect">
            <a:avLst/>
          </a:prstGeom>
          <a:solidFill>
            <a:srgbClr val="E6E9EE">
              <a:alpha val="10000"/>
            </a:srgbClr>
          </a:solidFill>
          <a:ln/>
        </p:spPr>
      </p:sp>
      <p:sp>
        <p:nvSpPr>
          <p:cNvPr id="6" name="Shape 4"/>
          <p:cNvSpPr/>
          <p:nvPr/>
        </p:nvSpPr>
        <p:spPr>
          <a:xfrm>
            <a:off x="8942832" y="5989320"/>
            <a:ext cx="384048" cy="868680"/>
          </a:xfrm>
          <a:prstGeom prst="rect">
            <a:avLst/>
          </a:prstGeom>
          <a:solidFill>
            <a:srgbClr val="E6E9EE">
              <a:alpha val="10000"/>
            </a:srgbClr>
          </a:solidFill>
          <a:ln/>
        </p:spPr>
      </p:sp>
      <p:sp>
        <p:nvSpPr>
          <p:cNvPr id="7" name="Shape 5"/>
          <p:cNvSpPr/>
          <p:nvPr/>
        </p:nvSpPr>
        <p:spPr>
          <a:xfrm>
            <a:off x="9601200" y="5989320"/>
            <a:ext cx="384048" cy="868680"/>
          </a:xfrm>
          <a:prstGeom prst="rect">
            <a:avLst/>
          </a:prstGeom>
          <a:solidFill>
            <a:srgbClr val="E6E9EE">
              <a:alpha val="10000"/>
            </a:srgbClr>
          </a:solidFill>
          <a:ln/>
        </p:spPr>
      </p:sp>
      <p:sp>
        <p:nvSpPr>
          <p:cNvPr id="8" name="Shape 6"/>
          <p:cNvSpPr/>
          <p:nvPr/>
        </p:nvSpPr>
        <p:spPr>
          <a:xfrm>
            <a:off x="10259568" y="5989320"/>
            <a:ext cx="384048" cy="868680"/>
          </a:xfrm>
          <a:prstGeom prst="rect">
            <a:avLst/>
          </a:prstGeom>
          <a:solidFill>
            <a:srgbClr val="E6E9EE">
              <a:alpha val="10000"/>
            </a:srgbClr>
          </a:solidFill>
          <a:ln/>
        </p:spPr>
      </p:sp>
      <p:sp>
        <p:nvSpPr>
          <p:cNvPr id="9" name="Shape 7"/>
          <p:cNvSpPr/>
          <p:nvPr/>
        </p:nvSpPr>
        <p:spPr>
          <a:xfrm>
            <a:off x="10917936" y="5989320"/>
            <a:ext cx="384048" cy="868680"/>
          </a:xfrm>
          <a:prstGeom prst="rect">
            <a:avLst/>
          </a:prstGeom>
          <a:solidFill>
            <a:srgbClr val="E6E9EE">
              <a:alpha val="10000"/>
            </a:srgbClr>
          </a:solidFill>
          <a:ln/>
        </p:spPr>
      </p:sp>
      <p:sp>
        <p:nvSpPr>
          <p:cNvPr id="10" name="Shape 8"/>
          <p:cNvSpPr/>
          <p:nvPr/>
        </p:nvSpPr>
        <p:spPr>
          <a:xfrm>
            <a:off x="11576304" y="5989320"/>
            <a:ext cx="384048" cy="868680"/>
          </a:xfrm>
          <a:prstGeom prst="rect">
            <a:avLst/>
          </a:prstGeom>
          <a:solidFill>
            <a:srgbClr val="E6E9EE">
              <a:alpha val="10000"/>
            </a:srgbClr>
          </a:solidFill>
          <a:ln/>
        </p:spPr>
      </p:sp>
      <p:sp>
        <p:nvSpPr>
          <p:cNvPr id="11" name="Text 9"/>
          <p:cNvSpPr txBox="1"/>
          <p:nvPr/>
        </p:nvSpPr>
        <p:spPr>
          <a:xfrm>
            <a:off x="731520" y="960120"/>
            <a:ext cx="7315200" cy="274320"/>
          </a:xfrm>
          <a:prstGeom prst="rect">
            <a:avLst/>
          </a:prstGeom>
          <a:noFill/>
          <a:ln/>
        </p:spPr>
        <p:txBody>
          <a:bodyPr wrap="square" lIns="0" tIns="0" rIns="0" bIns="0" rtlCol="0" anchor="t"/>
          <a:lstStyle/>
          <a:p>
            <a:pPr indent="0" marL="0">
              <a:buNone/>
            </a:pPr>
            <a:r>
              <a:rPr lang="en-US" sz="1200" b="1" spc="200" kern="0" dirty="0">
                <a:solidFill>
                  <a:srgbClr val="A3ACBA"/>
                </a:solidFill>
                <a:latin typeface="Calibri" pitchFamily="34" charset="0"/>
                <a:ea typeface="Calibri" pitchFamily="34" charset="-122"/>
                <a:cs typeface="Calibri" pitchFamily="34" charset="-120"/>
              </a:rPr>
              <a:t>FINAL-YEAR ENGINEERING PROJECT  ·  REVIEW ROUND 1</a:t>
            </a:r>
            <a:endParaRPr lang="en-US" sz="1200" dirty="0"/>
          </a:p>
        </p:txBody>
      </p:sp>
      <p:sp>
        <p:nvSpPr>
          <p:cNvPr id="12" name="Text 10"/>
          <p:cNvSpPr txBox="1"/>
          <p:nvPr/>
        </p:nvSpPr>
        <p:spPr>
          <a:xfrm>
            <a:off x="731520" y="1371600"/>
            <a:ext cx="7680960" cy="1737360"/>
          </a:xfrm>
          <a:prstGeom prst="rect">
            <a:avLst/>
          </a:prstGeom>
          <a:noFill/>
          <a:ln/>
        </p:spPr>
        <p:txBody>
          <a:bodyPr wrap="square" lIns="0" tIns="0" rIns="0" bIns="0" rtlCol="0" anchor="t"/>
          <a:lstStyle/>
          <a:p>
            <a:pPr indent="0" marL="0">
              <a:lnSpc>
                <a:spcPct val="90000"/>
              </a:lnSpc>
              <a:buNone/>
            </a:pPr>
            <a:r>
              <a:rPr lang="en-US" sz="5200" b="1" dirty="0">
                <a:solidFill>
                  <a:srgbClr val="F2F4F7"/>
                </a:solidFill>
                <a:latin typeface="Calibri" pitchFamily="34" charset="0"/>
                <a:ea typeface="Calibri" pitchFamily="34" charset="-122"/>
                <a:cs typeface="Calibri" pitchFamily="34" charset="-120"/>
              </a:rPr>
              <a:t>Safe Road-Crossing</a:t>
            </a:r>
            <a:endParaRPr lang="en-US" sz="5200" dirty="0"/>
          </a:p>
          <a:p>
            <a:pPr indent="0" marL="0">
              <a:lnSpc>
                <a:spcPct val="90000"/>
              </a:lnSpc>
              <a:buNone/>
            </a:pPr>
            <a:r>
              <a:rPr lang="en-US" sz="5200" b="1" dirty="0">
                <a:solidFill>
                  <a:srgbClr val="F2F4F7"/>
                </a:solidFill>
                <a:latin typeface="Calibri" pitchFamily="34" charset="0"/>
                <a:ea typeface="Calibri" pitchFamily="34" charset="-122"/>
                <a:cs typeface="Calibri" pitchFamily="34" charset="-120"/>
              </a:rPr>
              <a:t>Assistance System</a:t>
            </a:r>
            <a:endParaRPr lang="en-US" sz="5200" dirty="0"/>
          </a:p>
        </p:txBody>
      </p:sp>
      <p:sp>
        <p:nvSpPr>
          <p:cNvPr id="13" name="Text 11"/>
          <p:cNvSpPr txBox="1"/>
          <p:nvPr/>
        </p:nvSpPr>
        <p:spPr>
          <a:xfrm>
            <a:off x="731520" y="3246120"/>
            <a:ext cx="6949440" cy="914400"/>
          </a:xfrm>
          <a:prstGeom prst="rect">
            <a:avLst/>
          </a:prstGeom>
          <a:noFill/>
          <a:ln/>
        </p:spPr>
        <p:txBody>
          <a:bodyPr wrap="square" lIns="0" tIns="0" rIns="0" bIns="0" rtlCol="0" anchor="t"/>
          <a:lstStyle/>
          <a:p>
            <a:pPr indent="0" marL="0">
              <a:buNone/>
            </a:pPr>
            <a:r>
              <a:rPr lang="en-US" sz="1800" dirty="0">
                <a:solidFill>
                  <a:srgbClr val="A3ACBA"/>
                </a:solidFill>
                <a:latin typeface="Calibri" pitchFamily="34" charset="0"/>
                <a:ea typeface="Calibri" pitchFamily="34" charset="-122"/>
                <a:cs typeface="Calibri" pitchFamily="34" charset="-120"/>
              </a:rPr>
              <a:t>A computer-vision system that watches a road crossing through a camera and tells a visually impaired or elderly pedestrian, out loud, when it is safe to cross.</a:t>
            </a:r>
            <a:endParaRPr lang="en-US" sz="1800" dirty="0"/>
          </a:p>
        </p:txBody>
      </p:sp>
      <p:sp>
        <p:nvSpPr>
          <p:cNvPr id="14" name="Text 12"/>
          <p:cNvSpPr txBox="1"/>
          <p:nvPr/>
        </p:nvSpPr>
        <p:spPr>
          <a:xfrm>
            <a:off x="731520" y="4434840"/>
            <a:ext cx="1143000" cy="566928"/>
          </a:xfrm>
          <a:prstGeom prst="roundRect">
            <a:avLst>
              <a:gd name="adj" fmla="val 50000"/>
            </a:avLst>
          </a:prstGeom>
          <a:solidFill>
            <a:srgbClr val="F2545B"/>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WAIT</a:t>
            </a:r>
            <a:endParaRPr lang="en-US" sz="1800" dirty="0"/>
          </a:p>
        </p:txBody>
      </p:sp>
      <p:sp>
        <p:nvSpPr>
          <p:cNvPr id="15" name="Text 13"/>
          <p:cNvSpPr txBox="1"/>
          <p:nvPr/>
        </p:nvSpPr>
        <p:spPr>
          <a:xfrm>
            <a:off x="2057400" y="4434840"/>
            <a:ext cx="5943600" cy="566928"/>
          </a:xfrm>
          <a:prstGeom prst="rect">
            <a:avLst/>
          </a:prstGeom>
          <a:noFill/>
          <a:ln/>
        </p:spPr>
        <p:txBody>
          <a:bodyPr wrap="square" lIns="0" tIns="0" rIns="0" bIns="0" rtlCol="0" anchor="ctr"/>
          <a:lstStyle/>
          <a:p>
            <a:pPr indent="0" marL="0">
              <a:buNone/>
            </a:pPr>
            <a:r>
              <a:rPr lang="en-US" sz="1700" b="1" dirty="0">
                <a:solidFill>
                  <a:srgbClr val="F2F4F7"/>
                </a:solidFill>
                <a:latin typeface="Calibri" pitchFamily="34" charset="0"/>
                <a:ea typeface="Calibri" pitchFamily="34" charset="-122"/>
                <a:cs typeface="Calibri" pitchFamily="34" charset="-120"/>
              </a:rPr>
              <a:t>is the default.  </a:t>
            </a:r>
            <a:pPr indent="0" marL="0">
              <a:buNone/>
            </a:pPr>
            <a:r>
              <a:rPr lang="en-US" sz="1700" b="1" dirty="0">
                <a:solidFill>
                  <a:srgbClr val="3DD68C"/>
                </a:solidFill>
                <a:latin typeface="Calibri" pitchFamily="34" charset="0"/>
                <a:ea typeface="Calibri" pitchFamily="34" charset="-122"/>
                <a:cs typeface="Calibri" pitchFamily="34" charset="-120"/>
              </a:rPr>
              <a:t>SAFE</a:t>
            </a:r>
            <a:pPr indent="0" marL="0">
              <a:buNone/>
            </a:pPr>
            <a:r>
              <a:rPr lang="en-US" sz="1700" dirty="0">
                <a:solidFill>
                  <a:srgbClr val="F2F4F7"/>
                </a:solidFill>
                <a:latin typeface="Calibri" pitchFamily="34" charset="0"/>
                <a:ea typeface="Calibri" pitchFamily="34" charset="-122"/>
                <a:cs typeface="Calibri" pitchFamily="34" charset="-120"/>
              </a:rPr>
              <a:t> is said only on explicit positive evidence.</a:t>
            </a:r>
            <a:endParaRPr lang="en-US" sz="1700" dirty="0"/>
          </a:p>
        </p:txBody>
      </p:sp>
      <p:sp>
        <p:nvSpPr>
          <p:cNvPr id="16" name="Text 14"/>
          <p:cNvSpPr txBox="1"/>
          <p:nvPr/>
        </p:nvSpPr>
        <p:spPr>
          <a:xfrm>
            <a:off x="731520" y="5303520"/>
            <a:ext cx="8046720" cy="320040"/>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Parth Agrawal  ·  Atul Bharathi  ·  Sarvesh Pande  ·  Kishan Shakya  ·  Abhishek Dixit</a:t>
            </a:r>
            <a:endParaRPr lang="en-US" sz="1500" dirty="0"/>
          </a:p>
        </p:txBody>
      </p:sp>
      <p:sp>
        <p:nvSpPr>
          <p:cNvPr id="17" name="Text 15"/>
          <p:cNvSpPr txBox="1"/>
          <p:nvPr/>
        </p:nvSpPr>
        <p:spPr>
          <a:xfrm>
            <a:off x="731520" y="5669280"/>
            <a:ext cx="7772400" cy="274320"/>
          </a:xfrm>
          <a:prstGeom prst="rect">
            <a:avLst/>
          </a:prstGeom>
          <a:noFill/>
          <a:ln/>
        </p:spPr>
        <p:txBody>
          <a:bodyPr wrap="square" lIns="0" tIns="0" rIns="0" bIns="0" rtlCol="0" anchor="t"/>
          <a:lstStyle/>
          <a:p>
            <a:pPr indent="0" marL="0">
              <a:buNone/>
            </a:pPr>
            <a:r>
              <a:rPr lang="en-US" sz="1200" dirty="0">
                <a:solidFill>
                  <a:srgbClr val="667085"/>
                </a:solidFill>
                <a:latin typeface="Calibri" pitchFamily="34" charset="0"/>
                <a:ea typeface="Calibri" pitchFamily="34" charset="-122"/>
                <a:cs typeface="Calibri" pitchFamily="34" charset="-120"/>
              </a:rPr>
              <a:t>Guide: [Guide name]  ·  [Department, College]  ·  2026</a:t>
            </a:r>
            <a:endParaRPr lang="en-US" sz="1200" dirty="0"/>
          </a:p>
        </p:txBody>
      </p:sp>
      <p:sp>
        <p:nvSpPr>
          <p:cNvPr id="18" name="Shape 16"/>
          <p:cNvSpPr/>
          <p:nvPr/>
        </p:nvSpPr>
        <p:spPr>
          <a:xfrm>
            <a:off x="9756648" y="4937760"/>
            <a:ext cx="237744" cy="1280160"/>
          </a:xfrm>
          <a:prstGeom prst="rect">
            <a:avLst/>
          </a:prstGeom>
          <a:solidFill>
            <a:srgbClr val="1B2129"/>
          </a:solidFill>
          <a:ln/>
        </p:spPr>
      </p:sp>
      <p:sp>
        <p:nvSpPr>
          <p:cNvPr id="19" name="Shape 17"/>
          <p:cNvSpPr/>
          <p:nvPr/>
        </p:nvSpPr>
        <p:spPr>
          <a:xfrm>
            <a:off x="9098280" y="822960"/>
            <a:ext cx="1554480" cy="4206240"/>
          </a:xfrm>
          <a:prstGeom prst="roundRect">
            <a:avLst>
              <a:gd name="adj" fmla="val 17647"/>
            </a:avLst>
          </a:prstGeom>
          <a:solidFill>
            <a:srgbClr val="1B2129"/>
          </a:solidFill>
          <a:ln w="12700">
            <a:solidFill>
              <a:srgbClr val="2E3845"/>
            </a:solidFill>
            <a:prstDash val="solid"/>
          </a:ln>
        </p:spPr>
      </p:sp>
      <p:sp>
        <p:nvSpPr>
          <p:cNvPr id="20" name="Shape 18"/>
          <p:cNvSpPr/>
          <p:nvPr/>
        </p:nvSpPr>
        <p:spPr>
          <a:xfrm>
            <a:off x="8778240" y="868680"/>
            <a:ext cx="2194560" cy="1371600"/>
          </a:xfrm>
          <a:prstGeom prst="ellipse">
            <a:avLst/>
          </a:prstGeom>
          <a:solidFill>
            <a:srgbClr val="F2545B">
              <a:alpha val="12000"/>
            </a:srgbClr>
          </a:solidFill>
          <a:ln/>
        </p:spPr>
      </p:sp>
      <p:sp>
        <p:nvSpPr>
          <p:cNvPr id="21" name="Shape 19"/>
          <p:cNvSpPr/>
          <p:nvPr/>
        </p:nvSpPr>
        <p:spPr>
          <a:xfrm>
            <a:off x="9349740" y="1028700"/>
            <a:ext cx="1051560" cy="1051560"/>
          </a:xfrm>
          <a:prstGeom prst="ellipse">
            <a:avLst/>
          </a:prstGeom>
          <a:solidFill>
            <a:srgbClr val="F2545B"/>
          </a:solidFill>
          <a:ln/>
        </p:spPr>
      </p:sp>
      <p:sp>
        <p:nvSpPr>
          <p:cNvPr id="22" name="Shape 20"/>
          <p:cNvSpPr/>
          <p:nvPr/>
        </p:nvSpPr>
        <p:spPr>
          <a:xfrm>
            <a:off x="9349740" y="2395728"/>
            <a:ext cx="1051560" cy="1051560"/>
          </a:xfrm>
          <a:prstGeom prst="ellipse">
            <a:avLst/>
          </a:prstGeom>
          <a:solidFill>
            <a:srgbClr val="F5B43C">
              <a:alpha val="15000"/>
            </a:srgbClr>
          </a:solidFill>
          <a:ln/>
        </p:spPr>
      </p:sp>
      <p:sp>
        <p:nvSpPr>
          <p:cNvPr id="23" name="Shape 21"/>
          <p:cNvSpPr/>
          <p:nvPr/>
        </p:nvSpPr>
        <p:spPr>
          <a:xfrm>
            <a:off x="9349740" y="3675888"/>
            <a:ext cx="1051560" cy="1051560"/>
          </a:xfrm>
          <a:prstGeom prst="ellipse">
            <a:avLst/>
          </a:prstGeom>
          <a:solidFill>
            <a:srgbClr val="3DD68C">
              <a:alpha val="15000"/>
            </a:srgbClr>
          </a:solidFill>
          <a:ln/>
        </p:spPr>
      </p:sp>
      <p:sp>
        <p:nvSpPr>
          <p:cNvPr id="24" name="Text 22"/>
          <p:cNvSpPr txBox="1"/>
          <p:nvPr/>
        </p:nvSpPr>
        <p:spPr>
          <a:xfrm>
            <a:off x="10789920" y="1371600"/>
            <a:ext cx="1097280" cy="365760"/>
          </a:xfrm>
          <a:prstGeom prst="rect">
            <a:avLst/>
          </a:prstGeom>
          <a:noFill/>
          <a:ln/>
        </p:spPr>
        <p:txBody>
          <a:bodyPr wrap="square" lIns="0" tIns="0" rIns="0" bIns="0" rtlCol="0" anchor="t"/>
          <a:lstStyle/>
          <a:p>
            <a:pPr indent="0" marL="0">
              <a:buNone/>
            </a:pPr>
            <a:r>
              <a:rPr lang="en-US" sz="1600" b="1" dirty="0">
                <a:solidFill>
                  <a:srgbClr val="F2545B"/>
                </a:solidFill>
                <a:latin typeface="Calibri" pitchFamily="34" charset="0"/>
                <a:ea typeface="Calibri" pitchFamily="34" charset="-122"/>
                <a:cs typeface="Calibri" pitchFamily="34" charset="-120"/>
              </a:rPr>
              <a:t>WAIT</a:t>
            </a:r>
            <a:endParaRPr lang="en-US" sz="1600" dirty="0"/>
          </a:p>
        </p:txBody>
      </p:sp>
      <p:sp>
        <p:nvSpPr>
          <p:cNvPr id="25" name="Text 23"/>
          <p:cNvSpPr txBox="1"/>
          <p:nvPr/>
        </p:nvSpPr>
        <p:spPr>
          <a:xfrm>
            <a:off x="10789920" y="1691640"/>
            <a:ext cx="109728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default</a:t>
            </a:r>
            <a:endParaRPr lang="en-US" sz="1200" dirty="0"/>
          </a:p>
        </p:txBody>
      </p:sp>
      <p:sp>
        <p:nvSpPr>
          <p:cNvPr id="26" name="Text 24"/>
          <p:cNvSpPr txBox="1"/>
          <p:nvPr/>
        </p:nvSpPr>
        <p:spPr>
          <a:xfrm>
            <a:off x="10789920" y="3977640"/>
            <a:ext cx="1097280" cy="365760"/>
          </a:xfrm>
          <a:prstGeom prst="rect">
            <a:avLst/>
          </a:prstGeom>
          <a:noFill/>
          <a:ln/>
        </p:spPr>
        <p:txBody>
          <a:bodyPr wrap="square" lIns="0" tIns="0" rIns="0" bIns="0" rtlCol="0" anchor="t"/>
          <a:lstStyle/>
          <a:p>
            <a:pPr indent="0" marL="0">
              <a:buNone/>
            </a:pPr>
            <a:r>
              <a:rPr lang="en-US" sz="1600" b="1" dirty="0">
                <a:solidFill>
                  <a:srgbClr val="3DD68C">
                    <a:alpha val="70000"/>
                  </a:srgbClr>
                </a:solidFill>
                <a:latin typeface="Calibri" pitchFamily="34" charset="0"/>
                <a:ea typeface="Calibri" pitchFamily="34" charset="-122"/>
                <a:cs typeface="Calibri" pitchFamily="34" charset="-120"/>
              </a:rPr>
              <a:t>SAFE</a:t>
            </a:r>
            <a:endParaRPr lang="en-US" sz="1600" dirty="0"/>
          </a:p>
        </p:txBody>
      </p:sp>
      <p:sp>
        <p:nvSpPr>
          <p:cNvPr id="27" name="Text 25"/>
          <p:cNvSpPr txBox="1"/>
          <p:nvPr/>
        </p:nvSpPr>
        <p:spPr>
          <a:xfrm>
            <a:off x="10789920" y="4297680"/>
            <a:ext cx="109728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earned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INTRODUCTION</a:t>
            </a:r>
            <a:endParaRPr lang="en-US" sz="1100" dirty="0"/>
          </a:p>
        </p:txBody>
      </p:sp>
      <p:sp>
        <p:nvSpPr>
          <p:cNvPr id="6" name="Shape 4"/>
          <p:cNvSpPr/>
          <p:nvPr/>
        </p:nvSpPr>
        <p:spPr>
          <a:xfrm>
            <a:off x="9902952" y="484632"/>
            <a:ext cx="237744" cy="54864"/>
          </a:xfrm>
          <a:prstGeom prst="rect">
            <a:avLst/>
          </a:prstGeom>
          <a:solidFill>
            <a:srgbClr val="F2F4F7"/>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Crossing a road is a judgement made with the eyes</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Judging gaps in traffic and reading signals is hard without good sight. This system watches the crossing for you and says what it sees.</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2</a:t>
            </a:r>
            <a:endParaRPr lang="en-US" sz="1000" dirty="0"/>
          </a:p>
        </p:txBody>
      </p:sp>
      <p:sp>
        <p:nvSpPr>
          <p:cNvPr id="16" name="Shape 14"/>
          <p:cNvSpPr/>
          <p:nvPr/>
        </p:nvSpPr>
        <p:spPr>
          <a:xfrm>
            <a:off x="548640" y="1874520"/>
            <a:ext cx="6949440" cy="4206240"/>
          </a:xfrm>
          <a:prstGeom prst="roundRect">
            <a:avLst>
              <a:gd name="adj" fmla="val 2174"/>
            </a:avLst>
          </a:prstGeom>
          <a:solidFill>
            <a:srgbClr val="12161C"/>
          </a:solidFill>
          <a:ln w="9525">
            <a:solidFill>
              <a:srgbClr val="2E3845"/>
            </a:solidFill>
            <a:prstDash val="solid"/>
          </a:ln>
        </p:spPr>
      </p:sp>
      <p:sp>
        <p:nvSpPr>
          <p:cNvPr id="17" name="Shape 15"/>
          <p:cNvSpPr/>
          <p:nvPr/>
        </p:nvSpPr>
        <p:spPr>
          <a:xfrm>
            <a:off x="548640" y="2606040"/>
            <a:ext cx="6949440" cy="2240280"/>
          </a:xfrm>
          <a:prstGeom prst="rect">
            <a:avLst/>
          </a:prstGeom>
          <a:solidFill>
            <a:srgbClr val="252C36"/>
          </a:solidFill>
          <a:ln/>
        </p:spPr>
      </p:sp>
      <p:sp>
        <p:nvSpPr>
          <p:cNvPr id="18" name="Shape 16"/>
          <p:cNvSpPr/>
          <p:nvPr/>
        </p:nvSpPr>
        <p:spPr>
          <a:xfrm>
            <a:off x="3383280" y="2651760"/>
            <a:ext cx="3063240" cy="2578608"/>
          </a:xfrm>
          <a:custGeom>
            <a:avLst/>
            <a:gdLst/>
            <a:ahLst/>
            <a:cxnLst/>
            <a:rect l="l" t="t" r="r" b="b"/>
            <a:pathLst>
              <a:path w="3063240" h="2578608">
                <a:moveTo>
                  <a:pt x="3063240" y="2578608"/>
                </a:moveTo>
                <a:lnTo>
                  <a:pt x="0" y="0"/>
                </a:lnTo>
                <a:lnTo>
                  <a:pt x="2011680" y="0"/>
                </a:lnTo>
                <a:close/>
              </a:path>
            </a:pathLst>
          </a:custGeom>
          <a:solidFill>
            <a:srgbClr val="5EC8E5">
              <a:alpha val="14000"/>
            </a:srgbClr>
          </a:solidFill>
          <a:ln/>
        </p:spPr>
      </p:sp>
      <p:sp>
        <p:nvSpPr>
          <p:cNvPr id="19" name="Shape 17"/>
          <p:cNvSpPr/>
          <p:nvPr/>
        </p:nvSpPr>
        <p:spPr>
          <a:xfrm>
            <a:off x="731520" y="3721608"/>
            <a:ext cx="6583680" cy="0"/>
          </a:xfrm>
          <a:prstGeom prst="line">
            <a:avLst/>
          </a:prstGeom>
          <a:noFill/>
          <a:ln w="15875">
            <a:solidFill>
              <a:srgbClr val="8A94A3"/>
            </a:solidFill>
            <a:prstDash val="dash"/>
          </a:ln>
        </p:spPr>
      </p:sp>
      <p:sp>
        <p:nvSpPr>
          <p:cNvPr id="20" name="Shape 18"/>
          <p:cNvSpPr/>
          <p:nvPr/>
        </p:nvSpPr>
        <p:spPr>
          <a:xfrm>
            <a:off x="3840480" y="2697480"/>
            <a:ext cx="1097280" cy="173736"/>
          </a:xfrm>
          <a:prstGeom prst="rect">
            <a:avLst/>
          </a:prstGeom>
          <a:solidFill>
            <a:srgbClr val="E6E9EE">
              <a:alpha val="82000"/>
            </a:srgbClr>
          </a:solidFill>
          <a:ln/>
        </p:spPr>
      </p:sp>
      <p:sp>
        <p:nvSpPr>
          <p:cNvPr id="21" name="Shape 19"/>
          <p:cNvSpPr/>
          <p:nvPr/>
        </p:nvSpPr>
        <p:spPr>
          <a:xfrm>
            <a:off x="3840480" y="3003804"/>
            <a:ext cx="1097280" cy="173736"/>
          </a:xfrm>
          <a:prstGeom prst="rect">
            <a:avLst/>
          </a:prstGeom>
          <a:solidFill>
            <a:srgbClr val="E6E9EE">
              <a:alpha val="82000"/>
            </a:srgbClr>
          </a:solidFill>
          <a:ln/>
        </p:spPr>
      </p:sp>
      <p:sp>
        <p:nvSpPr>
          <p:cNvPr id="22" name="Shape 20"/>
          <p:cNvSpPr/>
          <p:nvPr/>
        </p:nvSpPr>
        <p:spPr>
          <a:xfrm>
            <a:off x="3840480" y="3310128"/>
            <a:ext cx="1097280" cy="173736"/>
          </a:xfrm>
          <a:prstGeom prst="rect">
            <a:avLst/>
          </a:prstGeom>
          <a:solidFill>
            <a:srgbClr val="E6E9EE">
              <a:alpha val="82000"/>
            </a:srgbClr>
          </a:solidFill>
          <a:ln/>
        </p:spPr>
      </p:sp>
      <p:sp>
        <p:nvSpPr>
          <p:cNvPr id="23" name="Shape 21"/>
          <p:cNvSpPr/>
          <p:nvPr/>
        </p:nvSpPr>
        <p:spPr>
          <a:xfrm>
            <a:off x="3840480" y="3616452"/>
            <a:ext cx="1097280" cy="173736"/>
          </a:xfrm>
          <a:prstGeom prst="rect">
            <a:avLst/>
          </a:prstGeom>
          <a:solidFill>
            <a:srgbClr val="E6E9EE">
              <a:alpha val="82000"/>
            </a:srgbClr>
          </a:solidFill>
          <a:ln/>
        </p:spPr>
      </p:sp>
      <p:sp>
        <p:nvSpPr>
          <p:cNvPr id="24" name="Shape 22"/>
          <p:cNvSpPr/>
          <p:nvPr/>
        </p:nvSpPr>
        <p:spPr>
          <a:xfrm>
            <a:off x="3840480" y="3922776"/>
            <a:ext cx="1097280" cy="173736"/>
          </a:xfrm>
          <a:prstGeom prst="rect">
            <a:avLst/>
          </a:prstGeom>
          <a:solidFill>
            <a:srgbClr val="E6E9EE">
              <a:alpha val="82000"/>
            </a:srgbClr>
          </a:solidFill>
          <a:ln/>
        </p:spPr>
      </p:sp>
      <p:sp>
        <p:nvSpPr>
          <p:cNvPr id="25" name="Shape 23"/>
          <p:cNvSpPr/>
          <p:nvPr/>
        </p:nvSpPr>
        <p:spPr>
          <a:xfrm>
            <a:off x="3840480" y="4229100"/>
            <a:ext cx="1097280" cy="173736"/>
          </a:xfrm>
          <a:prstGeom prst="rect">
            <a:avLst/>
          </a:prstGeom>
          <a:solidFill>
            <a:srgbClr val="E6E9EE">
              <a:alpha val="82000"/>
            </a:srgbClr>
          </a:solidFill>
          <a:ln/>
        </p:spPr>
      </p:sp>
      <p:sp>
        <p:nvSpPr>
          <p:cNvPr id="26" name="Shape 24"/>
          <p:cNvSpPr/>
          <p:nvPr/>
        </p:nvSpPr>
        <p:spPr>
          <a:xfrm>
            <a:off x="3840480" y="4535424"/>
            <a:ext cx="1097280" cy="173736"/>
          </a:xfrm>
          <a:prstGeom prst="rect">
            <a:avLst/>
          </a:prstGeom>
          <a:solidFill>
            <a:srgbClr val="E6E9EE">
              <a:alpha val="82000"/>
            </a:srgbClr>
          </a:solidFill>
          <a:ln/>
        </p:spPr>
      </p:sp>
      <p:pic>
        <p:nvPicPr>
          <p:cNvPr id="27" name="Image 0" descr="preencoded.png">    </p:cNvPr>
          <p:cNvPicPr>
            <a:picLocks noChangeAspect="1"/>
          </p:cNvPicPr>
          <p:nvPr/>
        </p:nvPicPr>
        <p:blipFill>
          <a:blip r:embed="rId1"/>
          <a:stretch>
            <a:fillRect/>
          </a:stretch>
        </p:blipFill>
        <p:spPr>
          <a:xfrm>
            <a:off x="1051560" y="3931920"/>
            <a:ext cx="731520" cy="731520"/>
          </a:xfrm>
          <a:prstGeom prst="rect">
            <a:avLst/>
          </a:prstGeom>
        </p:spPr>
      </p:pic>
      <p:sp>
        <p:nvSpPr>
          <p:cNvPr id="28" name="Shape 25"/>
          <p:cNvSpPr/>
          <p:nvPr/>
        </p:nvSpPr>
        <p:spPr>
          <a:xfrm>
            <a:off x="1920240" y="4315968"/>
            <a:ext cx="1508760" cy="0"/>
          </a:xfrm>
          <a:prstGeom prst="line">
            <a:avLst/>
          </a:prstGeom>
          <a:noFill/>
          <a:ln w="28575">
            <a:solidFill>
              <a:srgbClr val="F2545B"/>
            </a:solidFill>
            <a:prstDash val="solid"/>
            <a:tailEnd type="triangle"/>
          </a:ln>
        </p:spPr>
      </p:sp>
      <p:sp>
        <p:nvSpPr>
          <p:cNvPr id="29" name="Text 26"/>
          <p:cNvSpPr txBox="1"/>
          <p:nvPr/>
        </p:nvSpPr>
        <p:spPr>
          <a:xfrm>
            <a:off x="1920240" y="4389120"/>
            <a:ext cx="1463040" cy="27432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approaching</a:t>
            </a:r>
            <a:endParaRPr lang="en-US" sz="1100" dirty="0"/>
          </a:p>
        </p:txBody>
      </p:sp>
      <p:pic>
        <p:nvPicPr>
          <p:cNvPr id="30" name="Image 1" descr="preencoded.png">    </p:cNvPr>
          <p:cNvPicPr>
            <a:picLocks noChangeAspect="1"/>
          </p:cNvPicPr>
          <p:nvPr/>
        </p:nvPicPr>
        <p:blipFill>
          <a:blip r:embed="rId2"/>
          <a:stretch>
            <a:fillRect/>
          </a:stretch>
        </p:blipFill>
        <p:spPr>
          <a:xfrm>
            <a:off x="6263640" y="2743200"/>
            <a:ext cx="566928" cy="566928"/>
          </a:xfrm>
          <a:prstGeom prst="rect">
            <a:avLst/>
          </a:prstGeom>
        </p:spPr>
      </p:pic>
      <p:sp>
        <p:nvSpPr>
          <p:cNvPr id="31" name="Shape 27"/>
          <p:cNvSpPr/>
          <p:nvPr/>
        </p:nvSpPr>
        <p:spPr>
          <a:xfrm flipH="1">
            <a:off x="5486400" y="3044952"/>
            <a:ext cx="640080" cy="0"/>
          </a:xfrm>
          <a:prstGeom prst="line">
            <a:avLst/>
          </a:prstGeom>
          <a:noFill/>
          <a:ln w="19050">
            <a:solidFill>
              <a:srgbClr val="667085"/>
            </a:solidFill>
            <a:prstDash val="solid"/>
            <a:tailEnd type="triangle"/>
          </a:ln>
        </p:spPr>
      </p:sp>
      <p:pic>
        <p:nvPicPr>
          <p:cNvPr id="32" name="Image 2" descr="preencoded.png">    </p:cNvPr>
          <p:cNvPicPr>
            <a:picLocks noChangeAspect="1"/>
          </p:cNvPicPr>
          <p:nvPr/>
        </p:nvPicPr>
        <p:blipFill>
          <a:blip r:embed="rId3"/>
          <a:stretch>
            <a:fillRect/>
          </a:stretch>
        </p:blipFill>
        <p:spPr>
          <a:xfrm>
            <a:off x="5166360" y="1984248"/>
            <a:ext cx="530352" cy="530352"/>
          </a:xfrm>
          <a:prstGeom prst="rect">
            <a:avLst/>
          </a:prstGeom>
        </p:spPr>
      </p:pic>
      <p:sp>
        <p:nvSpPr>
          <p:cNvPr id="33" name="Text 28"/>
          <p:cNvSpPr txBox="1"/>
          <p:nvPr/>
        </p:nvSpPr>
        <p:spPr>
          <a:xfrm>
            <a:off x="5715000" y="2130552"/>
            <a:ext cx="914400"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signal</a:t>
            </a:r>
            <a:endParaRPr lang="en-US" sz="1100" dirty="0"/>
          </a:p>
        </p:txBody>
      </p:sp>
      <p:pic>
        <p:nvPicPr>
          <p:cNvPr id="34" name="Image 3" descr="preencoded.png">    </p:cNvPr>
          <p:cNvPicPr>
            <a:picLocks noChangeAspect="1"/>
          </p:cNvPicPr>
          <p:nvPr/>
        </p:nvPicPr>
        <p:blipFill>
          <a:blip r:embed="rId4"/>
          <a:stretch>
            <a:fillRect/>
          </a:stretch>
        </p:blipFill>
        <p:spPr>
          <a:xfrm>
            <a:off x="4114800" y="4983480"/>
            <a:ext cx="731520" cy="731520"/>
          </a:xfrm>
          <a:prstGeom prst="rect">
            <a:avLst/>
          </a:prstGeom>
        </p:spPr>
      </p:pic>
      <p:pic>
        <p:nvPicPr>
          <p:cNvPr id="35" name="Image 4" descr="preencoded.png">    </p:cNvPr>
          <p:cNvPicPr>
            <a:picLocks noChangeAspect="1"/>
          </p:cNvPicPr>
          <p:nvPr/>
        </p:nvPicPr>
        <p:blipFill>
          <a:blip r:embed="rId5"/>
          <a:stretch>
            <a:fillRect/>
          </a:stretch>
        </p:blipFill>
        <p:spPr>
          <a:xfrm>
            <a:off x="6245352" y="5074920"/>
            <a:ext cx="457200" cy="457200"/>
          </a:xfrm>
          <a:prstGeom prst="rect">
            <a:avLst/>
          </a:prstGeom>
        </p:spPr>
      </p:pic>
      <p:pic>
        <p:nvPicPr>
          <p:cNvPr id="36" name="Image 5" descr="preencoded.png">    </p:cNvPr>
          <p:cNvPicPr>
            <a:picLocks noChangeAspect="1"/>
          </p:cNvPicPr>
          <p:nvPr/>
        </p:nvPicPr>
        <p:blipFill>
          <a:blip r:embed="rId6"/>
          <a:stretch>
            <a:fillRect/>
          </a:stretch>
        </p:blipFill>
        <p:spPr>
          <a:xfrm>
            <a:off x="6858000" y="5093208"/>
            <a:ext cx="420624" cy="420624"/>
          </a:xfrm>
          <a:prstGeom prst="rect">
            <a:avLst/>
          </a:prstGeom>
        </p:spPr>
      </p:pic>
      <p:sp>
        <p:nvSpPr>
          <p:cNvPr id="37" name="Text 29"/>
          <p:cNvSpPr txBox="1"/>
          <p:nvPr/>
        </p:nvSpPr>
        <p:spPr>
          <a:xfrm>
            <a:off x="6126480" y="5596128"/>
            <a:ext cx="1325880" cy="274320"/>
          </a:xfrm>
          <a:prstGeom prst="rect">
            <a:avLst/>
          </a:prstGeom>
          <a:noFill/>
          <a:ln/>
        </p:spPr>
        <p:txBody>
          <a:bodyPr wrap="square" lIns="0" tIns="0" rIns="0" bIns="0" rtlCol="0" anchor="t"/>
          <a:lstStyle/>
          <a:p>
            <a:pPr algn="ctr" indent="0" marL="0">
              <a:buNone/>
            </a:pPr>
            <a:r>
              <a:rPr lang="en-US" sz="1100" dirty="0">
                <a:solidFill>
                  <a:srgbClr val="5EC8E5"/>
                </a:solidFill>
                <a:latin typeface="Calibri" pitchFamily="34" charset="0"/>
                <a:ea typeface="Calibri" pitchFamily="34" charset="-122"/>
                <a:cs typeface="Calibri" pitchFamily="34" charset="-120"/>
              </a:rPr>
              <a:t>camera + PC</a:t>
            </a:r>
            <a:endParaRPr lang="en-US" sz="1100" dirty="0"/>
          </a:p>
        </p:txBody>
      </p:sp>
      <p:sp>
        <p:nvSpPr>
          <p:cNvPr id="38" name="Shape 30"/>
          <p:cNvSpPr/>
          <p:nvPr/>
        </p:nvSpPr>
        <p:spPr>
          <a:xfrm>
            <a:off x="777240" y="5074920"/>
            <a:ext cx="3063240" cy="749808"/>
          </a:xfrm>
          <a:prstGeom prst="roundRect">
            <a:avLst>
              <a:gd name="adj" fmla="val 17073"/>
            </a:avLst>
          </a:prstGeom>
          <a:solidFill>
            <a:srgbClr val="1E252F"/>
          </a:solidFill>
          <a:ln w="19050">
            <a:solidFill>
              <a:srgbClr val="F2545B"/>
            </a:solidFill>
            <a:prstDash val="solid"/>
          </a:ln>
        </p:spPr>
      </p:sp>
      <p:sp>
        <p:nvSpPr>
          <p:cNvPr id="39" name="Shape 31"/>
          <p:cNvSpPr/>
          <p:nvPr/>
        </p:nvSpPr>
        <p:spPr>
          <a:xfrm>
            <a:off x="3840480" y="5349240"/>
            <a:ext cx="274320" cy="182880"/>
          </a:xfrm>
          <a:custGeom>
            <a:avLst/>
            <a:gdLst/>
            <a:ahLst/>
            <a:cxnLst/>
            <a:rect l="l" t="t" r="r" b="b"/>
            <a:pathLst>
              <a:path w="274320" h="182880">
                <a:moveTo>
                  <a:pt x="0" y="0"/>
                </a:moveTo>
                <a:lnTo>
                  <a:pt x="274320" y="91440"/>
                </a:lnTo>
                <a:lnTo>
                  <a:pt x="0" y="182880"/>
                </a:lnTo>
                <a:close/>
              </a:path>
            </a:pathLst>
          </a:custGeom>
          <a:solidFill>
            <a:srgbClr val="F2545B"/>
          </a:solidFill>
          <a:ln/>
        </p:spPr>
      </p:sp>
      <p:pic>
        <p:nvPicPr>
          <p:cNvPr id="40" name="Image 6" descr="preencoded.png">    </p:cNvPr>
          <p:cNvPicPr>
            <a:picLocks noChangeAspect="1"/>
          </p:cNvPicPr>
          <p:nvPr/>
        </p:nvPicPr>
        <p:blipFill>
          <a:blip r:embed="rId7"/>
          <a:stretch>
            <a:fillRect/>
          </a:stretch>
        </p:blipFill>
        <p:spPr>
          <a:xfrm>
            <a:off x="932688" y="5266944"/>
            <a:ext cx="365760" cy="365760"/>
          </a:xfrm>
          <a:prstGeom prst="rect">
            <a:avLst/>
          </a:prstGeom>
        </p:spPr>
      </p:pic>
      <p:sp>
        <p:nvSpPr>
          <p:cNvPr id="41" name="Text 32"/>
          <p:cNvSpPr txBox="1"/>
          <p:nvPr/>
        </p:nvSpPr>
        <p:spPr>
          <a:xfrm>
            <a:off x="1417320" y="5074920"/>
            <a:ext cx="2377440" cy="749808"/>
          </a:xfrm>
          <a:prstGeom prst="rect">
            <a:avLst/>
          </a:prstGeom>
          <a:noFill/>
          <a:ln/>
        </p:spPr>
        <p:txBody>
          <a:bodyPr wrap="square" lIns="0" tIns="0" rIns="0" bIns="0" rtlCol="0" anchor="ctr"/>
          <a:lstStyle/>
          <a:p>
            <a:pPr indent="0" marL="0">
              <a:buNone/>
            </a:pPr>
            <a:r>
              <a:rPr lang="en-US" sz="1400" b="1" dirty="0">
                <a:solidFill>
                  <a:srgbClr val="F2F4F7"/>
                </a:solidFill>
                <a:latin typeface="Calibri" pitchFamily="34" charset="0"/>
                <a:ea typeface="Calibri" pitchFamily="34" charset="-122"/>
                <a:cs typeface="Calibri" pitchFamily="34" charset="-120"/>
              </a:rPr>
              <a:t>“Wait. Vehicle approaching.”</a:t>
            </a:r>
            <a:endParaRPr lang="en-US" sz="1400" dirty="0"/>
          </a:p>
        </p:txBody>
      </p:sp>
      <p:sp>
        <p:nvSpPr>
          <p:cNvPr id="42" name="Shape 33"/>
          <p:cNvSpPr/>
          <p:nvPr/>
        </p:nvSpPr>
        <p:spPr>
          <a:xfrm>
            <a:off x="7818120" y="1874520"/>
            <a:ext cx="3822192" cy="950976"/>
          </a:xfrm>
          <a:prstGeom prst="roundRect">
            <a:avLst>
              <a:gd name="adj" fmla="val 9615"/>
            </a:avLst>
          </a:prstGeom>
          <a:solidFill>
            <a:srgbClr val="161B22"/>
          </a:solidFill>
          <a:ln w="9525">
            <a:solidFill>
              <a:srgbClr val="2E3845"/>
            </a:solidFill>
            <a:prstDash val="solid"/>
          </a:ln>
        </p:spPr>
      </p:sp>
      <p:sp>
        <p:nvSpPr>
          <p:cNvPr id="43" name="Shape 34"/>
          <p:cNvSpPr/>
          <p:nvPr/>
        </p:nvSpPr>
        <p:spPr>
          <a:xfrm>
            <a:off x="8001000" y="2075688"/>
            <a:ext cx="548640" cy="548640"/>
          </a:xfrm>
          <a:prstGeom prst="ellipse">
            <a:avLst/>
          </a:prstGeom>
          <a:solidFill>
            <a:srgbClr val="5EC8E5">
              <a:alpha val="18000"/>
            </a:srgbClr>
          </a:solidFill>
          <a:ln/>
        </p:spPr>
      </p:sp>
      <p:pic>
        <p:nvPicPr>
          <p:cNvPr id="44" name="Image 7" descr="preencoded.png">    </p:cNvPr>
          <p:cNvPicPr>
            <a:picLocks noChangeAspect="1"/>
          </p:cNvPicPr>
          <p:nvPr/>
        </p:nvPicPr>
        <p:blipFill>
          <a:blip r:embed="rId8"/>
          <a:stretch>
            <a:fillRect/>
          </a:stretch>
        </p:blipFill>
        <p:spPr>
          <a:xfrm>
            <a:off x="8132674" y="2207362"/>
            <a:ext cx="285293" cy="285293"/>
          </a:xfrm>
          <a:prstGeom prst="rect">
            <a:avLst/>
          </a:prstGeom>
        </p:spPr>
      </p:pic>
      <p:sp>
        <p:nvSpPr>
          <p:cNvPr id="45" name="Text 35"/>
          <p:cNvSpPr txBox="1"/>
          <p:nvPr/>
        </p:nvSpPr>
        <p:spPr>
          <a:xfrm>
            <a:off x="8732520" y="2002536"/>
            <a:ext cx="278892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Who it helps</a:t>
            </a:r>
            <a:endParaRPr lang="en-US" sz="1500" dirty="0"/>
          </a:p>
        </p:txBody>
      </p:sp>
      <p:sp>
        <p:nvSpPr>
          <p:cNvPr id="46" name="Text 36"/>
          <p:cNvSpPr txBox="1"/>
          <p:nvPr/>
        </p:nvSpPr>
        <p:spPr>
          <a:xfrm>
            <a:off x="8732520" y="2295144"/>
            <a:ext cx="2788920" cy="45720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Visually impaired and elderly pedestrians at a road crossing.</a:t>
            </a:r>
            <a:endParaRPr lang="en-US" sz="1200" dirty="0"/>
          </a:p>
        </p:txBody>
      </p:sp>
      <p:sp>
        <p:nvSpPr>
          <p:cNvPr id="47" name="Shape 37"/>
          <p:cNvSpPr/>
          <p:nvPr/>
        </p:nvSpPr>
        <p:spPr>
          <a:xfrm>
            <a:off x="7818120" y="2953512"/>
            <a:ext cx="3822192" cy="950976"/>
          </a:xfrm>
          <a:prstGeom prst="roundRect">
            <a:avLst>
              <a:gd name="adj" fmla="val 9615"/>
            </a:avLst>
          </a:prstGeom>
          <a:solidFill>
            <a:srgbClr val="161B22"/>
          </a:solidFill>
          <a:ln w="9525">
            <a:solidFill>
              <a:srgbClr val="2E3845"/>
            </a:solidFill>
            <a:prstDash val="solid"/>
          </a:ln>
        </p:spPr>
      </p:sp>
      <p:sp>
        <p:nvSpPr>
          <p:cNvPr id="48" name="Shape 38"/>
          <p:cNvSpPr/>
          <p:nvPr/>
        </p:nvSpPr>
        <p:spPr>
          <a:xfrm>
            <a:off x="8001000" y="3154680"/>
            <a:ext cx="548640" cy="548640"/>
          </a:xfrm>
          <a:prstGeom prst="ellipse">
            <a:avLst/>
          </a:prstGeom>
          <a:solidFill>
            <a:srgbClr val="5EC8E5">
              <a:alpha val="18000"/>
            </a:srgbClr>
          </a:solidFill>
          <a:ln/>
        </p:spPr>
      </p:sp>
      <p:pic>
        <p:nvPicPr>
          <p:cNvPr id="49" name="Image 8" descr="preencoded.png">    </p:cNvPr>
          <p:cNvPicPr>
            <a:picLocks noChangeAspect="1"/>
          </p:cNvPicPr>
          <p:nvPr/>
        </p:nvPicPr>
        <p:blipFill>
          <a:blip r:embed="rId9"/>
          <a:stretch>
            <a:fillRect/>
          </a:stretch>
        </p:blipFill>
        <p:spPr>
          <a:xfrm>
            <a:off x="8132674" y="3286354"/>
            <a:ext cx="285293" cy="285293"/>
          </a:xfrm>
          <a:prstGeom prst="rect">
            <a:avLst/>
          </a:prstGeom>
        </p:spPr>
      </p:pic>
      <p:sp>
        <p:nvSpPr>
          <p:cNvPr id="50" name="Text 39"/>
          <p:cNvSpPr txBox="1"/>
          <p:nvPr/>
        </p:nvSpPr>
        <p:spPr>
          <a:xfrm>
            <a:off x="8732520" y="3081528"/>
            <a:ext cx="278892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What it sees</a:t>
            </a:r>
            <a:endParaRPr lang="en-US" sz="1500" dirty="0"/>
          </a:p>
        </p:txBody>
      </p:sp>
      <p:sp>
        <p:nvSpPr>
          <p:cNvPr id="51" name="Text 40"/>
          <p:cNvSpPr txBox="1"/>
          <p:nvPr/>
        </p:nvSpPr>
        <p:spPr>
          <a:xfrm>
            <a:off x="8732520" y="3374136"/>
            <a:ext cx="2788920" cy="45720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One fixed camera watching the crossing, the traffic and the signal.</a:t>
            </a:r>
            <a:endParaRPr lang="en-US" sz="1200" dirty="0"/>
          </a:p>
        </p:txBody>
      </p:sp>
      <p:sp>
        <p:nvSpPr>
          <p:cNvPr id="52" name="Shape 41"/>
          <p:cNvSpPr/>
          <p:nvPr/>
        </p:nvSpPr>
        <p:spPr>
          <a:xfrm>
            <a:off x="7818120" y="4032504"/>
            <a:ext cx="3822192" cy="950976"/>
          </a:xfrm>
          <a:prstGeom prst="roundRect">
            <a:avLst>
              <a:gd name="adj" fmla="val 9615"/>
            </a:avLst>
          </a:prstGeom>
          <a:solidFill>
            <a:srgbClr val="161B22"/>
          </a:solidFill>
          <a:ln w="9525">
            <a:solidFill>
              <a:srgbClr val="2E3845"/>
            </a:solidFill>
            <a:prstDash val="solid"/>
          </a:ln>
        </p:spPr>
      </p:sp>
      <p:sp>
        <p:nvSpPr>
          <p:cNvPr id="53" name="Shape 42"/>
          <p:cNvSpPr/>
          <p:nvPr/>
        </p:nvSpPr>
        <p:spPr>
          <a:xfrm>
            <a:off x="8001000" y="4233672"/>
            <a:ext cx="548640" cy="548640"/>
          </a:xfrm>
          <a:prstGeom prst="ellipse">
            <a:avLst/>
          </a:prstGeom>
          <a:solidFill>
            <a:srgbClr val="5EC8E5">
              <a:alpha val="18000"/>
            </a:srgbClr>
          </a:solidFill>
          <a:ln/>
        </p:spPr>
      </p:sp>
      <p:pic>
        <p:nvPicPr>
          <p:cNvPr id="54" name="Image 9" descr="preencoded.png">    </p:cNvPr>
          <p:cNvPicPr>
            <a:picLocks noChangeAspect="1"/>
          </p:cNvPicPr>
          <p:nvPr/>
        </p:nvPicPr>
        <p:blipFill>
          <a:blip r:embed="rId10"/>
          <a:stretch>
            <a:fillRect/>
          </a:stretch>
        </p:blipFill>
        <p:spPr>
          <a:xfrm>
            <a:off x="8132674" y="4365346"/>
            <a:ext cx="285293" cy="285293"/>
          </a:xfrm>
          <a:prstGeom prst="rect">
            <a:avLst/>
          </a:prstGeom>
        </p:spPr>
      </p:pic>
      <p:sp>
        <p:nvSpPr>
          <p:cNvPr id="55" name="Text 43"/>
          <p:cNvSpPr txBox="1"/>
          <p:nvPr/>
        </p:nvSpPr>
        <p:spPr>
          <a:xfrm>
            <a:off x="8732520" y="4160520"/>
            <a:ext cx="278892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What it says</a:t>
            </a:r>
            <a:endParaRPr lang="en-US" sz="1500" dirty="0"/>
          </a:p>
        </p:txBody>
      </p:sp>
      <p:sp>
        <p:nvSpPr>
          <p:cNvPr id="56" name="Text 44"/>
          <p:cNvSpPr txBox="1"/>
          <p:nvPr/>
        </p:nvSpPr>
        <p:spPr>
          <a:xfrm>
            <a:off x="8732520" y="4453128"/>
            <a:ext cx="2788920" cy="45720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Short spoken guidance, plus distinct tones that need no words.</a:t>
            </a:r>
            <a:endParaRPr lang="en-US" sz="1200" dirty="0"/>
          </a:p>
        </p:txBody>
      </p:sp>
      <p:sp>
        <p:nvSpPr>
          <p:cNvPr id="57" name="Shape 45"/>
          <p:cNvSpPr/>
          <p:nvPr/>
        </p:nvSpPr>
        <p:spPr>
          <a:xfrm>
            <a:off x="7818120" y="5111496"/>
            <a:ext cx="3822192" cy="950976"/>
          </a:xfrm>
          <a:prstGeom prst="roundRect">
            <a:avLst>
              <a:gd name="adj" fmla="val 9615"/>
            </a:avLst>
          </a:prstGeom>
          <a:solidFill>
            <a:srgbClr val="161B22"/>
          </a:solidFill>
          <a:ln w="9525">
            <a:solidFill>
              <a:srgbClr val="2E3845"/>
            </a:solidFill>
            <a:prstDash val="solid"/>
          </a:ln>
        </p:spPr>
      </p:sp>
      <p:sp>
        <p:nvSpPr>
          <p:cNvPr id="58" name="Shape 46"/>
          <p:cNvSpPr/>
          <p:nvPr/>
        </p:nvSpPr>
        <p:spPr>
          <a:xfrm>
            <a:off x="8001000" y="5312664"/>
            <a:ext cx="548640" cy="548640"/>
          </a:xfrm>
          <a:prstGeom prst="ellipse">
            <a:avLst/>
          </a:prstGeom>
          <a:solidFill>
            <a:srgbClr val="5EC8E5">
              <a:alpha val="18000"/>
            </a:srgbClr>
          </a:solidFill>
          <a:ln/>
        </p:spPr>
      </p:sp>
      <p:pic>
        <p:nvPicPr>
          <p:cNvPr id="59" name="Image 10" descr="preencoded.png">    </p:cNvPr>
          <p:cNvPicPr>
            <a:picLocks noChangeAspect="1"/>
          </p:cNvPicPr>
          <p:nvPr/>
        </p:nvPicPr>
        <p:blipFill>
          <a:blip r:embed="rId11"/>
          <a:stretch>
            <a:fillRect/>
          </a:stretch>
        </p:blipFill>
        <p:spPr>
          <a:xfrm>
            <a:off x="8132674" y="5444338"/>
            <a:ext cx="285293" cy="285293"/>
          </a:xfrm>
          <a:prstGeom prst="rect">
            <a:avLst/>
          </a:prstGeom>
        </p:spPr>
      </p:pic>
      <p:sp>
        <p:nvSpPr>
          <p:cNvPr id="60" name="Text 47"/>
          <p:cNvSpPr txBox="1"/>
          <p:nvPr/>
        </p:nvSpPr>
        <p:spPr>
          <a:xfrm>
            <a:off x="8732520" y="5239512"/>
            <a:ext cx="278892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Where it runs</a:t>
            </a:r>
            <a:endParaRPr lang="en-US" sz="1500" dirty="0"/>
          </a:p>
        </p:txBody>
      </p:sp>
      <p:sp>
        <p:nvSpPr>
          <p:cNvPr id="61" name="Text 48"/>
          <p:cNvSpPr txBox="1"/>
          <p:nvPr/>
        </p:nvSpPr>
        <p:spPr>
          <a:xfrm>
            <a:off x="8732520" y="5532120"/>
            <a:ext cx="2788920" cy="45720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A standard PC with CPU inference. No special hardware.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INTRODUCTION</a:t>
            </a:r>
            <a:endParaRPr lang="en-US" sz="1100" dirty="0"/>
          </a:p>
        </p:txBody>
      </p:sp>
      <p:sp>
        <p:nvSpPr>
          <p:cNvPr id="6" name="Shape 4"/>
          <p:cNvSpPr/>
          <p:nvPr/>
        </p:nvSpPr>
        <p:spPr>
          <a:xfrm>
            <a:off x="9902952" y="484632"/>
            <a:ext cx="237744" cy="54864"/>
          </a:xfrm>
          <a:prstGeom prst="rect">
            <a:avLst/>
          </a:prstGeom>
          <a:solidFill>
            <a:srgbClr val="F2F4F7"/>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The core idea: the two possible mistakes are not equal</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Every decision has two ways to be wrong. The design is built around the fact that one of them is catastrophic.</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3</a:t>
            </a:r>
            <a:endParaRPr lang="en-US" sz="1000" dirty="0"/>
          </a:p>
        </p:txBody>
      </p:sp>
      <p:sp>
        <p:nvSpPr>
          <p:cNvPr id="16" name="Text 14"/>
          <p:cNvSpPr txBox="1"/>
          <p:nvPr/>
        </p:nvSpPr>
        <p:spPr>
          <a:xfrm>
            <a:off x="2258568" y="1920240"/>
            <a:ext cx="2514600" cy="548640"/>
          </a:xfrm>
          <a:prstGeom prst="rect">
            <a:avLst/>
          </a:prstGeom>
          <a:noFill/>
          <a:ln/>
        </p:spPr>
        <p:txBody>
          <a:bodyPr wrap="square" lIns="0" tIns="0" rIns="0" bIns="0" rtlCol="0" anchor="b"/>
          <a:lstStyle/>
          <a:p>
            <a:pPr algn="ctr" indent="0" marL="0">
              <a:buNone/>
            </a:pPr>
            <a:r>
              <a:rPr lang="en-US" sz="1300" b="1" dirty="0">
                <a:solidFill>
                  <a:srgbClr val="A3ACBA"/>
                </a:solidFill>
                <a:latin typeface="Calibri" pitchFamily="34" charset="0"/>
                <a:ea typeface="Calibri" pitchFamily="34" charset="-122"/>
                <a:cs typeface="Calibri" pitchFamily="34" charset="-120"/>
              </a:rPr>
              <a:t>Road is actually</a:t>
            </a:r>
            <a:endParaRPr lang="en-US" sz="1300" dirty="0"/>
          </a:p>
          <a:p>
            <a:pPr algn="ctr" indent="0" marL="0">
              <a:buNone/>
            </a:pPr>
            <a:r>
              <a:rPr lang="en-US" sz="1300" b="1" dirty="0">
                <a:solidFill>
                  <a:srgbClr val="A3ACBA"/>
                </a:solidFill>
                <a:latin typeface="Calibri" pitchFamily="34" charset="0"/>
                <a:ea typeface="Calibri" pitchFamily="34" charset="-122"/>
                <a:cs typeface="Calibri" pitchFamily="34" charset="-120"/>
              </a:rPr>
              <a:t>SAFE</a:t>
            </a:r>
            <a:endParaRPr lang="en-US" sz="1300" dirty="0"/>
          </a:p>
        </p:txBody>
      </p:sp>
      <p:sp>
        <p:nvSpPr>
          <p:cNvPr id="17" name="Text 15"/>
          <p:cNvSpPr txBox="1"/>
          <p:nvPr/>
        </p:nvSpPr>
        <p:spPr>
          <a:xfrm>
            <a:off x="4882896" y="1920240"/>
            <a:ext cx="2514600" cy="548640"/>
          </a:xfrm>
          <a:prstGeom prst="rect">
            <a:avLst/>
          </a:prstGeom>
          <a:noFill/>
          <a:ln/>
        </p:spPr>
        <p:txBody>
          <a:bodyPr wrap="square" lIns="0" tIns="0" rIns="0" bIns="0" rtlCol="0" anchor="b"/>
          <a:lstStyle/>
          <a:p>
            <a:pPr algn="ctr" indent="0" marL="0">
              <a:buNone/>
            </a:pPr>
            <a:r>
              <a:rPr lang="en-US" sz="1300" b="1" dirty="0">
                <a:solidFill>
                  <a:srgbClr val="A3ACBA"/>
                </a:solidFill>
                <a:latin typeface="Calibri" pitchFamily="34" charset="0"/>
                <a:ea typeface="Calibri" pitchFamily="34" charset="-122"/>
                <a:cs typeface="Calibri" pitchFamily="34" charset="-120"/>
              </a:rPr>
              <a:t>Road is actually</a:t>
            </a:r>
            <a:endParaRPr lang="en-US" sz="1300" dirty="0"/>
          </a:p>
          <a:p>
            <a:pPr algn="ctr" indent="0" marL="0">
              <a:buNone/>
            </a:pPr>
            <a:r>
              <a:rPr lang="en-US" sz="1300" b="1" dirty="0">
                <a:solidFill>
                  <a:srgbClr val="A3ACBA"/>
                </a:solidFill>
                <a:latin typeface="Calibri" pitchFamily="34" charset="0"/>
                <a:ea typeface="Calibri" pitchFamily="34" charset="-122"/>
                <a:cs typeface="Calibri" pitchFamily="34" charset="-120"/>
              </a:rPr>
              <a:t>DANGEROUS</a:t>
            </a:r>
            <a:endParaRPr lang="en-US" sz="1300" dirty="0"/>
          </a:p>
        </p:txBody>
      </p:sp>
      <p:sp>
        <p:nvSpPr>
          <p:cNvPr id="18" name="Text 16"/>
          <p:cNvSpPr txBox="1"/>
          <p:nvPr/>
        </p:nvSpPr>
        <p:spPr>
          <a:xfrm>
            <a:off x="548640" y="2606040"/>
            <a:ext cx="1600200" cy="1645920"/>
          </a:xfrm>
          <a:prstGeom prst="rect">
            <a:avLst/>
          </a:prstGeom>
          <a:noFill/>
          <a:ln/>
        </p:spPr>
        <p:txBody>
          <a:bodyPr wrap="square" lIns="0" tIns="0" rIns="0" bIns="0" rtlCol="0" anchor="ctr"/>
          <a:lstStyle/>
          <a:p>
            <a:pPr indent="0" marL="0">
              <a:buNone/>
            </a:pPr>
            <a:r>
              <a:rPr lang="en-US" sz="1300" dirty="0">
                <a:solidFill>
                  <a:srgbClr val="A3ACBA"/>
                </a:solidFill>
                <a:latin typeface="Calibri" pitchFamily="34" charset="0"/>
                <a:ea typeface="Calibri" pitchFamily="34" charset="-122"/>
                <a:cs typeface="Calibri" pitchFamily="34" charset="-120"/>
              </a:rPr>
              <a:t>System says
</a:t>
            </a:r>
            <a:pPr indent="0" marL="0">
              <a:buNone/>
            </a:pPr>
            <a:r>
              <a:rPr lang="en-US" sz="2200" b="1" dirty="0">
                <a:solidFill>
                  <a:srgbClr val="F2545B"/>
                </a:solidFill>
                <a:latin typeface="Calibri" pitchFamily="34" charset="0"/>
                <a:ea typeface="Calibri" pitchFamily="34" charset="-122"/>
                <a:cs typeface="Calibri" pitchFamily="34" charset="-120"/>
              </a:rPr>
              <a:t>WAIT</a:t>
            </a:r>
            <a:endParaRPr lang="en-US" sz="1400" dirty="0"/>
          </a:p>
        </p:txBody>
      </p:sp>
      <p:sp>
        <p:nvSpPr>
          <p:cNvPr id="19" name="Text 17"/>
          <p:cNvSpPr txBox="1"/>
          <p:nvPr/>
        </p:nvSpPr>
        <p:spPr>
          <a:xfrm>
            <a:off x="548640" y="4361688"/>
            <a:ext cx="1600200" cy="1645920"/>
          </a:xfrm>
          <a:prstGeom prst="rect">
            <a:avLst/>
          </a:prstGeom>
          <a:noFill/>
          <a:ln/>
        </p:spPr>
        <p:txBody>
          <a:bodyPr wrap="square" lIns="0" tIns="0" rIns="0" bIns="0" rtlCol="0" anchor="ctr"/>
          <a:lstStyle/>
          <a:p>
            <a:pPr indent="0" marL="0">
              <a:buNone/>
            </a:pPr>
            <a:r>
              <a:rPr lang="en-US" sz="1300" dirty="0">
                <a:solidFill>
                  <a:srgbClr val="A3ACBA"/>
                </a:solidFill>
                <a:latin typeface="Calibri" pitchFamily="34" charset="0"/>
                <a:ea typeface="Calibri" pitchFamily="34" charset="-122"/>
                <a:cs typeface="Calibri" pitchFamily="34" charset="-120"/>
              </a:rPr>
              <a:t>System says
</a:t>
            </a:r>
            <a:pPr indent="0" marL="0">
              <a:buNone/>
            </a:pPr>
            <a:r>
              <a:rPr lang="en-US" sz="2200" b="1" dirty="0">
                <a:solidFill>
                  <a:srgbClr val="3DD68C"/>
                </a:solidFill>
                <a:latin typeface="Calibri" pitchFamily="34" charset="0"/>
                <a:ea typeface="Calibri" pitchFamily="34" charset="-122"/>
                <a:cs typeface="Calibri" pitchFamily="34" charset="-120"/>
              </a:rPr>
              <a:t>SAFE</a:t>
            </a:r>
            <a:endParaRPr lang="en-US" sz="1400" dirty="0"/>
          </a:p>
        </p:txBody>
      </p:sp>
      <p:sp>
        <p:nvSpPr>
          <p:cNvPr id="20" name="Shape 18"/>
          <p:cNvSpPr/>
          <p:nvPr/>
        </p:nvSpPr>
        <p:spPr>
          <a:xfrm>
            <a:off x="2258568" y="2606040"/>
            <a:ext cx="2514600" cy="1645920"/>
          </a:xfrm>
          <a:prstGeom prst="roundRect">
            <a:avLst>
              <a:gd name="adj" fmla="val 5556"/>
            </a:avLst>
          </a:prstGeom>
          <a:solidFill>
            <a:srgbClr val="F5B43C">
              <a:alpha val="16000"/>
            </a:srgbClr>
          </a:solidFill>
          <a:ln w="15875">
            <a:solidFill>
              <a:srgbClr val="F5B43C"/>
            </a:solidFill>
            <a:prstDash val="solid"/>
          </a:ln>
        </p:spPr>
      </p:sp>
      <p:sp>
        <p:nvSpPr>
          <p:cNvPr id="21" name="Text 19"/>
          <p:cNvSpPr txBox="1"/>
          <p:nvPr/>
        </p:nvSpPr>
        <p:spPr>
          <a:xfrm>
            <a:off x="2487168" y="2880360"/>
            <a:ext cx="2057400" cy="365760"/>
          </a:xfrm>
          <a:prstGeom prst="rect">
            <a:avLst/>
          </a:prstGeom>
          <a:noFill/>
          <a:ln/>
        </p:spPr>
        <p:txBody>
          <a:bodyPr wrap="square" lIns="0" tIns="0" rIns="0" bIns="0" rtlCol="0" anchor="t"/>
          <a:lstStyle/>
          <a:p>
            <a:pPr indent="0" marL="0">
              <a:buNone/>
            </a:pPr>
            <a:r>
              <a:rPr lang="en-US" sz="1900" b="1" dirty="0">
                <a:solidFill>
                  <a:srgbClr val="F5B43C"/>
                </a:solidFill>
                <a:latin typeface="Calibri" pitchFamily="34" charset="0"/>
                <a:ea typeface="Calibri" pitchFamily="34" charset="-122"/>
                <a:cs typeface="Calibri" pitchFamily="34" charset="-120"/>
              </a:rPr>
              <a:t>False WAIT</a:t>
            </a:r>
            <a:endParaRPr lang="en-US" sz="1900" dirty="0"/>
          </a:p>
        </p:txBody>
      </p:sp>
      <p:sp>
        <p:nvSpPr>
          <p:cNvPr id="22" name="Text 20"/>
          <p:cNvSpPr txBox="1"/>
          <p:nvPr/>
        </p:nvSpPr>
        <p:spPr>
          <a:xfrm>
            <a:off x="2487168" y="3319272"/>
            <a:ext cx="2057400" cy="731520"/>
          </a:xfrm>
          <a:prstGeom prst="rect">
            <a:avLst/>
          </a:prstGeom>
          <a:noFill/>
          <a:ln/>
        </p:spPr>
        <p:txBody>
          <a:bodyPr wrap="square" lIns="0" tIns="0" rIns="0" bIns="0" rtlCol="0" anchor="t"/>
          <a:lstStyle/>
          <a:p>
            <a:pPr indent="0" marL="0">
              <a:buNone/>
            </a:pPr>
            <a:r>
              <a:rPr lang="en-US" sz="1300" dirty="0">
                <a:solidFill>
                  <a:srgbClr val="F2F4F7"/>
                </a:solidFill>
                <a:latin typeface="Calibri" pitchFamily="34" charset="0"/>
                <a:ea typeface="Calibri" pitchFamily="34" charset="-122"/>
                <a:cs typeface="Calibri" pitchFamily="34" charset="-120"/>
              </a:rPr>
              <a:t>An inconvenience. The pedestrian waits a little longer.</a:t>
            </a:r>
            <a:endParaRPr lang="en-US" sz="1300" dirty="0"/>
          </a:p>
        </p:txBody>
      </p:sp>
      <p:sp>
        <p:nvSpPr>
          <p:cNvPr id="23" name="Shape 21"/>
          <p:cNvSpPr/>
          <p:nvPr/>
        </p:nvSpPr>
        <p:spPr>
          <a:xfrm>
            <a:off x="4882896" y="2606040"/>
            <a:ext cx="2514600" cy="1645920"/>
          </a:xfrm>
          <a:prstGeom prst="roundRect">
            <a:avLst>
              <a:gd name="adj" fmla="val 5556"/>
            </a:avLst>
          </a:prstGeom>
          <a:solidFill>
            <a:srgbClr val="161B22"/>
          </a:solidFill>
          <a:ln w="9525">
            <a:solidFill>
              <a:srgbClr val="2E3845"/>
            </a:solidFill>
            <a:prstDash val="solid"/>
          </a:ln>
        </p:spPr>
      </p:sp>
      <p:pic>
        <p:nvPicPr>
          <p:cNvPr id="24" name="Image 0" descr="preencoded.png">    </p:cNvPr>
          <p:cNvPicPr>
            <a:picLocks noChangeAspect="1"/>
          </p:cNvPicPr>
          <p:nvPr/>
        </p:nvPicPr>
        <p:blipFill>
          <a:blip r:embed="rId1"/>
          <a:stretch>
            <a:fillRect/>
          </a:stretch>
        </p:blipFill>
        <p:spPr>
          <a:xfrm>
            <a:off x="5111496" y="2935224"/>
            <a:ext cx="274320" cy="274320"/>
          </a:xfrm>
          <a:prstGeom prst="rect">
            <a:avLst/>
          </a:prstGeom>
        </p:spPr>
      </p:pic>
      <p:sp>
        <p:nvSpPr>
          <p:cNvPr id="25" name="Text 22"/>
          <p:cNvSpPr txBox="1"/>
          <p:nvPr/>
        </p:nvSpPr>
        <p:spPr>
          <a:xfrm>
            <a:off x="5477256" y="2880360"/>
            <a:ext cx="1645920" cy="365760"/>
          </a:xfrm>
          <a:prstGeom prst="rect">
            <a:avLst/>
          </a:prstGeom>
          <a:noFill/>
          <a:ln/>
        </p:spPr>
        <p:txBody>
          <a:bodyPr wrap="square" lIns="0" tIns="0" rIns="0" bIns="0" rtlCol="0" anchor="t"/>
          <a:lstStyle/>
          <a:p>
            <a:pPr indent="0" marL="0">
              <a:buNone/>
            </a:pPr>
            <a:r>
              <a:rPr lang="en-US" sz="1700" b="1" dirty="0">
                <a:solidFill>
                  <a:srgbClr val="A3ACBA"/>
                </a:solidFill>
                <a:latin typeface="Calibri" pitchFamily="34" charset="0"/>
                <a:ea typeface="Calibri" pitchFamily="34" charset="-122"/>
                <a:cs typeface="Calibri" pitchFamily="34" charset="-120"/>
              </a:rPr>
              <a:t>Correct</a:t>
            </a:r>
            <a:endParaRPr lang="en-US" sz="1700" dirty="0"/>
          </a:p>
        </p:txBody>
      </p:sp>
      <p:sp>
        <p:nvSpPr>
          <p:cNvPr id="26" name="Text 23"/>
          <p:cNvSpPr txBox="1"/>
          <p:nvPr/>
        </p:nvSpPr>
        <p:spPr>
          <a:xfrm>
            <a:off x="5111496" y="3319272"/>
            <a:ext cx="2057400" cy="548640"/>
          </a:xfrm>
          <a:prstGeom prst="rect">
            <a:avLst/>
          </a:prstGeom>
          <a:noFill/>
          <a:ln/>
        </p:spPr>
        <p:txBody>
          <a:bodyPr wrap="square" lIns="0" tIns="0" rIns="0" bIns="0" rtlCol="0" anchor="t"/>
          <a:lstStyle/>
          <a:p>
            <a:pPr indent="0" marL="0">
              <a:buNone/>
            </a:pPr>
            <a:r>
              <a:rPr lang="en-US" sz="1300" dirty="0">
                <a:solidFill>
                  <a:srgbClr val="A3ACBA"/>
                </a:solidFill>
                <a:latin typeface="Calibri" pitchFamily="34" charset="0"/>
                <a:ea typeface="Calibri" pitchFamily="34" charset="-122"/>
                <a:cs typeface="Calibri" pitchFamily="34" charset="-120"/>
              </a:rPr>
              <a:t>The pedestrian is protected.</a:t>
            </a:r>
            <a:endParaRPr lang="en-US" sz="1300" dirty="0"/>
          </a:p>
        </p:txBody>
      </p:sp>
      <p:sp>
        <p:nvSpPr>
          <p:cNvPr id="27" name="Shape 24"/>
          <p:cNvSpPr/>
          <p:nvPr/>
        </p:nvSpPr>
        <p:spPr>
          <a:xfrm>
            <a:off x="2258568" y="4361688"/>
            <a:ext cx="2514600" cy="1645920"/>
          </a:xfrm>
          <a:prstGeom prst="roundRect">
            <a:avLst>
              <a:gd name="adj" fmla="val 5556"/>
            </a:avLst>
          </a:prstGeom>
          <a:solidFill>
            <a:srgbClr val="161B22"/>
          </a:solidFill>
          <a:ln w="9525">
            <a:solidFill>
              <a:srgbClr val="2E3845"/>
            </a:solidFill>
            <a:prstDash val="solid"/>
          </a:ln>
        </p:spPr>
      </p:sp>
      <p:pic>
        <p:nvPicPr>
          <p:cNvPr id="28" name="Image 1" descr="preencoded.png">    </p:cNvPr>
          <p:cNvPicPr>
            <a:picLocks noChangeAspect="1"/>
          </p:cNvPicPr>
          <p:nvPr/>
        </p:nvPicPr>
        <p:blipFill>
          <a:blip r:embed="rId2"/>
          <a:stretch>
            <a:fillRect/>
          </a:stretch>
        </p:blipFill>
        <p:spPr>
          <a:xfrm>
            <a:off x="2487168" y="4690872"/>
            <a:ext cx="274320" cy="274320"/>
          </a:xfrm>
          <a:prstGeom prst="rect">
            <a:avLst/>
          </a:prstGeom>
        </p:spPr>
      </p:pic>
      <p:sp>
        <p:nvSpPr>
          <p:cNvPr id="29" name="Text 25"/>
          <p:cNvSpPr txBox="1"/>
          <p:nvPr/>
        </p:nvSpPr>
        <p:spPr>
          <a:xfrm>
            <a:off x="2852928" y="4636008"/>
            <a:ext cx="1645920" cy="365760"/>
          </a:xfrm>
          <a:prstGeom prst="rect">
            <a:avLst/>
          </a:prstGeom>
          <a:noFill/>
          <a:ln/>
        </p:spPr>
        <p:txBody>
          <a:bodyPr wrap="square" lIns="0" tIns="0" rIns="0" bIns="0" rtlCol="0" anchor="t"/>
          <a:lstStyle/>
          <a:p>
            <a:pPr indent="0" marL="0">
              <a:buNone/>
            </a:pPr>
            <a:r>
              <a:rPr lang="en-US" sz="1700" b="1" dirty="0">
                <a:solidFill>
                  <a:srgbClr val="A3ACBA"/>
                </a:solidFill>
                <a:latin typeface="Calibri" pitchFamily="34" charset="0"/>
                <a:ea typeface="Calibri" pitchFamily="34" charset="-122"/>
                <a:cs typeface="Calibri" pitchFamily="34" charset="-120"/>
              </a:rPr>
              <a:t>Correct</a:t>
            </a:r>
            <a:endParaRPr lang="en-US" sz="1700" dirty="0"/>
          </a:p>
        </p:txBody>
      </p:sp>
      <p:sp>
        <p:nvSpPr>
          <p:cNvPr id="30" name="Text 26"/>
          <p:cNvSpPr txBox="1"/>
          <p:nvPr/>
        </p:nvSpPr>
        <p:spPr>
          <a:xfrm>
            <a:off x="2487168" y="5074920"/>
            <a:ext cx="2057400" cy="548640"/>
          </a:xfrm>
          <a:prstGeom prst="rect">
            <a:avLst/>
          </a:prstGeom>
          <a:noFill/>
          <a:ln/>
        </p:spPr>
        <p:txBody>
          <a:bodyPr wrap="square" lIns="0" tIns="0" rIns="0" bIns="0" rtlCol="0" anchor="t"/>
          <a:lstStyle/>
          <a:p>
            <a:pPr indent="0" marL="0">
              <a:buNone/>
            </a:pPr>
            <a:r>
              <a:rPr lang="en-US" sz="1300" dirty="0">
                <a:solidFill>
                  <a:srgbClr val="A3ACBA"/>
                </a:solidFill>
                <a:latin typeface="Calibri" pitchFamily="34" charset="0"/>
                <a:ea typeface="Calibri" pitchFamily="34" charset="-122"/>
                <a:cs typeface="Calibri" pitchFamily="34" charset="-120"/>
              </a:rPr>
              <a:t>The pedestrian crosses on time.</a:t>
            </a:r>
            <a:endParaRPr lang="en-US" sz="1300" dirty="0"/>
          </a:p>
        </p:txBody>
      </p:sp>
      <p:sp>
        <p:nvSpPr>
          <p:cNvPr id="31" name="Shape 27"/>
          <p:cNvSpPr/>
          <p:nvPr/>
        </p:nvSpPr>
        <p:spPr>
          <a:xfrm>
            <a:off x="4882896" y="4361688"/>
            <a:ext cx="2514600" cy="1645920"/>
          </a:xfrm>
          <a:prstGeom prst="roundRect">
            <a:avLst>
              <a:gd name="adj" fmla="val 5556"/>
            </a:avLst>
          </a:prstGeom>
          <a:solidFill>
            <a:srgbClr val="F2545B"/>
          </a:solidFill>
          <a:ln/>
        </p:spPr>
      </p:sp>
      <p:pic>
        <p:nvPicPr>
          <p:cNvPr id="32" name="Image 2" descr="preencoded.png">    </p:cNvPr>
          <p:cNvPicPr>
            <a:picLocks noChangeAspect="1"/>
          </p:cNvPicPr>
          <p:nvPr/>
        </p:nvPicPr>
        <p:blipFill>
          <a:blip r:embed="rId3"/>
          <a:stretch>
            <a:fillRect/>
          </a:stretch>
        </p:blipFill>
        <p:spPr>
          <a:xfrm>
            <a:off x="5111496" y="4654296"/>
            <a:ext cx="329184" cy="329184"/>
          </a:xfrm>
          <a:prstGeom prst="rect">
            <a:avLst/>
          </a:prstGeom>
        </p:spPr>
      </p:pic>
      <p:sp>
        <p:nvSpPr>
          <p:cNvPr id="33" name="Text 28"/>
          <p:cNvSpPr txBox="1"/>
          <p:nvPr/>
        </p:nvSpPr>
        <p:spPr>
          <a:xfrm>
            <a:off x="5541264" y="4617720"/>
            <a:ext cx="1737360" cy="384048"/>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False SAFE</a:t>
            </a:r>
            <a:endParaRPr lang="en-US" sz="2100" dirty="0"/>
          </a:p>
        </p:txBody>
      </p:sp>
      <p:sp>
        <p:nvSpPr>
          <p:cNvPr id="34" name="Text 29"/>
          <p:cNvSpPr txBox="1"/>
          <p:nvPr/>
        </p:nvSpPr>
        <p:spPr>
          <a:xfrm>
            <a:off x="5111496" y="5093208"/>
            <a:ext cx="2103120"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Can kill someone. The only unacceptable error.</a:t>
            </a:r>
            <a:endParaRPr lang="en-US" sz="1400" dirty="0"/>
          </a:p>
        </p:txBody>
      </p:sp>
      <p:sp>
        <p:nvSpPr>
          <p:cNvPr id="35" name="Text 30"/>
          <p:cNvSpPr txBox="1"/>
          <p:nvPr/>
        </p:nvSpPr>
        <p:spPr>
          <a:xfrm>
            <a:off x="7818120" y="1938528"/>
            <a:ext cx="3840480" cy="274320"/>
          </a:xfrm>
          <a:prstGeom prst="rect">
            <a:avLst/>
          </a:prstGeom>
          <a:noFill/>
          <a:ln/>
        </p:spPr>
        <p:txBody>
          <a:bodyPr wrap="square" lIns="0" tIns="0" rIns="0" bIns="0" rtlCol="0" anchor="t"/>
          <a:lstStyle/>
          <a:p>
            <a:pPr indent="0" marL="0">
              <a:buNone/>
            </a:pPr>
            <a:r>
              <a:rPr lang="en-US" sz="1400" dirty="0">
                <a:solidFill>
                  <a:srgbClr val="A3ACBA"/>
                </a:solidFill>
                <a:latin typeface="Calibri" pitchFamily="34" charset="0"/>
                <a:ea typeface="Calibri" pitchFamily="34" charset="-122"/>
                <a:cs typeface="Calibri" pitchFamily="34" charset="-120"/>
              </a:rPr>
              <a:t>So the design rule is:</a:t>
            </a:r>
            <a:endParaRPr lang="en-US" sz="1400" dirty="0"/>
          </a:p>
        </p:txBody>
      </p:sp>
      <p:sp>
        <p:nvSpPr>
          <p:cNvPr id="36" name="Text 31"/>
          <p:cNvSpPr txBox="1"/>
          <p:nvPr/>
        </p:nvSpPr>
        <p:spPr>
          <a:xfrm>
            <a:off x="7818120" y="2240280"/>
            <a:ext cx="3840480" cy="502920"/>
          </a:xfrm>
          <a:prstGeom prst="rect">
            <a:avLst/>
          </a:prstGeom>
          <a:noFill/>
          <a:ln/>
        </p:spPr>
        <p:txBody>
          <a:bodyPr wrap="square" lIns="0" tIns="0" rIns="0" bIns="0" rtlCol="0" anchor="t"/>
          <a:lstStyle/>
          <a:p>
            <a:pPr indent="0" marL="0">
              <a:buNone/>
            </a:pPr>
            <a:r>
              <a:rPr lang="en-US" sz="2800" b="1" dirty="0">
                <a:solidFill>
                  <a:srgbClr val="F2545B"/>
                </a:solidFill>
                <a:latin typeface="Calibri" pitchFamily="34" charset="0"/>
                <a:ea typeface="Calibri" pitchFamily="34" charset="-122"/>
                <a:cs typeface="Calibri" pitchFamily="34" charset="-120"/>
              </a:rPr>
              <a:t>WAIT is the default.</a:t>
            </a:r>
            <a:endParaRPr lang="en-US" sz="2800" dirty="0"/>
          </a:p>
        </p:txBody>
      </p:sp>
      <p:sp>
        <p:nvSpPr>
          <p:cNvPr id="37" name="Text 32"/>
          <p:cNvSpPr txBox="1"/>
          <p:nvPr/>
        </p:nvSpPr>
        <p:spPr>
          <a:xfrm>
            <a:off x="7818120" y="2761488"/>
            <a:ext cx="3840480" cy="777240"/>
          </a:xfrm>
          <a:prstGeom prst="rect">
            <a:avLst/>
          </a:prstGeom>
          <a:noFill/>
          <a:ln/>
        </p:spPr>
        <p:txBody>
          <a:bodyPr wrap="square" lIns="0" tIns="0" rIns="0" bIns="0" rtlCol="0" anchor="t"/>
          <a:lstStyle/>
          <a:p>
            <a:pPr indent="0" marL="0">
              <a:buNone/>
            </a:pPr>
            <a:r>
              <a:rPr lang="en-US" sz="1900" b="1" dirty="0">
                <a:solidFill>
                  <a:srgbClr val="3DD68C"/>
                </a:solidFill>
                <a:latin typeface="Calibri" pitchFamily="34" charset="0"/>
                <a:ea typeface="Calibri" pitchFamily="34" charset="-122"/>
                <a:cs typeface="Calibri" pitchFamily="34" charset="-120"/>
              </a:rPr>
              <a:t>SAFE must be earned with explicit positive evidence.</a:t>
            </a:r>
            <a:endParaRPr lang="en-US" sz="1900" dirty="0"/>
          </a:p>
        </p:txBody>
      </p:sp>
      <p:sp>
        <p:nvSpPr>
          <p:cNvPr id="38" name="Shape 33"/>
          <p:cNvSpPr/>
          <p:nvPr/>
        </p:nvSpPr>
        <p:spPr>
          <a:xfrm>
            <a:off x="7818120" y="3931920"/>
            <a:ext cx="502920" cy="502920"/>
          </a:xfrm>
          <a:prstGeom prst="ellipse">
            <a:avLst/>
          </a:prstGeom>
          <a:solidFill>
            <a:srgbClr val="F2545B">
              <a:alpha val="18000"/>
            </a:srgbClr>
          </a:solidFill>
          <a:ln/>
        </p:spPr>
      </p:sp>
      <p:pic>
        <p:nvPicPr>
          <p:cNvPr id="39" name="Image 3" descr="preencoded.png">    </p:cNvPr>
          <p:cNvPicPr>
            <a:picLocks noChangeAspect="1"/>
          </p:cNvPicPr>
          <p:nvPr/>
        </p:nvPicPr>
        <p:blipFill>
          <a:blip r:embed="rId4"/>
          <a:stretch>
            <a:fillRect/>
          </a:stretch>
        </p:blipFill>
        <p:spPr>
          <a:xfrm>
            <a:off x="7938821" y="4052621"/>
            <a:ext cx="261518" cy="261518"/>
          </a:xfrm>
          <a:prstGeom prst="rect">
            <a:avLst/>
          </a:prstGeom>
        </p:spPr>
      </p:pic>
      <p:sp>
        <p:nvSpPr>
          <p:cNvPr id="40" name="Text 34"/>
          <p:cNvSpPr txBox="1"/>
          <p:nvPr/>
        </p:nvSpPr>
        <p:spPr>
          <a:xfrm>
            <a:off x="8503920" y="3886200"/>
            <a:ext cx="315468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Danger evidence is accepted cheaply</a:t>
            </a:r>
            <a:endParaRPr lang="en-US" sz="1400" dirty="0"/>
          </a:p>
        </p:txBody>
      </p:sp>
      <p:sp>
        <p:nvSpPr>
          <p:cNvPr id="41" name="Text 35"/>
          <p:cNvSpPr txBox="1"/>
          <p:nvPr/>
        </p:nvSpPr>
        <p:spPr>
          <a:xfrm>
            <a:off x="8503920" y="4178808"/>
            <a:ext cx="315468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A red light is trusted at any confidence</a:t>
            </a:r>
            <a:endParaRPr lang="en-US" sz="1200" dirty="0"/>
          </a:p>
        </p:txBody>
      </p:sp>
      <p:sp>
        <p:nvSpPr>
          <p:cNvPr id="42" name="Shape 36"/>
          <p:cNvSpPr/>
          <p:nvPr/>
        </p:nvSpPr>
        <p:spPr>
          <a:xfrm>
            <a:off x="7818120" y="4663440"/>
            <a:ext cx="502920" cy="502920"/>
          </a:xfrm>
          <a:prstGeom prst="ellipse">
            <a:avLst/>
          </a:prstGeom>
          <a:solidFill>
            <a:srgbClr val="3DD68C">
              <a:alpha val="18000"/>
            </a:srgbClr>
          </a:solidFill>
          <a:ln/>
        </p:spPr>
      </p:sp>
      <p:pic>
        <p:nvPicPr>
          <p:cNvPr id="43" name="Image 4" descr="preencoded.png">    </p:cNvPr>
          <p:cNvPicPr>
            <a:picLocks noChangeAspect="1"/>
          </p:cNvPicPr>
          <p:nvPr/>
        </p:nvPicPr>
        <p:blipFill>
          <a:blip r:embed="rId5"/>
          <a:stretch>
            <a:fillRect/>
          </a:stretch>
        </p:blipFill>
        <p:spPr>
          <a:xfrm>
            <a:off x="7938821" y="4784141"/>
            <a:ext cx="261518" cy="261518"/>
          </a:xfrm>
          <a:prstGeom prst="rect">
            <a:avLst/>
          </a:prstGeom>
        </p:spPr>
      </p:pic>
      <p:sp>
        <p:nvSpPr>
          <p:cNvPr id="44" name="Text 37"/>
          <p:cNvSpPr txBox="1"/>
          <p:nvPr/>
        </p:nvSpPr>
        <p:spPr>
          <a:xfrm>
            <a:off x="8503920" y="4617720"/>
            <a:ext cx="315468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Safety evidence must be strong</a:t>
            </a:r>
            <a:endParaRPr lang="en-US" sz="1400" dirty="0"/>
          </a:p>
        </p:txBody>
      </p:sp>
      <p:sp>
        <p:nvSpPr>
          <p:cNvPr id="45" name="Text 38"/>
          <p:cNvSpPr txBox="1"/>
          <p:nvPr/>
        </p:nvSpPr>
        <p:spPr>
          <a:xfrm>
            <a:off x="8503920" y="4910328"/>
            <a:ext cx="315468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Green light and crosswalk need confidence ≥ 0.6</a:t>
            </a:r>
            <a:endParaRPr lang="en-US" sz="1200" dirty="0"/>
          </a:p>
        </p:txBody>
      </p:sp>
      <p:sp>
        <p:nvSpPr>
          <p:cNvPr id="46" name="Shape 39"/>
          <p:cNvSpPr/>
          <p:nvPr/>
        </p:nvSpPr>
        <p:spPr>
          <a:xfrm>
            <a:off x="7818120" y="5394960"/>
            <a:ext cx="502920" cy="502920"/>
          </a:xfrm>
          <a:prstGeom prst="ellipse">
            <a:avLst/>
          </a:prstGeom>
          <a:solidFill>
            <a:srgbClr val="F2545B">
              <a:alpha val="18000"/>
            </a:srgbClr>
          </a:solidFill>
          <a:ln/>
        </p:spPr>
      </p:sp>
      <p:pic>
        <p:nvPicPr>
          <p:cNvPr id="47" name="Image 5" descr="preencoded.png">    </p:cNvPr>
          <p:cNvPicPr>
            <a:picLocks noChangeAspect="1"/>
          </p:cNvPicPr>
          <p:nvPr/>
        </p:nvPicPr>
        <p:blipFill>
          <a:blip r:embed="rId6"/>
          <a:stretch>
            <a:fillRect/>
          </a:stretch>
        </p:blipFill>
        <p:spPr>
          <a:xfrm>
            <a:off x="7938821" y="5515661"/>
            <a:ext cx="261518" cy="261518"/>
          </a:xfrm>
          <a:prstGeom prst="rect">
            <a:avLst/>
          </a:prstGeom>
        </p:spPr>
      </p:pic>
      <p:sp>
        <p:nvSpPr>
          <p:cNvPr id="48" name="Text 40"/>
          <p:cNvSpPr txBox="1"/>
          <p:nvPr/>
        </p:nvSpPr>
        <p:spPr>
          <a:xfrm>
            <a:off x="8503920" y="5349240"/>
            <a:ext cx="315468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Withdrawing SAFE is instant</a:t>
            </a:r>
            <a:endParaRPr lang="en-US" sz="1400" dirty="0"/>
          </a:p>
        </p:txBody>
      </p:sp>
      <p:sp>
        <p:nvSpPr>
          <p:cNvPr id="49" name="Text 41"/>
          <p:cNvSpPr txBox="1"/>
          <p:nvPr/>
        </p:nvSpPr>
        <p:spPr>
          <a:xfrm>
            <a:off x="8503920" y="5641848"/>
            <a:ext cx="315468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Entering SAFE needs 8 agreeing frames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LITERATURE REVIEW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F2F4F7"/>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Each building block already exists in the literature</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Four research threads supply the parts. This project assembles them and adds the safety logic.</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4</a:t>
            </a:r>
            <a:endParaRPr lang="en-US" sz="1000" dirty="0"/>
          </a:p>
        </p:txBody>
      </p:sp>
      <p:sp>
        <p:nvSpPr>
          <p:cNvPr id="16" name="Shape 14"/>
          <p:cNvSpPr/>
          <p:nvPr/>
        </p:nvSpPr>
        <p:spPr>
          <a:xfrm>
            <a:off x="548640" y="1874520"/>
            <a:ext cx="2601468" cy="3429000"/>
          </a:xfrm>
          <a:prstGeom prst="roundRect">
            <a:avLst>
              <a:gd name="adj" fmla="val 3515"/>
            </a:avLst>
          </a:prstGeom>
          <a:solidFill>
            <a:srgbClr val="161B22"/>
          </a:solidFill>
          <a:ln w="9525">
            <a:solidFill>
              <a:srgbClr val="2E3845"/>
            </a:solidFill>
            <a:prstDash val="solid"/>
          </a:ln>
        </p:spPr>
      </p:sp>
      <p:sp>
        <p:nvSpPr>
          <p:cNvPr id="17" name="Shape 15"/>
          <p:cNvSpPr/>
          <p:nvPr/>
        </p:nvSpPr>
        <p:spPr>
          <a:xfrm>
            <a:off x="777240" y="2103120"/>
            <a:ext cx="566928" cy="566928"/>
          </a:xfrm>
          <a:prstGeom prst="ellipse">
            <a:avLst/>
          </a:prstGeom>
          <a:solidFill>
            <a:srgbClr val="5EC8E5">
              <a:alpha val="18000"/>
            </a:srgbClr>
          </a:solidFill>
          <a:ln/>
        </p:spPr>
      </p:sp>
      <p:pic>
        <p:nvPicPr>
          <p:cNvPr id="18" name="Image 0" descr="preencoded.png">    </p:cNvPr>
          <p:cNvPicPr>
            <a:picLocks noChangeAspect="1"/>
          </p:cNvPicPr>
          <p:nvPr/>
        </p:nvPicPr>
        <p:blipFill>
          <a:blip r:embed="rId1"/>
          <a:stretch>
            <a:fillRect/>
          </a:stretch>
        </p:blipFill>
        <p:spPr>
          <a:xfrm>
            <a:off x="913303" y="2239183"/>
            <a:ext cx="294803" cy="294803"/>
          </a:xfrm>
          <a:prstGeom prst="rect">
            <a:avLst/>
          </a:prstGeom>
        </p:spPr>
      </p:pic>
      <p:sp>
        <p:nvSpPr>
          <p:cNvPr id="19" name="Text 16"/>
          <p:cNvSpPr txBox="1"/>
          <p:nvPr/>
        </p:nvSpPr>
        <p:spPr>
          <a:xfrm>
            <a:off x="777240" y="2770632"/>
            <a:ext cx="2235708" cy="347472"/>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Object detection</a:t>
            </a:r>
            <a:endParaRPr lang="en-US" sz="1600" dirty="0"/>
          </a:p>
        </p:txBody>
      </p:sp>
      <p:sp>
        <p:nvSpPr>
          <p:cNvPr id="20" name="Text 17"/>
          <p:cNvSpPr txBox="1"/>
          <p:nvPr/>
        </p:nvSpPr>
        <p:spPr>
          <a:xfrm>
            <a:off x="777240" y="3200400"/>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Two-stage: R-CNN, Faster R-CNN</a:t>
            </a:r>
            <a:endParaRPr lang="en-US" sz="1250" dirty="0"/>
          </a:p>
        </p:txBody>
      </p:sp>
      <p:sp>
        <p:nvSpPr>
          <p:cNvPr id="21" name="Text 18"/>
          <p:cNvSpPr txBox="1"/>
          <p:nvPr/>
        </p:nvSpPr>
        <p:spPr>
          <a:xfrm>
            <a:off x="777240" y="3447288"/>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Girshick et al., CVPR 2014 · Ren et al., NeurIPS 2015</a:t>
            </a:r>
            <a:endParaRPr lang="en-US" sz="1100" dirty="0"/>
          </a:p>
        </p:txBody>
      </p:sp>
      <p:sp>
        <p:nvSpPr>
          <p:cNvPr id="22" name="Text 19"/>
          <p:cNvSpPr txBox="1"/>
          <p:nvPr/>
        </p:nvSpPr>
        <p:spPr>
          <a:xfrm>
            <a:off x="777240" y="3776472"/>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Single-stage: YOLO</a:t>
            </a:r>
            <a:endParaRPr lang="en-US" sz="1250" dirty="0"/>
          </a:p>
        </p:txBody>
      </p:sp>
      <p:sp>
        <p:nvSpPr>
          <p:cNvPr id="23" name="Text 20"/>
          <p:cNvSpPr txBox="1"/>
          <p:nvPr/>
        </p:nvSpPr>
        <p:spPr>
          <a:xfrm>
            <a:off x="777240" y="4023360"/>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Redmon et al., CVPR 2016</a:t>
            </a:r>
            <a:endParaRPr lang="en-US" sz="1100" dirty="0"/>
          </a:p>
        </p:txBody>
      </p:sp>
      <p:sp>
        <p:nvSpPr>
          <p:cNvPr id="24" name="Text 21"/>
          <p:cNvSpPr txBox="1"/>
          <p:nvPr/>
        </p:nvSpPr>
        <p:spPr>
          <a:xfrm>
            <a:off x="777240" y="4352544"/>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Single-stage: SSD</a:t>
            </a:r>
            <a:endParaRPr lang="en-US" sz="1250" dirty="0"/>
          </a:p>
        </p:txBody>
      </p:sp>
      <p:sp>
        <p:nvSpPr>
          <p:cNvPr id="25" name="Text 22"/>
          <p:cNvSpPr txBox="1"/>
          <p:nvPr/>
        </p:nvSpPr>
        <p:spPr>
          <a:xfrm>
            <a:off x="777240" y="4599432"/>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Liu et al., ECCV 2016</a:t>
            </a:r>
            <a:endParaRPr lang="en-US" sz="1100" dirty="0"/>
          </a:p>
        </p:txBody>
      </p:sp>
      <p:sp>
        <p:nvSpPr>
          <p:cNvPr id="26" name="Text 23"/>
          <p:cNvSpPr txBox="1"/>
          <p:nvPr/>
        </p:nvSpPr>
        <p:spPr>
          <a:xfrm>
            <a:off x="777240" y="4919472"/>
            <a:ext cx="2235708" cy="274320"/>
          </a:xfrm>
          <a:prstGeom prst="rect">
            <a:avLst/>
          </a:prstGeom>
          <a:noFill/>
          <a:ln/>
        </p:spPr>
        <p:txBody>
          <a:bodyPr wrap="square" lIns="0" tIns="0" rIns="0" bIns="0" rtlCol="0" anchor="t"/>
          <a:lstStyle/>
          <a:p>
            <a:pPr indent="0" marL="0">
              <a:buNone/>
            </a:pPr>
            <a:r>
              <a:rPr lang="en-US" sz="1200" b="1" dirty="0">
                <a:solidFill>
                  <a:srgbClr val="5EC8E5"/>
                </a:solidFill>
                <a:latin typeface="Calibri" pitchFamily="34" charset="0"/>
                <a:ea typeface="Calibri" pitchFamily="34" charset="-122"/>
                <a:cs typeface="Calibri" pitchFamily="34" charset="-120"/>
              </a:rPr>
              <a:t>Used here: YOLOv8 (Ultralytics, 2023)</a:t>
            </a:r>
            <a:endParaRPr lang="en-US" sz="1200" dirty="0"/>
          </a:p>
        </p:txBody>
      </p:sp>
      <p:sp>
        <p:nvSpPr>
          <p:cNvPr id="27" name="Shape 24"/>
          <p:cNvSpPr/>
          <p:nvPr/>
        </p:nvSpPr>
        <p:spPr>
          <a:xfrm>
            <a:off x="3378708" y="1874520"/>
            <a:ext cx="2601468" cy="3429000"/>
          </a:xfrm>
          <a:prstGeom prst="roundRect">
            <a:avLst>
              <a:gd name="adj" fmla="val 3515"/>
            </a:avLst>
          </a:prstGeom>
          <a:solidFill>
            <a:srgbClr val="161B22"/>
          </a:solidFill>
          <a:ln w="9525">
            <a:solidFill>
              <a:srgbClr val="2E3845"/>
            </a:solidFill>
            <a:prstDash val="solid"/>
          </a:ln>
        </p:spPr>
      </p:sp>
      <p:sp>
        <p:nvSpPr>
          <p:cNvPr id="28" name="Shape 25"/>
          <p:cNvSpPr/>
          <p:nvPr/>
        </p:nvSpPr>
        <p:spPr>
          <a:xfrm>
            <a:off x="3607308" y="2103120"/>
            <a:ext cx="566928" cy="566928"/>
          </a:xfrm>
          <a:prstGeom prst="ellipse">
            <a:avLst/>
          </a:prstGeom>
          <a:solidFill>
            <a:srgbClr val="5EC8E5">
              <a:alpha val="18000"/>
            </a:srgbClr>
          </a:solidFill>
          <a:ln/>
        </p:spPr>
      </p:sp>
      <p:pic>
        <p:nvPicPr>
          <p:cNvPr id="29" name="Image 1" descr="preencoded.png">    </p:cNvPr>
          <p:cNvPicPr>
            <a:picLocks noChangeAspect="1"/>
          </p:cNvPicPr>
          <p:nvPr/>
        </p:nvPicPr>
        <p:blipFill>
          <a:blip r:embed="rId2"/>
          <a:stretch>
            <a:fillRect/>
          </a:stretch>
        </p:blipFill>
        <p:spPr>
          <a:xfrm>
            <a:off x="3743371" y="2239183"/>
            <a:ext cx="294803" cy="294803"/>
          </a:xfrm>
          <a:prstGeom prst="rect">
            <a:avLst/>
          </a:prstGeom>
        </p:spPr>
      </p:pic>
      <p:sp>
        <p:nvSpPr>
          <p:cNvPr id="30" name="Text 26"/>
          <p:cNvSpPr txBox="1"/>
          <p:nvPr/>
        </p:nvSpPr>
        <p:spPr>
          <a:xfrm>
            <a:off x="3607308" y="2770632"/>
            <a:ext cx="2235708" cy="347472"/>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Multi-object tracking</a:t>
            </a:r>
            <a:endParaRPr lang="en-US" sz="1600" dirty="0"/>
          </a:p>
        </p:txBody>
      </p:sp>
      <p:sp>
        <p:nvSpPr>
          <p:cNvPr id="31" name="Text 27"/>
          <p:cNvSpPr txBox="1"/>
          <p:nvPr/>
        </p:nvSpPr>
        <p:spPr>
          <a:xfrm>
            <a:off x="3607308" y="3200400"/>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SORT</a:t>
            </a:r>
            <a:endParaRPr lang="en-US" sz="1250" dirty="0"/>
          </a:p>
        </p:txBody>
      </p:sp>
      <p:sp>
        <p:nvSpPr>
          <p:cNvPr id="32" name="Text 28"/>
          <p:cNvSpPr txBox="1"/>
          <p:nvPr/>
        </p:nvSpPr>
        <p:spPr>
          <a:xfrm>
            <a:off x="3607308" y="3447288"/>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Bewley et al., ICIP 2016</a:t>
            </a:r>
            <a:endParaRPr lang="en-US" sz="1100" dirty="0"/>
          </a:p>
        </p:txBody>
      </p:sp>
      <p:sp>
        <p:nvSpPr>
          <p:cNvPr id="33" name="Text 29"/>
          <p:cNvSpPr txBox="1"/>
          <p:nvPr/>
        </p:nvSpPr>
        <p:spPr>
          <a:xfrm>
            <a:off x="3607308" y="3776472"/>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DeepSORT</a:t>
            </a:r>
            <a:endParaRPr lang="en-US" sz="1250" dirty="0"/>
          </a:p>
        </p:txBody>
      </p:sp>
      <p:sp>
        <p:nvSpPr>
          <p:cNvPr id="34" name="Text 30"/>
          <p:cNvSpPr txBox="1"/>
          <p:nvPr/>
        </p:nvSpPr>
        <p:spPr>
          <a:xfrm>
            <a:off x="3607308" y="4023360"/>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Wojke et al., ICIP 2017</a:t>
            </a:r>
            <a:endParaRPr lang="en-US" sz="1100" dirty="0"/>
          </a:p>
        </p:txBody>
      </p:sp>
      <p:sp>
        <p:nvSpPr>
          <p:cNvPr id="35" name="Text 31"/>
          <p:cNvSpPr txBox="1"/>
          <p:nvPr/>
        </p:nvSpPr>
        <p:spPr>
          <a:xfrm>
            <a:off x="3607308" y="4352544"/>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ByteTrack</a:t>
            </a:r>
            <a:endParaRPr lang="en-US" sz="1250" dirty="0"/>
          </a:p>
        </p:txBody>
      </p:sp>
      <p:sp>
        <p:nvSpPr>
          <p:cNvPr id="36" name="Text 32"/>
          <p:cNvSpPr txBox="1"/>
          <p:nvPr/>
        </p:nvSpPr>
        <p:spPr>
          <a:xfrm>
            <a:off x="3607308" y="4599432"/>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Zhang et al., ECCV 2022</a:t>
            </a:r>
            <a:endParaRPr lang="en-US" sz="1100" dirty="0"/>
          </a:p>
        </p:txBody>
      </p:sp>
      <p:sp>
        <p:nvSpPr>
          <p:cNvPr id="37" name="Text 33"/>
          <p:cNvSpPr txBox="1"/>
          <p:nvPr/>
        </p:nvSpPr>
        <p:spPr>
          <a:xfrm>
            <a:off x="3607308" y="4919472"/>
            <a:ext cx="2235708" cy="274320"/>
          </a:xfrm>
          <a:prstGeom prst="rect">
            <a:avLst/>
          </a:prstGeom>
          <a:noFill/>
          <a:ln/>
        </p:spPr>
        <p:txBody>
          <a:bodyPr wrap="square" lIns="0" tIns="0" rIns="0" bIns="0" rtlCol="0" anchor="t"/>
          <a:lstStyle/>
          <a:p>
            <a:pPr indent="0" marL="0">
              <a:buNone/>
            </a:pPr>
            <a:r>
              <a:rPr lang="en-US" sz="1200" b="1" dirty="0">
                <a:solidFill>
                  <a:srgbClr val="5EC8E5"/>
                </a:solidFill>
                <a:latin typeface="Calibri" pitchFamily="34" charset="0"/>
                <a:ea typeface="Calibri" pitchFamily="34" charset="-122"/>
                <a:cs typeface="Calibri" pitchFamily="34" charset="-120"/>
              </a:rPr>
              <a:t>Used here: ByteTrack</a:t>
            </a:r>
            <a:endParaRPr lang="en-US" sz="1200" dirty="0"/>
          </a:p>
        </p:txBody>
      </p:sp>
      <p:sp>
        <p:nvSpPr>
          <p:cNvPr id="38" name="Shape 34"/>
          <p:cNvSpPr/>
          <p:nvPr/>
        </p:nvSpPr>
        <p:spPr>
          <a:xfrm>
            <a:off x="6208776" y="1874520"/>
            <a:ext cx="2601468" cy="3429000"/>
          </a:xfrm>
          <a:prstGeom prst="roundRect">
            <a:avLst>
              <a:gd name="adj" fmla="val 3515"/>
            </a:avLst>
          </a:prstGeom>
          <a:solidFill>
            <a:srgbClr val="161B22"/>
          </a:solidFill>
          <a:ln w="9525">
            <a:solidFill>
              <a:srgbClr val="2E3845"/>
            </a:solidFill>
            <a:prstDash val="solid"/>
          </a:ln>
        </p:spPr>
      </p:sp>
      <p:sp>
        <p:nvSpPr>
          <p:cNvPr id="39" name="Shape 35"/>
          <p:cNvSpPr/>
          <p:nvPr/>
        </p:nvSpPr>
        <p:spPr>
          <a:xfrm>
            <a:off x="6437376" y="2103120"/>
            <a:ext cx="566928" cy="566928"/>
          </a:xfrm>
          <a:prstGeom prst="ellipse">
            <a:avLst/>
          </a:prstGeom>
          <a:solidFill>
            <a:srgbClr val="5EC8E5">
              <a:alpha val="18000"/>
            </a:srgbClr>
          </a:solidFill>
          <a:ln/>
        </p:spPr>
      </p:sp>
      <p:pic>
        <p:nvPicPr>
          <p:cNvPr id="40" name="Image 2" descr="preencoded.png">    </p:cNvPr>
          <p:cNvPicPr>
            <a:picLocks noChangeAspect="1"/>
          </p:cNvPicPr>
          <p:nvPr/>
        </p:nvPicPr>
        <p:blipFill>
          <a:blip r:embed="rId3"/>
          <a:stretch>
            <a:fillRect/>
          </a:stretch>
        </p:blipFill>
        <p:spPr>
          <a:xfrm>
            <a:off x="6573439" y="2239183"/>
            <a:ext cx="294803" cy="294803"/>
          </a:xfrm>
          <a:prstGeom prst="rect">
            <a:avLst/>
          </a:prstGeom>
        </p:spPr>
      </p:pic>
      <p:sp>
        <p:nvSpPr>
          <p:cNvPr id="41" name="Text 36"/>
          <p:cNvSpPr txBox="1"/>
          <p:nvPr/>
        </p:nvSpPr>
        <p:spPr>
          <a:xfrm>
            <a:off x="6437376" y="2770632"/>
            <a:ext cx="2235708" cy="347472"/>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Time-to-contact &amp; depth</a:t>
            </a:r>
            <a:endParaRPr lang="en-US" sz="1600" dirty="0"/>
          </a:p>
        </p:txBody>
      </p:sp>
      <p:sp>
        <p:nvSpPr>
          <p:cNvPr id="42" name="Text 37"/>
          <p:cNvSpPr txBox="1"/>
          <p:nvPr/>
        </p:nvSpPr>
        <p:spPr>
          <a:xfrm>
            <a:off x="6437376" y="3200400"/>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Time-to-contact from image expansion (τ)</a:t>
            </a:r>
            <a:endParaRPr lang="en-US" sz="1250" dirty="0"/>
          </a:p>
        </p:txBody>
      </p:sp>
      <p:sp>
        <p:nvSpPr>
          <p:cNvPr id="43" name="Text 38"/>
          <p:cNvSpPr txBox="1"/>
          <p:nvPr/>
        </p:nvSpPr>
        <p:spPr>
          <a:xfrm>
            <a:off x="6437376" y="3447288"/>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Lee, Perception, 1976</a:t>
            </a:r>
            <a:endParaRPr lang="en-US" sz="1100" dirty="0"/>
          </a:p>
        </p:txBody>
      </p:sp>
      <p:sp>
        <p:nvSpPr>
          <p:cNvPr id="44" name="Text 39"/>
          <p:cNvSpPr txBox="1"/>
          <p:nvPr/>
        </p:nvSpPr>
        <p:spPr>
          <a:xfrm>
            <a:off x="6437376" y="3776472"/>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Depth from a single image</a:t>
            </a:r>
            <a:endParaRPr lang="en-US" sz="1250" dirty="0"/>
          </a:p>
        </p:txBody>
      </p:sp>
      <p:sp>
        <p:nvSpPr>
          <p:cNvPr id="45" name="Text 40"/>
          <p:cNvSpPr txBox="1"/>
          <p:nvPr/>
        </p:nvSpPr>
        <p:spPr>
          <a:xfrm>
            <a:off x="6437376" y="4023360"/>
            <a:ext cx="2281428"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Eigen et al., NeurIPS 2014</a:t>
            </a:r>
            <a:endParaRPr lang="en-US" sz="1100" dirty="0"/>
          </a:p>
        </p:txBody>
      </p:sp>
      <p:sp>
        <p:nvSpPr>
          <p:cNvPr id="46" name="Text 41"/>
          <p:cNvSpPr txBox="1"/>
          <p:nvPr/>
        </p:nvSpPr>
        <p:spPr>
          <a:xfrm>
            <a:off x="6437376" y="4919472"/>
            <a:ext cx="2235708" cy="274320"/>
          </a:xfrm>
          <a:prstGeom prst="rect">
            <a:avLst/>
          </a:prstGeom>
          <a:noFill/>
          <a:ln/>
        </p:spPr>
        <p:txBody>
          <a:bodyPr wrap="square" lIns="0" tIns="0" rIns="0" bIns="0" rtlCol="0" anchor="t"/>
          <a:lstStyle/>
          <a:p>
            <a:pPr indent="0" marL="0">
              <a:buNone/>
            </a:pPr>
            <a:r>
              <a:rPr lang="en-US" sz="1200" b="1" dirty="0">
                <a:solidFill>
                  <a:srgbClr val="5EC8E5"/>
                </a:solidFill>
                <a:latin typeface="Calibri" pitchFamily="34" charset="0"/>
                <a:ea typeface="Calibri" pitchFamily="34" charset="-122"/>
                <a:cs typeface="Calibri" pitchFamily="34" charset="-120"/>
              </a:rPr>
              <a:t>Used here: the τ idea, calibration-free</a:t>
            </a:r>
            <a:endParaRPr lang="en-US" sz="1200" dirty="0"/>
          </a:p>
        </p:txBody>
      </p:sp>
      <p:sp>
        <p:nvSpPr>
          <p:cNvPr id="47" name="Shape 42"/>
          <p:cNvSpPr/>
          <p:nvPr/>
        </p:nvSpPr>
        <p:spPr>
          <a:xfrm>
            <a:off x="9038844" y="1874520"/>
            <a:ext cx="2601468" cy="3429000"/>
          </a:xfrm>
          <a:prstGeom prst="roundRect">
            <a:avLst>
              <a:gd name="adj" fmla="val 3515"/>
            </a:avLst>
          </a:prstGeom>
          <a:solidFill>
            <a:srgbClr val="161B22"/>
          </a:solidFill>
          <a:ln w="9525">
            <a:solidFill>
              <a:srgbClr val="2E3845"/>
            </a:solidFill>
            <a:prstDash val="solid"/>
          </a:ln>
        </p:spPr>
      </p:sp>
      <p:sp>
        <p:nvSpPr>
          <p:cNvPr id="48" name="Shape 43"/>
          <p:cNvSpPr/>
          <p:nvPr/>
        </p:nvSpPr>
        <p:spPr>
          <a:xfrm>
            <a:off x="9267444" y="2103120"/>
            <a:ext cx="566928" cy="566928"/>
          </a:xfrm>
          <a:prstGeom prst="ellipse">
            <a:avLst/>
          </a:prstGeom>
          <a:solidFill>
            <a:srgbClr val="5EC8E5">
              <a:alpha val="18000"/>
            </a:srgbClr>
          </a:solidFill>
          <a:ln/>
        </p:spPr>
      </p:sp>
      <p:pic>
        <p:nvPicPr>
          <p:cNvPr id="49" name="Image 3" descr="preencoded.png">    </p:cNvPr>
          <p:cNvPicPr>
            <a:picLocks noChangeAspect="1"/>
          </p:cNvPicPr>
          <p:nvPr/>
        </p:nvPicPr>
        <p:blipFill>
          <a:blip r:embed="rId4"/>
          <a:stretch>
            <a:fillRect/>
          </a:stretch>
        </p:blipFill>
        <p:spPr>
          <a:xfrm>
            <a:off x="9403507" y="2239183"/>
            <a:ext cx="294803" cy="294803"/>
          </a:xfrm>
          <a:prstGeom prst="rect">
            <a:avLst/>
          </a:prstGeom>
        </p:spPr>
      </p:pic>
      <p:sp>
        <p:nvSpPr>
          <p:cNvPr id="50" name="Text 44"/>
          <p:cNvSpPr txBox="1"/>
          <p:nvPr/>
        </p:nvSpPr>
        <p:spPr>
          <a:xfrm>
            <a:off x="9267444" y="2770632"/>
            <a:ext cx="2235708" cy="347472"/>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Assistive crossing aids</a:t>
            </a:r>
            <a:endParaRPr lang="en-US" sz="1600" dirty="0"/>
          </a:p>
        </p:txBody>
      </p:sp>
      <p:sp>
        <p:nvSpPr>
          <p:cNvPr id="51" name="Text 45"/>
          <p:cNvSpPr txBox="1"/>
          <p:nvPr/>
        </p:nvSpPr>
        <p:spPr>
          <a:xfrm>
            <a:off x="9267444" y="3200400"/>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Signal &amp; crosswalk recognition for blind pedestrians</a:t>
            </a:r>
            <a:endParaRPr lang="en-US" sz="1250" dirty="0"/>
          </a:p>
        </p:txBody>
      </p:sp>
      <p:sp>
        <p:nvSpPr>
          <p:cNvPr id="52" name="Text 46"/>
          <p:cNvSpPr txBox="1"/>
          <p:nvPr/>
        </p:nvSpPr>
        <p:spPr>
          <a:xfrm>
            <a:off x="9267444" y="3447288"/>
            <a:ext cx="2281428" cy="274320"/>
          </a:xfrm>
          <a:prstGeom prst="rect">
            <a:avLst/>
          </a:prstGeom>
          <a:noFill/>
          <a:ln/>
        </p:spPr>
        <p:txBody>
          <a:bodyPr wrap="square" lIns="0" tIns="0" rIns="0" bIns="0" rtlCol="0" anchor="t"/>
          <a:lstStyle/>
          <a:p>
            <a:pPr indent="0" marL="0">
              <a:buNone/>
            </a:pPr>
            <a:r>
              <a:rPr lang="en-US" sz="1000" b="1" dirty="0">
                <a:solidFill>
                  <a:srgbClr val="F5B43C"/>
                </a:solidFill>
                <a:latin typeface="Calibri" pitchFamily="34" charset="0"/>
                <a:ea typeface="Calibri" pitchFamily="34" charset="-122"/>
                <a:cs typeface="Calibri" pitchFamily="34" charset="-120"/>
              </a:rPr>
              <a:t>[CITATION NEEDED — verify before submission]</a:t>
            </a:r>
            <a:endParaRPr lang="en-US" sz="1000" dirty="0"/>
          </a:p>
        </p:txBody>
      </p:sp>
      <p:sp>
        <p:nvSpPr>
          <p:cNvPr id="53" name="Text 47"/>
          <p:cNvSpPr txBox="1"/>
          <p:nvPr/>
        </p:nvSpPr>
        <p:spPr>
          <a:xfrm>
            <a:off x="9267444" y="3776472"/>
            <a:ext cx="2235708" cy="256032"/>
          </a:xfrm>
          <a:prstGeom prst="rect">
            <a:avLst/>
          </a:prstGeom>
          <a:noFill/>
          <a:ln/>
        </p:spPr>
        <p:txBody>
          <a:bodyPr wrap="square" lIns="0" tIns="0" rIns="0" bIns="0" rtlCol="0" anchor="t">
            <a:normAutofit/>
          </a:bodyPr>
          <a:lstStyle/>
          <a:p>
            <a:pPr indent="0" marL="0">
              <a:buNone/>
            </a:pPr>
            <a:r>
              <a:rPr lang="en-US" sz="1250" b="1" dirty="0">
                <a:solidFill>
                  <a:srgbClr val="F2F4F7"/>
                </a:solidFill>
                <a:latin typeface="Calibri" pitchFamily="34" charset="0"/>
                <a:ea typeface="Calibri" pitchFamily="34" charset="-122"/>
                <a:cs typeface="Calibri" pitchFamily="34" charset="-120"/>
              </a:rPr>
              <a:t>Phone / wearable camera crossing aids</a:t>
            </a:r>
            <a:endParaRPr lang="en-US" sz="1250" dirty="0"/>
          </a:p>
        </p:txBody>
      </p:sp>
      <p:sp>
        <p:nvSpPr>
          <p:cNvPr id="54" name="Text 48"/>
          <p:cNvSpPr txBox="1"/>
          <p:nvPr/>
        </p:nvSpPr>
        <p:spPr>
          <a:xfrm>
            <a:off x="9267444" y="4023360"/>
            <a:ext cx="2281428" cy="274320"/>
          </a:xfrm>
          <a:prstGeom prst="rect">
            <a:avLst/>
          </a:prstGeom>
          <a:noFill/>
          <a:ln/>
        </p:spPr>
        <p:txBody>
          <a:bodyPr wrap="square" lIns="0" tIns="0" rIns="0" bIns="0" rtlCol="0" anchor="t"/>
          <a:lstStyle/>
          <a:p>
            <a:pPr indent="0" marL="0">
              <a:buNone/>
            </a:pPr>
            <a:r>
              <a:rPr lang="en-US" sz="1000" b="1" dirty="0">
                <a:solidFill>
                  <a:srgbClr val="F5B43C"/>
                </a:solidFill>
                <a:latin typeface="Calibri" pitchFamily="34" charset="0"/>
                <a:ea typeface="Calibri" pitchFamily="34" charset="-122"/>
                <a:cs typeface="Calibri" pitchFamily="34" charset="-120"/>
              </a:rPr>
              <a:t>[CITATION NEEDED — verify before submission]</a:t>
            </a:r>
            <a:endParaRPr lang="en-US" sz="1000" dirty="0"/>
          </a:p>
        </p:txBody>
      </p:sp>
      <p:sp>
        <p:nvSpPr>
          <p:cNvPr id="55" name="Text 49"/>
          <p:cNvSpPr txBox="1"/>
          <p:nvPr/>
        </p:nvSpPr>
        <p:spPr>
          <a:xfrm>
            <a:off x="9267444" y="4919472"/>
            <a:ext cx="2235708" cy="274320"/>
          </a:xfrm>
          <a:prstGeom prst="rect">
            <a:avLst/>
          </a:prstGeom>
          <a:noFill/>
          <a:ln/>
        </p:spPr>
        <p:txBody>
          <a:bodyPr wrap="square" lIns="0" tIns="0" rIns="0" bIns="0" rtlCol="0" anchor="t"/>
          <a:lstStyle/>
          <a:p>
            <a:pPr indent="0" marL="0">
              <a:buNone/>
            </a:pPr>
            <a:r>
              <a:rPr lang="en-US" sz="1200" b="1" dirty="0">
                <a:solidFill>
                  <a:srgbClr val="5EC8E5"/>
                </a:solidFill>
                <a:latin typeface="Calibri" pitchFamily="34" charset="0"/>
                <a:ea typeface="Calibri" pitchFamily="34" charset="-122"/>
                <a:cs typeface="Calibri" pitchFamily="34" charset="-120"/>
              </a:rPr>
              <a:t>Motivates: the user need</a:t>
            </a:r>
            <a:endParaRPr lang="en-US" sz="1200" dirty="0"/>
          </a:p>
        </p:txBody>
      </p:sp>
      <p:sp>
        <p:nvSpPr>
          <p:cNvPr id="56" name="Text 50"/>
          <p:cNvSpPr txBox="1"/>
          <p:nvPr/>
        </p:nvSpPr>
        <p:spPr>
          <a:xfrm>
            <a:off x="548640" y="5532120"/>
            <a:ext cx="2377440" cy="411480"/>
          </a:xfrm>
          <a:prstGeom prst="rect">
            <a:avLst/>
          </a:prstGeom>
          <a:noFill/>
          <a:ln/>
        </p:spPr>
        <p:txBody>
          <a:bodyPr wrap="square" lIns="0" tIns="0" rIns="0" bIns="0" rtlCol="0" anchor="ctr"/>
          <a:lstStyle/>
          <a:p>
            <a:pPr indent="0" marL="0">
              <a:buNone/>
            </a:pPr>
            <a:r>
              <a:rPr lang="en-US" sz="1100" b="1" spc="100" kern="0" dirty="0">
                <a:solidFill>
                  <a:srgbClr val="A3ACBA"/>
                </a:solidFill>
                <a:latin typeface="Calibri" pitchFamily="34" charset="0"/>
                <a:ea typeface="Calibri" pitchFamily="34" charset="-122"/>
                <a:cs typeface="Calibri" pitchFamily="34" charset="-120"/>
              </a:rPr>
              <a:t>DATASETS &amp; BENCHMARKS</a:t>
            </a:r>
            <a:endParaRPr lang="en-US" sz="1100" dirty="0"/>
          </a:p>
        </p:txBody>
      </p:sp>
      <p:sp>
        <p:nvSpPr>
          <p:cNvPr id="57" name="Text 51"/>
          <p:cNvSpPr txBox="1"/>
          <p:nvPr/>
        </p:nvSpPr>
        <p:spPr>
          <a:xfrm>
            <a:off x="2926080" y="5532120"/>
            <a:ext cx="3290011" cy="411480"/>
          </a:xfrm>
          <a:prstGeom prst="roundRect">
            <a:avLst>
              <a:gd name="adj" fmla="val 48889"/>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PASCAL VOC — Everingham et al., IJCV 2010</a:t>
            </a:r>
            <a:endParaRPr lang="en-US" sz="1200" dirty="0"/>
          </a:p>
        </p:txBody>
      </p:sp>
      <p:sp>
        <p:nvSpPr>
          <p:cNvPr id="58" name="Text 52"/>
          <p:cNvSpPr txBox="1"/>
          <p:nvPr/>
        </p:nvSpPr>
        <p:spPr>
          <a:xfrm>
            <a:off x="6353251" y="5532120"/>
            <a:ext cx="2362810" cy="411480"/>
          </a:xfrm>
          <a:prstGeom prst="roundRect">
            <a:avLst>
              <a:gd name="adj" fmla="val 48889"/>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COCO — Lin et al., ECCV 2014</a:t>
            </a:r>
            <a:endParaRPr lang="en-US" sz="1200" dirty="0"/>
          </a:p>
        </p:txBody>
      </p:sp>
      <p:sp>
        <p:nvSpPr>
          <p:cNvPr id="59" name="Text 53"/>
          <p:cNvSpPr txBox="1"/>
          <p:nvPr/>
        </p:nvSpPr>
        <p:spPr>
          <a:xfrm>
            <a:off x="8853221" y="5532120"/>
            <a:ext cx="3004718" cy="411480"/>
          </a:xfrm>
          <a:prstGeom prst="roundRect">
            <a:avLst>
              <a:gd name="adj" fmla="val 48889"/>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Cityscapes — Cordts et al., CVPR 2016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LITERATURE REVIEW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F2F4F7"/>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From region proposals to one-pass detection and tracking</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5</a:t>
            </a:r>
            <a:endParaRPr lang="en-US" sz="1000" dirty="0"/>
          </a:p>
        </p:txBody>
      </p:sp>
      <p:sp>
        <p:nvSpPr>
          <p:cNvPr id="15" name="Shape 13"/>
          <p:cNvSpPr/>
          <p:nvPr/>
        </p:nvSpPr>
        <p:spPr>
          <a:xfrm>
            <a:off x="731520" y="3840480"/>
            <a:ext cx="10744200" cy="0"/>
          </a:xfrm>
          <a:prstGeom prst="line">
            <a:avLst/>
          </a:prstGeom>
          <a:noFill/>
          <a:ln w="25400">
            <a:solidFill>
              <a:srgbClr val="2E3845"/>
            </a:solidFill>
            <a:prstDash val="solid"/>
          </a:ln>
        </p:spPr>
      </p:sp>
      <p:sp>
        <p:nvSpPr>
          <p:cNvPr id="16" name="Shape 14"/>
          <p:cNvSpPr/>
          <p:nvPr/>
        </p:nvSpPr>
        <p:spPr>
          <a:xfrm>
            <a:off x="1348740" y="3785616"/>
            <a:ext cx="0" cy="109728"/>
          </a:xfrm>
          <a:prstGeom prst="line">
            <a:avLst/>
          </a:prstGeom>
          <a:noFill/>
          <a:ln w="12700">
            <a:solidFill>
              <a:srgbClr val="667085"/>
            </a:solidFill>
            <a:prstDash val="solid"/>
          </a:ln>
        </p:spPr>
      </p:sp>
      <p:sp>
        <p:nvSpPr>
          <p:cNvPr id="17" name="Text 15"/>
          <p:cNvSpPr txBox="1"/>
          <p:nvPr/>
        </p:nvSpPr>
        <p:spPr>
          <a:xfrm>
            <a:off x="107442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2014</a:t>
            </a:r>
            <a:endParaRPr lang="en-US" sz="1100" dirty="0"/>
          </a:p>
        </p:txBody>
      </p:sp>
      <p:sp>
        <p:nvSpPr>
          <p:cNvPr id="18" name="Shape 16"/>
          <p:cNvSpPr/>
          <p:nvPr/>
        </p:nvSpPr>
        <p:spPr>
          <a:xfrm>
            <a:off x="2400300" y="3785616"/>
            <a:ext cx="0" cy="109728"/>
          </a:xfrm>
          <a:prstGeom prst="line">
            <a:avLst/>
          </a:prstGeom>
          <a:noFill/>
          <a:ln w="12700">
            <a:solidFill>
              <a:srgbClr val="667085"/>
            </a:solidFill>
            <a:prstDash val="solid"/>
          </a:ln>
        </p:spPr>
      </p:sp>
      <p:sp>
        <p:nvSpPr>
          <p:cNvPr id="19" name="Text 17"/>
          <p:cNvSpPr txBox="1"/>
          <p:nvPr/>
        </p:nvSpPr>
        <p:spPr>
          <a:xfrm>
            <a:off x="212598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2015</a:t>
            </a:r>
            <a:endParaRPr lang="en-US" sz="1100" dirty="0"/>
          </a:p>
        </p:txBody>
      </p:sp>
      <p:sp>
        <p:nvSpPr>
          <p:cNvPr id="20" name="Shape 18"/>
          <p:cNvSpPr/>
          <p:nvPr/>
        </p:nvSpPr>
        <p:spPr>
          <a:xfrm>
            <a:off x="3451860" y="3785616"/>
            <a:ext cx="0" cy="109728"/>
          </a:xfrm>
          <a:prstGeom prst="line">
            <a:avLst/>
          </a:prstGeom>
          <a:noFill/>
          <a:ln w="12700">
            <a:solidFill>
              <a:srgbClr val="667085"/>
            </a:solidFill>
            <a:prstDash val="solid"/>
          </a:ln>
        </p:spPr>
      </p:sp>
      <p:sp>
        <p:nvSpPr>
          <p:cNvPr id="21" name="Text 19"/>
          <p:cNvSpPr txBox="1"/>
          <p:nvPr/>
        </p:nvSpPr>
        <p:spPr>
          <a:xfrm>
            <a:off x="317754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2016</a:t>
            </a:r>
            <a:endParaRPr lang="en-US" sz="1100" dirty="0"/>
          </a:p>
        </p:txBody>
      </p:sp>
      <p:sp>
        <p:nvSpPr>
          <p:cNvPr id="22" name="Shape 20"/>
          <p:cNvSpPr/>
          <p:nvPr/>
        </p:nvSpPr>
        <p:spPr>
          <a:xfrm>
            <a:off x="4503420" y="3785616"/>
            <a:ext cx="0" cy="109728"/>
          </a:xfrm>
          <a:prstGeom prst="line">
            <a:avLst/>
          </a:prstGeom>
          <a:noFill/>
          <a:ln w="12700">
            <a:solidFill>
              <a:srgbClr val="667085"/>
            </a:solidFill>
            <a:prstDash val="solid"/>
          </a:ln>
        </p:spPr>
      </p:sp>
      <p:sp>
        <p:nvSpPr>
          <p:cNvPr id="23" name="Text 21"/>
          <p:cNvSpPr txBox="1"/>
          <p:nvPr/>
        </p:nvSpPr>
        <p:spPr>
          <a:xfrm>
            <a:off x="422910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2017</a:t>
            </a:r>
            <a:endParaRPr lang="en-US" sz="1100" dirty="0"/>
          </a:p>
        </p:txBody>
      </p:sp>
      <p:sp>
        <p:nvSpPr>
          <p:cNvPr id="24" name="Shape 22"/>
          <p:cNvSpPr/>
          <p:nvPr/>
        </p:nvSpPr>
        <p:spPr>
          <a:xfrm>
            <a:off x="5554980" y="3785616"/>
            <a:ext cx="0" cy="109728"/>
          </a:xfrm>
          <a:prstGeom prst="line">
            <a:avLst/>
          </a:prstGeom>
          <a:noFill/>
          <a:ln w="12700">
            <a:solidFill>
              <a:srgbClr val="667085"/>
            </a:solidFill>
            <a:prstDash val="solid"/>
          </a:ln>
        </p:spPr>
      </p:sp>
      <p:sp>
        <p:nvSpPr>
          <p:cNvPr id="25" name="Text 23"/>
          <p:cNvSpPr txBox="1"/>
          <p:nvPr/>
        </p:nvSpPr>
        <p:spPr>
          <a:xfrm>
            <a:off x="528066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2018</a:t>
            </a:r>
            <a:endParaRPr lang="en-US" sz="1100" dirty="0"/>
          </a:p>
        </p:txBody>
      </p:sp>
      <p:sp>
        <p:nvSpPr>
          <p:cNvPr id="26" name="Shape 24"/>
          <p:cNvSpPr/>
          <p:nvPr/>
        </p:nvSpPr>
        <p:spPr>
          <a:xfrm>
            <a:off x="6606540" y="3785616"/>
            <a:ext cx="0" cy="109728"/>
          </a:xfrm>
          <a:prstGeom prst="line">
            <a:avLst/>
          </a:prstGeom>
          <a:noFill/>
          <a:ln w="12700">
            <a:solidFill>
              <a:srgbClr val="667085"/>
            </a:solidFill>
            <a:prstDash val="solid"/>
          </a:ln>
        </p:spPr>
      </p:sp>
      <p:sp>
        <p:nvSpPr>
          <p:cNvPr id="27" name="Text 25"/>
          <p:cNvSpPr txBox="1"/>
          <p:nvPr/>
        </p:nvSpPr>
        <p:spPr>
          <a:xfrm>
            <a:off x="633222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2019</a:t>
            </a:r>
            <a:endParaRPr lang="en-US" sz="1100" dirty="0"/>
          </a:p>
        </p:txBody>
      </p:sp>
      <p:sp>
        <p:nvSpPr>
          <p:cNvPr id="28" name="Shape 26"/>
          <p:cNvSpPr/>
          <p:nvPr/>
        </p:nvSpPr>
        <p:spPr>
          <a:xfrm>
            <a:off x="7658100" y="3785616"/>
            <a:ext cx="0" cy="109728"/>
          </a:xfrm>
          <a:prstGeom prst="line">
            <a:avLst/>
          </a:prstGeom>
          <a:noFill/>
          <a:ln w="12700">
            <a:solidFill>
              <a:srgbClr val="667085"/>
            </a:solidFill>
            <a:prstDash val="solid"/>
          </a:ln>
        </p:spPr>
      </p:sp>
      <p:sp>
        <p:nvSpPr>
          <p:cNvPr id="29" name="Text 27"/>
          <p:cNvSpPr txBox="1"/>
          <p:nvPr/>
        </p:nvSpPr>
        <p:spPr>
          <a:xfrm>
            <a:off x="738378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2020</a:t>
            </a:r>
            <a:endParaRPr lang="en-US" sz="1100" dirty="0"/>
          </a:p>
        </p:txBody>
      </p:sp>
      <p:sp>
        <p:nvSpPr>
          <p:cNvPr id="30" name="Shape 28"/>
          <p:cNvSpPr/>
          <p:nvPr/>
        </p:nvSpPr>
        <p:spPr>
          <a:xfrm>
            <a:off x="8709660" y="3785616"/>
            <a:ext cx="0" cy="109728"/>
          </a:xfrm>
          <a:prstGeom prst="line">
            <a:avLst/>
          </a:prstGeom>
          <a:noFill/>
          <a:ln w="12700">
            <a:solidFill>
              <a:srgbClr val="667085"/>
            </a:solidFill>
            <a:prstDash val="solid"/>
          </a:ln>
        </p:spPr>
      </p:sp>
      <p:sp>
        <p:nvSpPr>
          <p:cNvPr id="31" name="Text 29"/>
          <p:cNvSpPr txBox="1"/>
          <p:nvPr/>
        </p:nvSpPr>
        <p:spPr>
          <a:xfrm>
            <a:off x="843534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2021</a:t>
            </a:r>
            <a:endParaRPr lang="en-US" sz="1100" dirty="0"/>
          </a:p>
        </p:txBody>
      </p:sp>
      <p:sp>
        <p:nvSpPr>
          <p:cNvPr id="32" name="Shape 30"/>
          <p:cNvSpPr/>
          <p:nvPr/>
        </p:nvSpPr>
        <p:spPr>
          <a:xfrm>
            <a:off x="9761220" y="3785616"/>
            <a:ext cx="0" cy="109728"/>
          </a:xfrm>
          <a:prstGeom prst="line">
            <a:avLst/>
          </a:prstGeom>
          <a:noFill/>
          <a:ln w="12700">
            <a:solidFill>
              <a:srgbClr val="667085"/>
            </a:solidFill>
            <a:prstDash val="solid"/>
          </a:ln>
        </p:spPr>
      </p:sp>
      <p:sp>
        <p:nvSpPr>
          <p:cNvPr id="33" name="Text 31"/>
          <p:cNvSpPr txBox="1"/>
          <p:nvPr/>
        </p:nvSpPr>
        <p:spPr>
          <a:xfrm>
            <a:off x="948690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2022</a:t>
            </a:r>
            <a:endParaRPr lang="en-US" sz="1100" dirty="0"/>
          </a:p>
        </p:txBody>
      </p:sp>
      <p:sp>
        <p:nvSpPr>
          <p:cNvPr id="34" name="Shape 32"/>
          <p:cNvSpPr/>
          <p:nvPr/>
        </p:nvSpPr>
        <p:spPr>
          <a:xfrm>
            <a:off x="10812780" y="3785616"/>
            <a:ext cx="0" cy="109728"/>
          </a:xfrm>
          <a:prstGeom prst="line">
            <a:avLst/>
          </a:prstGeom>
          <a:noFill/>
          <a:ln w="12700">
            <a:solidFill>
              <a:srgbClr val="667085"/>
            </a:solidFill>
            <a:prstDash val="solid"/>
          </a:ln>
        </p:spPr>
      </p:sp>
      <p:sp>
        <p:nvSpPr>
          <p:cNvPr id="35" name="Text 33"/>
          <p:cNvSpPr txBox="1"/>
          <p:nvPr/>
        </p:nvSpPr>
        <p:spPr>
          <a:xfrm>
            <a:off x="10538460" y="39319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2023</a:t>
            </a:r>
            <a:endParaRPr lang="en-US" sz="1100" dirty="0"/>
          </a:p>
        </p:txBody>
      </p:sp>
      <p:sp>
        <p:nvSpPr>
          <p:cNvPr id="36" name="Text 34"/>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300" b="1" spc="300" kern="0" dirty="0">
                <a:solidFill>
                  <a:srgbClr val="667085"/>
                </a:solidFill>
                <a:latin typeface="Calibri" pitchFamily="34" charset="0"/>
                <a:ea typeface="Calibri" pitchFamily="34" charset="-122"/>
                <a:cs typeface="Calibri" pitchFamily="34" charset="-120"/>
              </a:rPr>
              <a:t>DETECTION</a:t>
            </a:r>
            <a:endParaRPr lang="en-US" sz="1300" dirty="0"/>
          </a:p>
        </p:txBody>
      </p:sp>
      <p:sp>
        <p:nvSpPr>
          <p:cNvPr id="37" name="Text 35"/>
          <p:cNvSpPr txBox="1"/>
          <p:nvPr/>
        </p:nvSpPr>
        <p:spPr>
          <a:xfrm>
            <a:off x="5577840" y="4617720"/>
            <a:ext cx="2743200" cy="274320"/>
          </a:xfrm>
          <a:prstGeom prst="rect">
            <a:avLst/>
          </a:prstGeom>
          <a:noFill/>
          <a:ln/>
        </p:spPr>
        <p:txBody>
          <a:bodyPr wrap="square" lIns="0" tIns="0" rIns="0" bIns="0" rtlCol="0" anchor="t"/>
          <a:lstStyle/>
          <a:p>
            <a:pPr indent="0" marL="0">
              <a:buNone/>
            </a:pPr>
            <a:r>
              <a:rPr lang="en-US" sz="1300" b="1" spc="300" kern="0" dirty="0">
                <a:solidFill>
                  <a:srgbClr val="667085"/>
                </a:solidFill>
                <a:latin typeface="Calibri" pitchFamily="34" charset="0"/>
                <a:ea typeface="Calibri" pitchFamily="34" charset="-122"/>
                <a:cs typeface="Calibri" pitchFamily="34" charset="-120"/>
              </a:rPr>
              <a:t>TRACKING</a:t>
            </a:r>
            <a:endParaRPr lang="en-US" sz="1300" dirty="0"/>
          </a:p>
        </p:txBody>
      </p:sp>
      <p:sp>
        <p:nvSpPr>
          <p:cNvPr id="38" name="Shape 36"/>
          <p:cNvSpPr/>
          <p:nvPr/>
        </p:nvSpPr>
        <p:spPr>
          <a:xfrm>
            <a:off x="1348740" y="2724912"/>
            <a:ext cx="0" cy="1115568"/>
          </a:xfrm>
          <a:prstGeom prst="line">
            <a:avLst/>
          </a:prstGeom>
          <a:noFill/>
          <a:ln w="12700">
            <a:solidFill>
              <a:srgbClr val="7B8595"/>
            </a:solidFill>
            <a:prstDash val="solid"/>
          </a:ln>
        </p:spPr>
      </p:sp>
      <p:sp>
        <p:nvSpPr>
          <p:cNvPr id="39" name="Shape 37"/>
          <p:cNvSpPr/>
          <p:nvPr/>
        </p:nvSpPr>
        <p:spPr>
          <a:xfrm>
            <a:off x="1266444" y="3758184"/>
            <a:ext cx="164592" cy="164592"/>
          </a:xfrm>
          <a:prstGeom prst="ellipse">
            <a:avLst/>
          </a:prstGeom>
          <a:solidFill>
            <a:srgbClr val="7B8595"/>
          </a:solidFill>
          <a:ln/>
        </p:spPr>
      </p:sp>
      <p:sp>
        <p:nvSpPr>
          <p:cNvPr id="40" name="Shape 38"/>
          <p:cNvSpPr/>
          <p:nvPr/>
        </p:nvSpPr>
        <p:spPr>
          <a:xfrm>
            <a:off x="548640" y="2011680"/>
            <a:ext cx="1645920" cy="713232"/>
          </a:xfrm>
          <a:prstGeom prst="roundRect">
            <a:avLst>
              <a:gd name="adj" fmla="val 10256"/>
            </a:avLst>
          </a:prstGeom>
          <a:solidFill>
            <a:srgbClr val="161B22"/>
          </a:solidFill>
          <a:ln w="9525">
            <a:solidFill>
              <a:srgbClr val="2E3845"/>
            </a:solidFill>
            <a:prstDash val="solid"/>
          </a:ln>
        </p:spPr>
      </p:sp>
      <p:sp>
        <p:nvSpPr>
          <p:cNvPr id="41" name="Text 39"/>
          <p:cNvSpPr txBox="1"/>
          <p:nvPr/>
        </p:nvSpPr>
        <p:spPr>
          <a:xfrm>
            <a:off x="676656" y="2103120"/>
            <a:ext cx="146304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R-CNN</a:t>
            </a:r>
            <a:endParaRPr lang="en-US" sz="1400" dirty="0"/>
          </a:p>
        </p:txBody>
      </p:sp>
      <p:sp>
        <p:nvSpPr>
          <p:cNvPr id="42" name="Text 40"/>
          <p:cNvSpPr txBox="1"/>
          <p:nvPr/>
        </p:nvSpPr>
        <p:spPr>
          <a:xfrm>
            <a:off x="676656" y="239572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Girshick et al., CVPR</a:t>
            </a:r>
            <a:endParaRPr lang="en-US" sz="1050" dirty="0"/>
          </a:p>
        </p:txBody>
      </p:sp>
      <p:sp>
        <p:nvSpPr>
          <p:cNvPr id="43" name="Shape 41"/>
          <p:cNvSpPr/>
          <p:nvPr/>
        </p:nvSpPr>
        <p:spPr>
          <a:xfrm>
            <a:off x="2400300" y="3547872"/>
            <a:ext cx="0" cy="292608"/>
          </a:xfrm>
          <a:prstGeom prst="line">
            <a:avLst/>
          </a:prstGeom>
          <a:noFill/>
          <a:ln w="12700">
            <a:solidFill>
              <a:srgbClr val="7B8595"/>
            </a:solidFill>
            <a:prstDash val="solid"/>
          </a:ln>
        </p:spPr>
      </p:sp>
      <p:sp>
        <p:nvSpPr>
          <p:cNvPr id="44" name="Shape 42"/>
          <p:cNvSpPr/>
          <p:nvPr/>
        </p:nvSpPr>
        <p:spPr>
          <a:xfrm>
            <a:off x="2318004" y="3758184"/>
            <a:ext cx="164592" cy="164592"/>
          </a:xfrm>
          <a:prstGeom prst="ellipse">
            <a:avLst/>
          </a:prstGeom>
          <a:solidFill>
            <a:srgbClr val="7B8595"/>
          </a:solidFill>
          <a:ln/>
        </p:spPr>
      </p:sp>
      <p:sp>
        <p:nvSpPr>
          <p:cNvPr id="45" name="Shape 43"/>
          <p:cNvSpPr/>
          <p:nvPr/>
        </p:nvSpPr>
        <p:spPr>
          <a:xfrm>
            <a:off x="1577340" y="2834640"/>
            <a:ext cx="1645920" cy="713232"/>
          </a:xfrm>
          <a:prstGeom prst="roundRect">
            <a:avLst>
              <a:gd name="adj" fmla="val 10256"/>
            </a:avLst>
          </a:prstGeom>
          <a:solidFill>
            <a:srgbClr val="161B22"/>
          </a:solidFill>
          <a:ln w="9525">
            <a:solidFill>
              <a:srgbClr val="2E3845"/>
            </a:solidFill>
            <a:prstDash val="solid"/>
          </a:ln>
        </p:spPr>
      </p:sp>
      <p:sp>
        <p:nvSpPr>
          <p:cNvPr id="46" name="Text 44"/>
          <p:cNvSpPr txBox="1"/>
          <p:nvPr/>
        </p:nvSpPr>
        <p:spPr>
          <a:xfrm>
            <a:off x="1705356" y="2926080"/>
            <a:ext cx="146304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Faster R-CNN</a:t>
            </a:r>
            <a:endParaRPr lang="en-US" sz="1400" dirty="0"/>
          </a:p>
        </p:txBody>
      </p:sp>
      <p:sp>
        <p:nvSpPr>
          <p:cNvPr id="47" name="Text 45"/>
          <p:cNvSpPr txBox="1"/>
          <p:nvPr/>
        </p:nvSpPr>
        <p:spPr>
          <a:xfrm>
            <a:off x="1705356" y="321868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Ren et al., NeurIPS</a:t>
            </a:r>
            <a:endParaRPr lang="en-US" sz="1050" dirty="0"/>
          </a:p>
        </p:txBody>
      </p:sp>
      <p:sp>
        <p:nvSpPr>
          <p:cNvPr id="48" name="Shape 46"/>
          <p:cNvSpPr/>
          <p:nvPr/>
        </p:nvSpPr>
        <p:spPr>
          <a:xfrm>
            <a:off x="3451860" y="2724912"/>
            <a:ext cx="0" cy="1115568"/>
          </a:xfrm>
          <a:prstGeom prst="line">
            <a:avLst/>
          </a:prstGeom>
          <a:noFill/>
          <a:ln w="12700">
            <a:solidFill>
              <a:srgbClr val="5EC8E5"/>
            </a:solidFill>
            <a:prstDash val="solid"/>
          </a:ln>
        </p:spPr>
      </p:sp>
      <p:sp>
        <p:nvSpPr>
          <p:cNvPr id="49" name="Shape 47"/>
          <p:cNvSpPr/>
          <p:nvPr/>
        </p:nvSpPr>
        <p:spPr>
          <a:xfrm>
            <a:off x="3369564" y="3758184"/>
            <a:ext cx="164592" cy="164592"/>
          </a:xfrm>
          <a:prstGeom prst="ellipse">
            <a:avLst/>
          </a:prstGeom>
          <a:solidFill>
            <a:srgbClr val="5EC8E5"/>
          </a:solidFill>
          <a:ln/>
        </p:spPr>
      </p:sp>
      <p:sp>
        <p:nvSpPr>
          <p:cNvPr id="50" name="Shape 48"/>
          <p:cNvSpPr/>
          <p:nvPr/>
        </p:nvSpPr>
        <p:spPr>
          <a:xfrm>
            <a:off x="2628900" y="2011680"/>
            <a:ext cx="1645920" cy="713232"/>
          </a:xfrm>
          <a:prstGeom prst="roundRect">
            <a:avLst>
              <a:gd name="adj" fmla="val 10256"/>
            </a:avLst>
          </a:prstGeom>
          <a:solidFill>
            <a:srgbClr val="161B22"/>
          </a:solidFill>
          <a:ln w="9525">
            <a:solidFill>
              <a:srgbClr val="2E3845"/>
            </a:solidFill>
            <a:prstDash val="solid"/>
          </a:ln>
        </p:spPr>
      </p:sp>
      <p:sp>
        <p:nvSpPr>
          <p:cNvPr id="51" name="Text 49"/>
          <p:cNvSpPr txBox="1"/>
          <p:nvPr/>
        </p:nvSpPr>
        <p:spPr>
          <a:xfrm>
            <a:off x="2756916" y="2103120"/>
            <a:ext cx="1463040" cy="274320"/>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YOLO</a:t>
            </a:r>
            <a:endParaRPr lang="en-US" sz="1400" dirty="0"/>
          </a:p>
        </p:txBody>
      </p:sp>
      <p:sp>
        <p:nvSpPr>
          <p:cNvPr id="52" name="Text 50"/>
          <p:cNvSpPr txBox="1"/>
          <p:nvPr/>
        </p:nvSpPr>
        <p:spPr>
          <a:xfrm>
            <a:off x="2756916" y="239572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Redmon et al., CVPR</a:t>
            </a:r>
            <a:endParaRPr lang="en-US" sz="1050" dirty="0"/>
          </a:p>
        </p:txBody>
      </p:sp>
      <p:sp>
        <p:nvSpPr>
          <p:cNvPr id="53" name="Shape 51"/>
          <p:cNvSpPr/>
          <p:nvPr/>
        </p:nvSpPr>
        <p:spPr>
          <a:xfrm>
            <a:off x="10812780" y="2724912"/>
            <a:ext cx="0" cy="1115568"/>
          </a:xfrm>
          <a:prstGeom prst="line">
            <a:avLst/>
          </a:prstGeom>
          <a:noFill/>
          <a:ln w="12700">
            <a:solidFill>
              <a:srgbClr val="5EC8E5"/>
            </a:solidFill>
            <a:prstDash val="solid"/>
          </a:ln>
        </p:spPr>
      </p:sp>
      <p:sp>
        <p:nvSpPr>
          <p:cNvPr id="54" name="Shape 52"/>
          <p:cNvSpPr/>
          <p:nvPr/>
        </p:nvSpPr>
        <p:spPr>
          <a:xfrm>
            <a:off x="10730484" y="3758184"/>
            <a:ext cx="164592" cy="164592"/>
          </a:xfrm>
          <a:prstGeom prst="ellipse">
            <a:avLst/>
          </a:prstGeom>
          <a:solidFill>
            <a:srgbClr val="5EC8E5"/>
          </a:solidFill>
          <a:ln/>
        </p:spPr>
      </p:sp>
      <p:sp>
        <p:nvSpPr>
          <p:cNvPr id="55" name="Shape 53"/>
          <p:cNvSpPr/>
          <p:nvPr/>
        </p:nvSpPr>
        <p:spPr>
          <a:xfrm>
            <a:off x="9989820" y="2011680"/>
            <a:ext cx="1645920" cy="713232"/>
          </a:xfrm>
          <a:prstGeom prst="roundRect">
            <a:avLst>
              <a:gd name="adj" fmla="val 10256"/>
            </a:avLst>
          </a:prstGeom>
          <a:solidFill>
            <a:srgbClr val="161B22"/>
          </a:solidFill>
          <a:ln w="22225">
            <a:solidFill>
              <a:srgbClr val="F2F4F7"/>
            </a:solidFill>
            <a:prstDash val="solid"/>
          </a:ln>
        </p:spPr>
      </p:sp>
      <p:sp>
        <p:nvSpPr>
          <p:cNvPr id="56" name="Text 54"/>
          <p:cNvSpPr txBox="1"/>
          <p:nvPr/>
        </p:nvSpPr>
        <p:spPr>
          <a:xfrm>
            <a:off x="10117836" y="2103120"/>
            <a:ext cx="1463040" cy="274320"/>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YOLOv8</a:t>
            </a:r>
            <a:endParaRPr lang="en-US" sz="1400" dirty="0"/>
          </a:p>
        </p:txBody>
      </p:sp>
      <p:sp>
        <p:nvSpPr>
          <p:cNvPr id="57" name="Text 55"/>
          <p:cNvSpPr txBox="1"/>
          <p:nvPr/>
        </p:nvSpPr>
        <p:spPr>
          <a:xfrm>
            <a:off x="10117836" y="239572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Ultralytics (software)</a:t>
            </a:r>
            <a:endParaRPr lang="en-US" sz="1050" dirty="0"/>
          </a:p>
        </p:txBody>
      </p:sp>
      <p:sp>
        <p:nvSpPr>
          <p:cNvPr id="58" name="Text 56"/>
          <p:cNvSpPr txBox="1"/>
          <p:nvPr/>
        </p:nvSpPr>
        <p:spPr>
          <a:xfrm>
            <a:off x="10767060" y="1865376"/>
            <a:ext cx="822960" cy="237744"/>
          </a:xfrm>
          <a:prstGeom prst="roundRect">
            <a:avLst>
              <a:gd name="adj" fmla="val 50000"/>
            </a:avLst>
          </a:prstGeom>
          <a:solidFill>
            <a:srgbClr val="F2F4F7"/>
          </a:solidFill>
          <a:ln/>
        </p:spPr>
        <p:txBody>
          <a:bodyPr wrap="square" lIns="0" tIns="0" rIns="0" bIns="0" rtlCol="0" anchor="ctr"/>
          <a:lstStyle/>
          <a:p>
            <a:pPr algn="ctr" indent="0" marL="0">
              <a:buNone/>
            </a:pPr>
            <a:r>
              <a:rPr lang="en-US" sz="900" b="1" dirty="0">
                <a:solidFill>
                  <a:srgbClr val="0E1116"/>
                </a:solidFill>
                <a:latin typeface="Calibri" pitchFamily="34" charset="0"/>
                <a:ea typeface="Calibri" pitchFamily="34" charset="-122"/>
                <a:cs typeface="Calibri" pitchFamily="34" charset="-120"/>
              </a:rPr>
              <a:t>USED HERE</a:t>
            </a:r>
            <a:endParaRPr lang="en-US" sz="900" dirty="0"/>
          </a:p>
        </p:txBody>
      </p:sp>
      <p:sp>
        <p:nvSpPr>
          <p:cNvPr id="59" name="Shape 57"/>
          <p:cNvSpPr/>
          <p:nvPr/>
        </p:nvSpPr>
        <p:spPr>
          <a:xfrm>
            <a:off x="4503420" y="3291840"/>
            <a:ext cx="5257800" cy="91440"/>
          </a:xfrm>
          <a:prstGeom prst="roundRect">
            <a:avLst>
              <a:gd name="adj" fmla="val 50000"/>
            </a:avLst>
          </a:prstGeom>
          <a:solidFill>
            <a:srgbClr val="5EC8E5">
              <a:alpha val="45000"/>
            </a:srgbClr>
          </a:solidFill>
          <a:ln/>
        </p:spPr>
      </p:sp>
      <p:sp>
        <p:nvSpPr>
          <p:cNvPr id="60" name="Text 58"/>
          <p:cNvSpPr txBox="1"/>
          <p:nvPr/>
        </p:nvSpPr>
        <p:spPr>
          <a:xfrm>
            <a:off x="4503420" y="2971800"/>
            <a:ext cx="4572000" cy="274320"/>
          </a:xfrm>
          <a:prstGeom prst="rect">
            <a:avLst/>
          </a:prstGeom>
          <a:noFill/>
          <a:ln/>
        </p:spPr>
        <p:txBody>
          <a:bodyPr wrap="square" lIns="0" tIns="0" rIns="0" bIns="0" rtlCol="0" anchor="t"/>
          <a:lstStyle/>
          <a:p>
            <a:pPr indent="0" marL="0">
              <a:buNone/>
            </a:pPr>
            <a:r>
              <a:rPr lang="en-US" sz="1100" i="1" dirty="0">
                <a:solidFill>
                  <a:srgbClr val="A3ACBA"/>
                </a:solidFill>
                <a:latin typeface="Calibri" pitchFamily="34" charset="0"/>
                <a:ea typeface="Calibri" pitchFamily="34" charset="-122"/>
                <a:cs typeface="Calibri" pitchFamily="34" charset="-120"/>
              </a:rPr>
              <a:t>successive single-stage releases, 2017–2022</a:t>
            </a:r>
            <a:endParaRPr lang="en-US" sz="1100" dirty="0"/>
          </a:p>
        </p:txBody>
      </p:sp>
      <p:sp>
        <p:nvSpPr>
          <p:cNvPr id="61" name="Shape 59"/>
          <p:cNvSpPr/>
          <p:nvPr/>
        </p:nvSpPr>
        <p:spPr>
          <a:xfrm>
            <a:off x="3451860" y="3840480"/>
            <a:ext cx="0" cy="457200"/>
          </a:xfrm>
          <a:prstGeom prst="line">
            <a:avLst/>
          </a:prstGeom>
          <a:noFill/>
          <a:ln w="12700">
            <a:solidFill>
              <a:srgbClr val="5EC8E5"/>
            </a:solidFill>
            <a:prstDash val="solid"/>
          </a:ln>
        </p:spPr>
      </p:sp>
      <p:sp>
        <p:nvSpPr>
          <p:cNvPr id="62" name="Shape 60"/>
          <p:cNvSpPr/>
          <p:nvPr/>
        </p:nvSpPr>
        <p:spPr>
          <a:xfrm>
            <a:off x="3369564" y="3758184"/>
            <a:ext cx="164592" cy="164592"/>
          </a:xfrm>
          <a:prstGeom prst="ellipse">
            <a:avLst/>
          </a:prstGeom>
          <a:solidFill>
            <a:srgbClr val="5EC8E5"/>
          </a:solidFill>
          <a:ln/>
        </p:spPr>
      </p:sp>
      <p:sp>
        <p:nvSpPr>
          <p:cNvPr id="63" name="Shape 61"/>
          <p:cNvSpPr/>
          <p:nvPr/>
        </p:nvSpPr>
        <p:spPr>
          <a:xfrm>
            <a:off x="2628900" y="4297680"/>
            <a:ext cx="1645920" cy="713232"/>
          </a:xfrm>
          <a:prstGeom prst="roundRect">
            <a:avLst>
              <a:gd name="adj" fmla="val 10256"/>
            </a:avLst>
          </a:prstGeom>
          <a:solidFill>
            <a:srgbClr val="161B22"/>
          </a:solidFill>
          <a:ln w="9525">
            <a:solidFill>
              <a:srgbClr val="2E3845"/>
            </a:solidFill>
            <a:prstDash val="solid"/>
          </a:ln>
        </p:spPr>
      </p:sp>
      <p:sp>
        <p:nvSpPr>
          <p:cNvPr id="64" name="Text 62"/>
          <p:cNvSpPr txBox="1"/>
          <p:nvPr/>
        </p:nvSpPr>
        <p:spPr>
          <a:xfrm>
            <a:off x="2756916" y="4389120"/>
            <a:ext cx="1463040" cy="274320"/>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SORT</a:t>
            </a:r>
            <a:endParaRPr lang="en-US" sz="1400" dirty="0"/>
          </a:p>
        </p:txBody>
      </p:sp>
      <p:sp>
        <p:nvSpPr>
          <p:cNvPr id="65" name="Text 63"/>
          <p:cNvSpPr txBox="1"/>
          <p:nvPr/>
        </p:nvSpPr>
        <p:spPr>
          <a:xfrm>
            <a:off x="2756916" y="468172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Bewley et al., ICIP</a:t>
            </a:r>
            <a:endParaRPr lang="en-US" sz="1050" dirty="0"/>
          </a:p>
        </p:txBody>
      </p:sp>
      <p:sp>
        <p:nvSpPr>
          <p:cNvPr id="66" name="Shape 64"/>
          <p:cNvSpPr/>
          <p:nvPr/>
        </p:nvSpPr>
        <p:spPr>
          <a:xfrm>
            <a:off x="4503420" y="3840480"/>
            <a:ext cx="0" cy="1280160"/>
          </a:xfrm>
          <a:prstGeom prst="line">
            <a:avLst/>
          </a:prstGeom>
          <a:noFill/>
          <a:ln w="12700">
            <a:solidFill>
              <a:srgbClr val="5EC8E5"/>
            </a:solidFill>
            <a:prstDash val="solid"/>
          </a:ln>
        </p:spPr>
      </p:sp>
      <p:sp>
        <p:nvSpPr>
          <p:cNvPr id="67" name="Shape 65"/>
          <p:cNvSpPr/>
          <p:nvPr/>
        </p:nvSpPr>
        <p:spPr>
          <a:xfrm>
            <a:off x="4421124" y="3758184"/>
            <a:ext cx="164592" cy="164592"/>
          </a:xfrm>
          <a:prstGeom prst="ellipse">
            <a:avLst/>
          </a:prstGeom>
          <a:solidFill>
            <a:srgbClr val="5EC8E5"/>
          </a:solidFill>
          <a:ln/>
        </p:spPr>
      </p:sp>
      <p:sp>
        <p:nvSpPr>
          <p:cNvPr id="68" name="Shape 66"/>
          <p:cNvSpPr/>
          <p:nvPr/>
        </p:nvSpPr>
        <p:spPr>
          <a:xfrm>
            <a:off x="3680460" y="5120640"/>
            <a:ext cx="1645920" cy="713232"/>
          </a:xfrm>
          <a:prstGeom prst="roundRect">
            <a:avLst>
              <a:gd name="adj" fmla="val 10256"/>
            </a:avLst>
          </a:prstGeom>
          <a:solidFill>
            <a:srgbClr val="161B22"/>
          </a:solidFill>
          <a:ln w="9525">
            <a:solidFill>
              <a:srgbClr val="2E3845"/>
            </a:solidFill>
            <a:prstDash val="solid"/>
          </a:ln>
        </p:spPr>
      </p:sp>
      <p:sp>
        <p:nvSpPr>
          <p:cNvPr id="69" name="Text 67"/>
          <p:cNvSpPr txBox="1"/>
          <p:nvPr/>
        </p:nvSpPr>
        <p:spPr>
          <a:xfrm>
            <a:off x="3808476" y="5212080"/>
            <a:ext cx="1463040" cy="274320"/>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DeepSORT</a:t>
            </a:r>
            <a:endParaRPr lang="en-US" sz="1400" dirty="0"/>
          </a:p>
        </p:txBody>
      </p:sp>
      <p:sp>
        <p:nvSpPr>
          <p:cNvPr id="70" name="Text 68"/>
          <p:cNvSpPr txBox="1"/>
          <p:nvPr/>
        </p:nvSpPr>
        <p:spPr>
          <a:xfrm>
            <a:off x="3808476" y="550468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Wojke et al., ICIP</a:t>
            </a:r>
            <a:endParaRPr lang="en-US" sz="1050" dirty="0"/>
          </a:p>
        </p:txBody>
      </p:sp>
      <p:sp>
        <p:nvSpPr>
          <p:cNvPr id="71" name="Shape 69"/>
          <p:cNvSpPr/>
          <p:nvPr/>
        </p:nvSpPr>
        <p:spPr>
          <a:xfrm>
            <a:off x="9761220" y="3840480"/>
            <a:ext cx="0" cy="457200"/>
          </a:xfrm>
          <a:prstGeom prst="line">
            <a:avLst/>
          </a:prstGeom>
          <a:noFill/>
          <a:ln w="12700">
            <a:solidFill>
              <a:srgbClr val="5EC8E5"/>
            </a:solidFill>
            <a:prstDash val="solid"/>
          </a:ln>
        </p:spPr>
      </p:sp>
      <p:sp>
        <p:nvSpPr>
          <p:cNvPr id="72" name="Shape 70"/>
          <p:cNvSpPr/>
          <p:nvPr/>
        </p:nvSpPr>
        <p:spPr>
          <a:xfrm>
            <a:off x="9678924" y="3758184"/>
            <a:ext cx="164592" cy="164592"/>
          </a:xfrm>
          <a:prstGeom prst="ellipse">
            <a:avLst/>
          </a:prstGeom>
          <a:solidFill>
            <a:srgbClr val="5EC8E5"/>
          </a:solidFill>
          <a:ln/>
        </p:spPr>
      </p:sp>
      <p:sp>
        <p:nvSpPr>
          <p:cNvPr id="73" name="Shape 71"/>
          <p:cNvSpPr/>
          <p:nvPr/>
        </p:nvSpPr>
        <p:spPr>
          <a:xfrm>
            <a:off x="8938260" y="4297680"/>
            <a:ext cx="1645920" cy="713232"/>
          </a:xfrm>
          <a:prstGeom prst="roundRect">
            <a:avLst>
              <a:gd name="adj" fmla="val 10256"/>
            </a:avLst>
          </a:prstGeom>
          <a:solidFill>
            <a:srgbClr val="161B22"/>
          </a:solidFill>
          <a:ln w="22225">
            <a:solidFill>
              <a:srgbClr val="F2F4F7"/>
            </a:solidFill>
            <a:prstDash val="solid"/>
          </a:ln>
        </p:spPr>
      </p:sp>
      <p:sp>
        <p:nvSpPr>
          <p:cNvPr id="74" name="Text 72"/>
          <p:cNvSpPr txBox="1"/>
          <p:nvPr/>
        </p:nvSpPr>
        <p:spPr>
          <a:xfrm>
            <a:off x="9066276" y="4389120"/>
            <a:ext cx="1463040" cy="274320"/>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ByteTrack</a:t>
            </a:r>
            <a:endParaRPr lang="en-US" sz="1400" dirty="0"/>
          </a:p>
        </p:txBody>
      </p:sp>
      <p:sp>
        <p:nvSpPr>
          <p:cNvPr id="75" name="Text 73"/>
          <p:cNvSpPr txBox="1"/>
          <p:nvPr/>
        </p:nvSpPr>
        <p:spPr>
          <a:xfrm>
            <a:off x="9066276" y="4681728"/>
            <a:ext cx="1463040" cy="256032"/>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Zhang et al., ECCV</a:t>
            </a:r>
            <a:endParaRPr lang="en-US" sz="1050" dirty="0"/>
          </a:p>
        </p:txBody>
      </p:sp>
      <p:sp>
        <p:nvSpPr>
          <p:cNvPr id="76" name="Text 74"/>
          <p:cNvSpPr txBox="1"/>
          <p:nvPr/>
        </p:nvSpPr>
        <p:spPr>
          <a:xfrm>
            <a:off x="9715500" y="4151376"/>
            <a:ext cx="822960" cy="237744"/>
          </a:xfrm>
          <a:prstGeom prst="roundRect">
            <a:avLst>
              <a:gd name="adj" fmla="val 50000"/>
            </a:avLst>
          </a:prstGeom>
          <a:solidFill>
            <a:srgbClr val="F2F4F7"/>
          </a:solidFill>
          <a:ln/>
        </p:spPr>
        <p:txBody>
          <a:bodyPr wrap="square" lIns="0" tIns="0" rIns="0" bIns="0" rtlCol="0" anchor="ctr"/>
          <a:lstStyle/>
          <a:p>
            <a:pPr algn="ctr" indent="0" marL="0">
              <a:buNone/>
            </a:pPr>
            <a:r>
              <a:rPr lang="en-US" sz="900" b="1" dirty="0">
                <a:solidFill>
                  <a:srgbClr val="0E1116"/>
                </a:solidFill>
                <a:latin typeface="Calibri" pitchFamily="34" charset="0"/>
                <a:ea typeface="Calibri" pitchFamily="34" charset="-122"/>
                <a:cs typeface="Calibri" pitchFamily="34" charset="-120"/>
              </a:rPr>
              <a:t>USED HERE</a:t>
            </a:r>
            <a:endParaRPr lang="en-US" sz="900" dirty="0"/>
          </a:p>
        </p:txBody>
      </p:sp>
      <p:sp>
        <p:nvSpPr>
          <p:cNvPr id="77" name="Shape 75"/>
          <p:cNvSpPr/>
          <p:nvPr/>
        </p:nvSpPr>
        <p:spPr>
          <a:xfrm>
            <a:off x="8979408" y="4818888"/>
            <a:ext cx="146304" cy="146304"/>
          </a:xfrm>
          <a:prstGeom prst="ellipse">
            <a:avLst/>
          </a:prstGeom>
          <a:solidFill>
            <a:srgbClr val="7B8595"/>
          </a:solidFill>
          <a:ln/>
        </p:spPr>
      </p:sp>
      <p:sp>
        <p:nvSpPr>
          <p:cNvPr id="78" name="Text 76"/>
          <p:cNvSpPr txBox="1"/>
          <p:nvPr/>
        </p:nvSpPr>
        <p:spPr>
          <a:xfrm>
            <a:off x="9189720" y="4773168"/>
            <a:ext cx="2468880" cy="256032"/>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two-stage: propose regions, then classify</a:t>
            </a:r>
            <a:endParaRPr lang="en-US" sz="1100" dirty="0"/>
          </a:p>
        </p:txBody>
      </p:sp>
      <p:sp>
        <p:nvSpPr>
          <p:cNvPr id="79" name="Shape 77"/>
          <p:cNvSpPr/>
          <p:nvPr/>
        </p:nvSpPr>
        <p:spPr>
          <a:xfrm>
            <a:off x="8979408" y="5157216"/>
            <a:ext cx="146304" cy="146304"/>
          </a:xfrm>
          <a:prstGeom prst="ellipse">
            <a:avLst/>
          </a:prstGeom>
          <a:solidFill>
            <a:srgbClr val="5EC8E5"/>
          </a:solidFill>
          <a:ln/>
        </p:spPr>
      </p:sp>
      <p:sp>
        <p:nvSpPr>
          <p:cNvPr id="80" name="Text 78"/>
          <p:cNvSpPr txBox="1"/>
          <p:nvPr/>
        </p:nvSpPr>
        <p:spPr>
          <a:xfrm>
            <a:off x="9189720" y="5111496"/>
            <a:ext cx="2468880" cy="256032"/>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single-pass detection / tracking</a:t>
            </a:r>
            <a:endParaRPr lang="en-US" sz="1100" dirty="0"/>
          </a:p>
        </p:txBody>
      </p:sp>
      <p:sp>
        <p:nvSpPr>
          <p:cNvPr id="81" name="Text 79"/>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400" i="1" dirty="0">
                <a:solidFill>
                  <a:srgbClr val="F2F4F7"/>
                </a:solidFill>
                <a:latin typeface="Calibri" pitchFamily="34" charset="0"/>
                <a:ea typeface="Calibri" pitchFamily="34" charset="-122"/>
                <a:cs typeface="Calibri" pitchFamily="34" charset="-120"/>
              </a:rPr>
              <a:t>The trend: fewer stages, one forward pass, real-time on ordinary hardware. Those are the properties a live safety aid needs.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RESEARCH GAP</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F2F4F7"/>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The gap: the parts exist, safety-aware integration does not</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6</a:t>
            </a:r>
            <a:endParaRPr lang="en-US" sz="1000" dirty="0"/>
          </a:p>
        </p:txBody>
      </p:sp>
      <p:sp>
        <p:nvSpPr>
          <p:cNvPr id="15" name="Shape 13"/>
          <p:cNvSpPr/>
          <p:nvPr/>
        </p:nvSpPr>
        <p:spPr>
          <a:xfrm>
            <a:off x="548640" y="1600200"/>
            <a:ext cx="3511296" cy="3977640"/>
          </a:xfrm>
          <a:prstGeom prst="roundRect">
            <a:avLst>
              <a:gd name="adj" fmla="val 2604"/>
            </a:avLst>
          </a:prstGeom>
          <a:solidFill>
            <a:srgbClr val="161B22"/>
          </a:solidFill>
          <a:ln w="9525">
            <a:solidFill>
              <a:srgbClr val="2E3845"/>
            </a:solidFill>
            <a:prstDash val="solid"/>
          </a:ln>
        </p:spPr>
      </p:sp>
      <p:sp>
        <p:nvSpPr>
          <p:cNvPr id="16" name="Text 14"/>
          <p:cNvSpPr txBox="1"/>
          <p:nvPr/>
        </p:nvSpPr>
        <p:spPr>
          <a:xfrm>
            <a:off x="804672" y="1828800"/>
            <a:ext cx="1828800" cy="228600"/>
          </a:xfrm>
          <a:prstGeom prst="rect">
            <a:avLst/>
          </a:prstGeom>
          <a:noFill/>
          <a:ln/>
        </p:spPr>
        <p:txBody>
          <a:bodyPr wrap="square" lIns="0" tIns="0" rIns="0" bIns="0" rtlCol="0" anchor="t"/>
          <a:lstStyle/>
          <a:p>
            <a:pPr indent="0" marL="0">
              <a:buNone/>
            </a:pPr>
            <a:r>
              <a:rPr lang="en-US" sz="1100" b="1" spc="200" kern="0" dirty="0">
                <a:solidFill>
                  <a:srgbClr val="F5B43C"/>
                </a:solidFill>
                <a:latin typeface="Calibri" pitchFamily="34" charset="0"/>
                <a:ea typeface="Calibri" pitchFamily="34" charset="-122"/>
                <a:cs typeface="Calibri" pitchFamily="34" charset="-120"/>
              </a:rPr>
              <a:t>GAP 1</a:t>
            </a:r>
            <a:endParaRPr lang="en-US" sz="1100" dirty="0"/>
          </a:p>
        </p:txBody>
      </p:sp>
      <p:sp>
        <p:nvSpPr>
          <p:cNvPr id="17" name="Text 15"/>
          <p:cNvSpPr txBox="1"/>
          <p:nvPr/>
        </p:nvSpPr>
        <p:spPr>
          <a:xfrm>
            <a:off x="804672" y="2075688"/>
            <a:ext cx="3054096" cy="640080"/>
          </a:xfrm>
          <a:prstGeom prst="rect">
            <a:avLst/>
          </a:prstGeom>
          <a:noFill/>
          <a:ln/>
        </p:spPr>
        <p:txBody>
          <a:bodyPr wrap="square" lIns="0" tIns="0" rIns="0" bIns="0" rtlCol="0" anchor="t"/>
          <a:lstStyle/>
          <a:p>
            <a:pPr indent="0" marL="0">
              <a:buNone/>
            </a:pPr>
            <a:r>
              <a:rPr lang="en-US" sz="1700" b="1" dirty="0">
                <a:solidFill>
                  <a:srgbClr val="F2F4F7"/>
                </a:solidFill>
                <a:latin typeface="Calibri" pitchFamily="34" charset="0"/>
                <a:ea typeface="Calibri" pitchFamily="34" charset="-122"/>
                <a:cs typeface="Calibri" pitchFamily="34" charset="-120"/>
              </a:rPr>
              <a:t>Standard metrics are symmetric</a:t>
            </a:r>
            <a:endParaRPr lang="en-US" sz="1700" dirty="0"/>
          </a:p>
        </p:txBody>
      </p:sp>
      <p:sp>
        <p:nvSpPr>
          <p:cNvPr id="18" name="Text 16"/>
          <p:cNvSpPr txBox="1"/>
          <p:nvPr/>
        </p:nvSpPr>
        <p:spPr>
          <a:xfrm>
            <a:off x="804672" y="4526280"/>
            <a:ext cx="3054096" cy="914400"/>
          </a:xfrm>
          <a:prstGeom prst="rect">
            <a:avLst/>
          </a:prstGeom>
          <a:noFill/>
          <a:ln/>
        </p:spPr>
        <p:txBody>
          <a:bodyPr wrap="square" lIns="0" tIns="0" rIns="0" bIns="0" rtlCol="0" anchor="t"/>
          <a:lstStyle/>
          <a:p>
            <a:pPr indent="0" marL="0">
              <a:buNone/>
            </a:pPr>
            <a:r>
              <a:rPr lang="en-US" sz="1250" dirty="0">
                <a:solidFill>
                  <a:srgbClr val="A3ACBA"/>
                </a:solidFill>
                <a:latin typeface="Calibri" pitchFamily="34" charset="0"/>
                <a:ea typeface="Calibri" pitchFamily="34" charset="-122"/>
                <a:cs typeface="Calibri" pitchFamily="34" charset="-120"/>
              </a:rPr>
              <a:t>mAP scores a missed red light and a missed green light as the same error. For a pedestrian they are not remotely equivalent.</a:t>
            </a:r>
            <a:endParaRPr lang="en-US" sz="1250" dirty="0"/>
          </a:p>
        </p:txBody>
      </p:sp>
      <p:sp>
        <p:nvSpPr>
          <p:cNvPr id="19" name="Shape 17"/>
          <p:cNvSpPr/>
          <p:nvPr/>
        </p:nvSpPr>
        <p:spPr>
          <a:xfrm>
            <a:off x="4334256" y="1600200"/>
            <a:ext cx="3511296" cy="3977640"/>
          </a:xfrm>
          <a:prstGeom prst="roundRect">
            <a:avLst>
              <a:gd name="adj" fmla="val 2604"/>
            </a:avLst>
          </a:prstGeom>
          <a:solidFill>
            <a:srgbClr val="161B22"/>
          </a:solidFill>
          <a:ln w="9525">
            <a:solidFill>
              <a:srgbClr val="2E3845"/>
            </a:solidFill>
            <a:prstDash val="solid"/>
          </a:ln>
        </p:spPr>
      </p:sp>
      <p:sp>
        <p:nvSpPr>
          <p:cNvPr id="20" name="Text 18"/>
          <p:cNvSpPr txBox="1"/>
          <p:nvPr/>
        </p:nvSpPr>
        <p:spPr>
          <a:xfrm>
            <a:off x="4590288" y="1828800"/>
            <a:ext cx="1828800" cy="228600"/>
          </a:xfrm>
          <a:prstGeom prst="rect">
            <a:avLst/>
          </a:prstGeom>
          <a:noFill/>
          <a:ln/>
        </p:spPr>
        <p:txBody>
          <a:bodyPr wrap="square" lIns="0" tIns="0" rIns="0" bIns="0" rtlCol="0" anchor="t"/>
          <a:lstStyle/>
          <a:p>
            <a:pPr indent="0" marL="0">
              <a:buNone/>
            </a:pPr>
            <a:r>
              <a:rPr lang="en-US" sz="1100" b="1" spc="200" kern="0" dirty="0">
                <a:solidFill>
                  <a:srgbClr val="F5B43C"/>
                </a:solidFill>
                <a:latin typeface="Calibri" pitchFamily="34" charset="0"/>
                <a:ea typeface="Calibri" pitchFamily="34" charset="-122"/>
                <a:cs typeface="Calibri" pitchFamily="34" charset="-120"/>
              </a:rPr>
              <a:t>GAP 2</a:t>
            </a:r>
            <a:endParaRPr lang="en-US" sz="1100" dirty="0"/>
          </a:p>
        </p:txBody>
      </p:sp>
      <p:sp>
        <p:nvSpPr>
          <p:cNvPr id="21" name="Text 19"/>
          <p:cNvSpPr txBox="1"/>
          <p:nvPr/>
        </p:nvSpPr>
        <p:spPr>
          <a:xfrm>
            <a:off x="4590288" y="2075688"/>
            <a:ext cx="3054096" cy="640080"/>
          </a:xfrm>
          <a:prstGeom prst="rect">
            <a:avLst/>
          </a:prstGeom>
          <a:noFill/>
          <a:ln/>
        </p:spPr>
        <p:txBody>
          <a:bodyPr wrap="square" lIns="0" tIns="0" rIns="0" bIns="0" rtlCol="0" anchor="t"/>
          <a:lstStyle/>
          <a:p>
            <a:pPr indent="0" marL="0">
              <a:buNone/>
            </a:pPr>
            <a:r>
              <a:rPr lang="en-US" sz="1700" b="1" dirty="0">
                <a:solidFill>
                  <a:srgbClr val="F2F4F7"/>
                </a:solidFill>
                <a:latin typeface="Calibri" pitchFamily="34" charset="0"/>
                <a:ea typeface="Calibri" pitchFamily="34" charset="-122"/>
                <a:cs typeface="Calibri" pitchFamily="34" charset="-120"/>
              </a:rPr>
              <a:t>Monocular TTC assumes calibration</a:t>
            </a:r>
            <a:endParaRPr lang="en-US" sz="1700" dirty="0"/>
          </a:p>
        </p:txBody>
      </p:sp>
      <p:sp>
        <p:nvSpPr>
          <p:cNvPr id="22" name="Text 20"/>
          <p:cNvSpPr txBox="1"/>
          <p:nvPr/>
        </p:nvSpPr>
        <p:spPr>
          <a:xfrm>
            <a:off x="4590288" y="4526280"/>
            <a:ext cx="3054096" cy="914400"/>
          </a:xfrm>
          <a:prstGeom prst="rect">
            <a:avLst/>
          </a:prstGeom>
          <a:noFill/>
          <a:ln/>
        </p:spPr>
        <p:txBody>
          <a:bodyPr wrap="square" lIns="0" tIns="0" rIns="0" bIns="0" rtlCol="0" anchor="t"/>
          <a:lstStyle/>
          <a:p>
            <a:pPr indent="0" marL="0">
              <a:buNone/>
            </a:pPr>
            <a:r>
              <a:rPr lang="en-US" sz="1250" dirty="0">
                <a:solidFill>
                  <a:srgbClr val="A3ACBA"/>
                </a:solidFill>
                <a:latin typeface="Calibri" pitchFamily="34" charset="0"/>
                <a:ea typeface="Calibri" pitchFamily="34" charset="-122"/>
                <a:cs typeface="Calibri" pitchFamily="34" charset="-120"/>
              </a:rPr>
              <a:t>Typical methods need a calibrated camera or known object sizes. A deployable assistive system should need neither.</a:t>
            </a:r>
            <a:endParaRPr lang="en-US" sz="1250" dirty="0"/>
          </a:p>
        </p:txBody>
      </p:sp>
      <p:sp>
        <p:nvSpPr>
          <p:cNvPr id="23" name="Shape 21"/>
          <p:cNvSpPr/>
          <p:nvPr/>
        </p:nvSpPr>
        <p:spPr>
          <a:xfrm>
            <a:off x="8119872" y="1600200"/>
            <a:ext cx="3511296" cy="3977640"/>
          </a:xfrm>
          <a:prstGeom prst="roundRect">
            <a:avLst>
              <a:gd name="adj" fmla="val 2604"/>
            </a:avLst>
          </a:prstGeom>
          <a:solidFill>
            <a:srgbClr val="161B22"/>
          </a:solidFill>
          <a:ln w="9525">
            <a:solidFill>
              <a:srgbClr val="2E3845"/>
            </a:solidFill>
            <a:prstDash val="solid"/>
          </a:ln>
        </p:spPr>
      </p:sp>
      <p:sp>
        <p:nvSpPr>
          <p:cNvPr id="24" name="Text 22"/>
          <p:cNvSpPr txBox="1"/>
          <p:nvPr/>
        </p:nvSpPr>
        <p:spPr>
          <a:xfrm>
            <a:off x="8375904" y="1828800"/>
            <a:ext cx="1828800" cy="228600"/>
          </a:xfrm>
          <a:prstGeom prst="rect">
            <a:avLst/>
          </a:prstGeom>
          <a:noFill/>
          <a:ln/>
        </p:spPr>
        <p:txBody>
          <a:bodyPr wrap="square" lIns="0" tIns="0" rIns="0" bIns="0" rtlCol="0" anchor="t"/>
          <a:lstStyle/>
          <a:p>
            <a:pPr indent="0" marL="0">
              <a:buNone/>
            </a:pPr>
            <a:r>
              <a:rPr lang="en-US" sz="1100" b="1" spc="200" kern="0" dirty="0">
                <a:solidFill>
                  <a:srgbClr val="F5B43C"/>
                </a:solidFill>
                <a:latin typeface="Calibri" pitchFamily="34" charset="0"/>
                <a:ea typeface="Calibri" pitchFamily="34" charset="-122"/>
                <a:cs typeface="Calibri" pitchFamily="34" charset="-120"/>
              </a:rPr>
              <a:t>GAP 3</a:t>
            </a:r>
            <a:endParaRPr lang="en-US" sz="1100" dirty="0"/>
          </a:p>
        </p:txBody>
      </p:sp>
      <p:sp>
        <p:nvSpPr>
          <p:cNvPr id="25" name="Text 23"/>
          <p:cNvSpPr txBox="1"/>
          <p:nvPr/>
        </p:nvSpPr>
        <p:spPr>
          <a:xfrm>
            <a:off x="8375904" y="2075688"/>
            <a:ext cx="3054096" cy="640080"/>
          </a:xfrm>
          <a:prstGeom prst="rect">
            <a:avLst/>
          </a:prstGeom>
          <a:noFill/>
          <a:ln/>
        </p:spPr>
        <p:txBody>
          <a:bodyPr wrap="square" lIns="0" tIns="0" rIns="0" bIns="0" rtlCol="0" anchor="t"/>
          <a:lstStyle/>
          <a:p>
            <a:pPr indent="0" marL="0">
              <a:buNone/>
            </a:pPr>
            <a:r>
              <a:rPr lang="en-US" sz="1700" b="1" dirty="0">
                <a:solidFill>
                  <a:srgbClr val="F2F4F7"/>
                </a:solidFill>
                <a:latin typeface="Calibri" pitchFamily="34" charset="0"/>
                <a:ea typeface="Calibri" pitchFamily="34" charset="-122"/>
                <a:cs typeface="Calibri" pitchFamily="34" charset="-120"/>
              </a:rPr>
              <a:t>Absent or ambiguous evidence is ignored</a:t>
            </a:r>
            <a:endParaRPr lang="en-US" sz="1700" dirty="0"/>
          </a:p>
        </p:txBody>
      </p:sp>
      <p:sp>
        <p:nvSpPr>
          <p:cNvPr id="26" name="Text 24"/>
          <p:cNvSpPr txBox="1"/>
          <p:nvPr/>
        </p:nvSpPr>
        <p:spPr>
          <a:xfrm>
            <a:off x="8375904" y="4526280"/>
            <a:ext cx="3054096" cy="914400"/>
          </a:xfrm>
          <a:prstGeom prst="rect">
            <a:avLst/>
          </a:prstGeom>
          <a:noFill/>
          <a:ln/>
        </p:spPr>
        <p:txBody>
          <a:bodyPr wrap="square" lIns="0" tIns="0" rIns="0" bIns="0" rtlCol="0" anchor="t"/>
          <a:lstStyle/>
          <a:p>
            <a:pPr indent="0" marL="0">
              <a:buNone/>
            </a:pPr>
            <a:r>
              <a:rPr lang="en-US" sz="1250" dirty="0">
                <a:solidFill>
                  <a:srgbClr val="A3ACBA"/>
                </a:solidFill>
                <a:latin typeface="Calibri" pitchFamily="34" charset="0"/>
                <a:ea typeface="Calibri" pitchFamily="34" charset="-122"/>
                <a:cs typeface="Calibri" pitchFamily="34" charset="-120"/>
              </a:rPr>
              <a:t>Little work says what to do when nothing clear is seen. That is the common real-world case, and the dangerous one.</a:t>
            </a:r>
            <a:endParaRPr lang="en-US" sz="1250" dirty="0"/>
          </a:p>
        </p:txBody>
      </p:sp>
      <p:sp>
        <p:nvSpPr>
          <p:cNvPr id="27" name="Text 25"/>
          <p:cNvSpPr txBox="1"/>
          <p:nvPr/>
        </p:nvSpPr>
        <p:spPr>
          <a:xfrm>
            <a:off x="804672" y="2880360"/>
            <a:ext cx="1280160" cy="228600"/>
          </a:xfrm>
          <a:prstGeom prst="rect">
            <a:avLst/>
          </a:prstGeom>
          <a:noFill/>
          <a:ln/>
        </p:spPr>
        <p:txBody>
          <a:bodyPr wrap="square" lIns="0" tIns="0" rIns="0" bIns="0" rtlCol="0" anchor="t"/>
          <a:lstStyle/>
          <a:p>
            <a:pPr indent="0" marL="0">
              <a:buNone/>
            </a:pPr>
            <a:r>
              <a:rPr lang="en-US" sz="1100" b="1" dirty="0">
                <a:solidFill>
                  <a:srgbClr val="A3ACBA"/>
                </a:solidFill>
                <a:latin typeface="Calibri" pitchFamily="34" charset="0"/>
                <a:ea typeface="Calibri" pitchFamily="34" charset="-122"/>
                <a:cs typeface="Calibri" pitchFamily="34" charset="-120"/>
              </a:rPr>
              <a:t>mAP penalty</a:t>
            </a:r>
            <a:endParaRPr lang="en-US" sz="1100" dirty="0"/>
          </a:p>
        </p:txBody>
      </p:sp>
      <p:sp>
        <p:nvSpPr>
          <p:cNvPr id="28" name="Text 26"/>
          <p:cNvSpPr txBox="1"/>
          <p:nvPr/>
        </p:nvSpPr>
        <p:spPr>
          <a:xfrm>
            <a:off x="2240280" y="2880360"/>
            <a:ext cx="1645920" cy="228600"/>
          </a:xfrm>
          <a:prstGeom prst="rect">
            <a:avLst/>
          </a:prstGeom>
          <a:noFill/>
          <a:ln/>
        </p:spPr>
        <p:txBody>
          <a:bodyPr wrap="square" lIns="0" tIns="0" rIns="0" bIns="0" rtlCol="0" anchor="t"/>
          <a:lstStyle/>
          <a:p>
            <a:pPr indent="0" marL="0">
              <a:buNone/>
            </a:pPr>
            <a:r>
              <a:rPr lang="en-US" sz="1100" b="1" dirty="0">
                <a:solidFill>
                  <a:srgbClr val="A3ACBA"/>
                </a:solidFill>
                <a:latin typeface="Calibri" pitchFamily="34" charset="0"/>
                <a:ea typeface="Calibri" pitchFamily="34" charset="-122"/>
                <a:cs typeface="Calibri" pitchFamily="34" charset="-120"/>
              </a:rPr>
              <a:t>Real consequence</a:t>
            </a:r>
            <a:endParaRPr lang="en-US" sz="1100" dirty="0"/>
          </a:p>
        </p:txBody>
      </p:sp>
      <p:sp>
        <p:nvSpPr>
          <p:cNvPr id="29" name="Text 27"/>
          <p:cNvSpPr txBox="1"/>
          <p:nvPr/>
        </p:nvSpPr>
        <p:spPr>
          <a:xfrm>
            <a:off x="804672" y="3227832"/>
            <a:ext cx="1188720" cy="384048"/>
          </a:xfrm>
          <a:prstGeom prst="rect">
            <a:avLst/>
          </a:prstGeom>
          <a:solidFill>
            <a:srgbClr val="4A5463"/>
          </a:solidFill>
          <a:ln/>
        </p:spPr>
        <p:txBody>
          <a:bodyPr wrap="square" lIns="50800" tIns="50800" rIns="50800" bIns="50800" rtlCol="0" anchor="ctr"/>
          <a:lstStyle/>
          <a:p>
            <a:pPr algn="ctr" indent="0" marL="0">
              <a:buNone/>
            </a:pPr>
            <a:r>
              <a:rPr lang="en-US" sz="1100" dirty="0">
                <a:solidFill>
                  <a:srgbClr val="F2F4F7"/>
                </a:solidFill>
                <a:latin typeface="Calibri" pitchFamily="34" charset="0"/>
                <a:ea typeface="Calibri" pitchFamily="34" charset="-122"/>
                <a:cs typeface="Calibri" pitchFamily="34" charset="-120"/>
              </a:rPr>
              <a:t>missed red</a:t>
            </a:r>
            <a:endParaRPr lang="en-US" sz="1100" dirty="0"/>
          </a:p>
        </p:txBody>
      </p:sp>
      <p:sp>
        <p:nvSpPr>
          <p:cNvPr id="30" name="Text 28"/>
          <p:cNvSpPr txBox="1"/>
          <p:nvPr/>
        </p:nvSpPr>
        <p:spPr>
          <a:xfrm>
            <a:off x="804672" y="3749040"/>
            <a:ext cx="1188720" cy="384048"/>
          </a:xfrm>
          <a:prstGeom prst="rect">
            <a:avLst/>
          </a:prstGeom>
          <a:solidFill>
            <a:srgbClr val="4A5463"/>
          </a:solidFill>
          <a:ln/>
        </p:spPr>
        <p:txBody>
          <a:bodyPr wrap="square" lIns="50800" tIns="50800" rIns="50800" bIns="50800" rtlCol="0" anchor="ctr"/>
          <a:lstStyle/>
          <a:p>
            <a:pPr algn="ctr" indent="0" marL="0">
              <a:buNone/>
            </a:pPr>
            <a:r>
              <a:rPr lang="en-US" sz="1100" dirty="0">
                <a:solidFill>
                  <a:srgbClr val="F2F4F7"/>
                </a:solidFill>
                <a:latin typeface="Calibri" pitchFamily="34" charset="0"/>
                <a:ea typeface="Calibri" pitchFamily="34" charset="-122"/>
                <a:cs typeface="Calibri" pitchFamily="34" charset="-120"/>
              </a:rPr>
              <a:t>missed green</a:t>
            </a:r>
            <a:endParaRPr lang="en-US" sz="1100" dirty="0"/>
          </a:p>
        </p:txBody>
      </p:sp>
      <p:sp>
        <p:nvSpPr>
          <p:cNvPr id="31" name="Text 29"/>
          <p:cNvSpPr txBox="1"/>
          <p:nvPr/>
        </p:nvSpPr>
        <p:spPr>
          <a:xfrm>
            <a:off x="2240280" y="3227832"/>
            <a:ext cx="1572768" cy="384048"/>
          </a:xfrm>
          <a:prstGeom prst="rect">
            <a:avLst/>
          </a:prstGeom>
          <a:solidFill>
            <a:srgbClr val="F2545B"/>
          </a:solidFill>
          <a:ln/>
        </p:spPr>
        <p:txBody>
          <a:bodyPr wrap="square" lIns="50800" tIns="50800" rIns="50800" bIns="508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walks into traffic</a:t>
            </a:r>
            <a:endParaRPr lang="en-US" sz="1100" dirty="0"/>
          </a:p>
        </p:txBody>
      </p:sp>
      <p:sp>
        <p:nvSpPr>
          <p:cNvPr id="32" name="Shape 30"/>
          <p:cNvSpPr/>
          <p:nvPr/>
        </p:nvSpPr>
        <p:spPr>
          <a:xfrm>
            <a:off x="2240280" y="3749040"/>
            <a:ext cx="411480" cy="384048"/>
          </a:xfrm>
          <a:prstGeom prst="rect">
            <a:avLst/>
          </a:prstGeom>
          <a:solidFill>
            <a:srgbClr val="F5B43C"/>
          </a:solidFill>
          <a:ln/>
        </p:spPr>
      </p:sp>
      <p:sp>
        <p:nvSpPr>
          <p:cNvPr id="33" name="Text 31"/>
          <p:cNvSpPr txBox="1"/>
          <p:nvPr/>
        </p:nvSpPr>
        <p:spPr>
          <a:xfrm>
            <a:off x="2743200" y="3749040"/>
            <a:ext cx="1097280" cy="384048"/>
          </a:xfrm>
          <a:prstGeom prst="rect">
            <a:avLst/>
          </a:prstGeom>
          <a:noFill/>
          <a:ln/>
        </p:spPr>
        <p:txBody>
          <a:bodyPr wrap="square" lIns="0" tIns="0" rIns="0" bIns="0" rtlCol="0" anchor="ctr"/>
          <a:lstStyle/>
          <a:p>
            <a:pPr indent="0" marL="0">
              <a:buNone/>
            </a:pPr>
            <a:r>
              <a:rPr lang="en-US" sz="1100" b="1" dirty="0">
                <a:solidFill>
                  <a:srgbClr val="F5B43C"/>
                </a:solidFill>
                <a:latin typeface="Calibri" pitchFamily="34" charset="0"/>
                <a:ea typeface="Calibri" pitchFamily="34" charset="-122"/>
                <a:cs typeface="Calibri" pitchFamily="34" charset="-120"/>
              </a:rPr>
              <a:t>waits longer</a:t>
            </a:r>
            <a:endParaRPr lang="en-US" sz="1100" dirty="0"/>
          </a:p>
        </p:txBody>
      </p:sp>
      <p:sp>
        <p:nvSpPr>
          <p:cNvPr id="34" name="Text 32"/>
          <p:cNvSpPr txBox="1"/>
          <p:nvPr/>
        </p:nvSpPr>
        <p:spPr>
          <a:xfrm>
            <a:off x="804672" y="4178808"/>
            <a:ext cx="1188720" cy="274320"/>
          </a:xfrm>
          <a:prstGeom prst="rect">
            <a:avLst/>
          </a:prstGeom>
          <a:noFill/>
          <a:ln/>
        </p:spPr>
        <p:txBody>
          <a:bodyPr wrap="square" lIns="0" tIns="0" rIns="0" bIns="0" rtlCol="0" anchor="t"/>
          <a:lstStyle/>
          <a:p>
            <a:pPr algn="ctr" indent="0" marL="0">
              <a:buNone/>
            </a:pPr>
            <a:r>
              <a:rPr lang="en-US" sz="1400" b="1" dirty="0">
                <a:solidFill>
                  <a:srgbClr val="A3ACBA"/>
                </a:solidFill>
                <a:latin typeface="Calibri" pitchFamily="34" charset="0"/>
                <a:ea typeface="Calibri" pitchFamily="34" charset="-122"/>
                <a:cs typeface="Calibri" pitchFamily="34" charset="-120"/>
              </a:rPr>
              <a:t>=</a:t>
            </a:r>
            <a:endParaRPr lang="en-US" sz="1400" dirty="0"/>
          </a:p>
        </p:txBody>
      </p:sp>
      <p:sp>
        <p:nvSpPr>
          <p:cNvPr id="35" name="Text 33"/>
          <p:cNvSpPr txBox="1"/>
          <p:nvPr/>
        </p:nvSpPr>
        <p:spPr>
          <a:xfrm>
            <a:off x="2240280" y="4178808"/>
            <a:ext cx="1572768" cy="274320"/>
          </a:xfrm>
          <a:prstGeom prst="rect">
            <a:avLst/>
          </a:prstGeom>
          <a:noFill/>
          <a:ln/>
        </p:spPr>
        <p:txBody>
          <a:bodyPr wrap="square" lIns="0" tIns="0" rIns="0" bIns="0" rtlCol="0" anchor="t"/>
          <a:lstStyle/>
          <a:p>
            <a:pPr algn="ctr" indent="0" marL="0">
              <a:buNone/>
            </a:pPr>
            <a:r>
              <a:rPr lang="en-US" sz="1400" b="1" dirty="0">
                <a:solidFill>
                  <a:srgbClr val="F2545B"/>
                </a:solidFill>
                <a:latin typeface="Calibri" pitchFamily="34" charset="0"/>
                <a:ea typeface="Calibri" pitchFamily="34" charset="-122"/>
                <a:cs typeface="Calibri" pitchFamily="34" charset="-120"/>
              </a:rPr>
              <a:t>≠</a:t>
            </a:r>
            <a:endParaRPr lang="en-US" sz="1400" dirty="0"/>
          </a:p>
        </p:txBody>
      </p:sp>
      <p:pic>
        <p:nvPicPr>
          <p:cNvPr id="36" name="Image 0" descr="preencoded.png">    </p:cNvPr>
          <p:cNvPicPr>
            <a:picLocks noChangeAspect="1"/>
          </p:cNvPicPr>
          <p:nvPr/>
        </p:nvPicPr>
        <p:blipFill>
          <a:blip r:embed="rId1"/>
          <a:stretch>
            <a:fillRect/>
          </a:stretch>
        </p:blipFill>
        <p:spPr>
          <a:xfrm>
            <a:off x="4608576" y="2926080"/>
            <a:ext cx="201168" cy="201168"/>
          </a:xfrm>
          <a:prstGeom prst="rect">
            <a:avLst/>
          </a:prstGeom>
        </p:spPr>
      </p:pic>
      <p:sp>
        <p:nvSpPr>
          <p:cNvPr id="37" name="Text 34"/>
          <p:cNvSpPr txBox="1"/>
          <p:nvPr/>
        </p:nvSpPr>
        <p:spPr>
          <a:xfrm>
            <a:off x="4928616" y="2880360"/>
            <a:ext cx="2651760" cy="292608"/>
          </a:xfrm>
          <a:prstGeom prst="rect">
            <a:avLst/>
          </a:prstGeom>
          <a:noFill/>
          <a:ln/>
        </p:spPr>
        <p:txBody>
          <a:bodyPr wrap="square" lIns="0" tIns="0" rIns="0" bIns="0" rtlCol="0" anchor="t"/>
          <a:lstStyle/>
          <a:p>
            <a:pPr indent="0" marL="0">
              <a:buNone/>
            </a:pPr>
            <a:r>
              <a:rPr lang="en-US" sz="1300" strike="sngStrike" dirty="0">
                <a:solidFill>
                  <a:srgbClr val="A3ACBA"/>
                </a:solidFill>
                <a:latin typeface="Calibri" pitchFamily="34" charset="0"/>
                <a:ea typeface="Calibri" pitchFamily="34" charset="-122"/>
                <a:cs typeface="Calibri" pitchFamily="34" charset="-120"/>
              </a:rPr>
              <a:t>camera calibration</a:t>
            </a:r>
            <a:endParaRPr lang="en-US" sz="1300" dirty="0"/>
          </a:p>
        </p:txBody>
      </p:sp>
      <p:pic>
        <p:nvPicPr>
          <p:cNvPr id="38" name="Image 1" descr="preencoded.png">    </p:cNvPr>
          <p:cNvPicPr>
            <a:picLocks noChangeAspect="1"/>
          </p:cNvPicPr>
          <p:nvPr/>
        </p:nvPicPr>
        <p:blipFill>
          <a:blip r:embed="rId2"/>
          <a:stretch>
            <a:fillRect/>
          </a:stretch>
        </p:blipFill>
        <p:spPr>
          <a:xfrm>
            <a:off x="4608576" y="3310128"/>
            <a:ext cx="201168" cy="201168"/>
          </a:xfrm>
          <a:prstGeom prst="rect">
            <a:avLst/>
          </a:prstGeom>
        </p:spPr>
      </p:pic>
      <p:sp>
        <p:nvSpPr>
          <p:cNvPr id="39" name="Text 35"/>
          <p:cNvSpPr txBox="1"/>
          <p:nvPr/>
        </p:nvSpPr>
        <p:spPr>
          <a:xfrm>
            <a:off x="4928616" y="3264408"/>
            <a:ext cx="2651760" cy="292608"/>
          </a:xfrm>
          <a:prstGeom prst="rect">
            <a:avLst/>
          </a:prstGeom>
          <a:noFill/>
          <a:ln/>
        </p:spPr>
        <p:txBody>
          <a:bodyPr wrap="square" lIns="0" tIns="0" rIns="0" bIns="0" rtlCol="0" anchor="t"/>
          <a:lstStyle/>
          <a:p>
            <a:pPr indent="0" marL="0">
              <a:buNone/>
            </a:pPr>
            <a:r>
              <a:rPr lang="en-US" sz="1300" strike="sngStrike" dirty="0">
                <a:solidFill>
                  <a:srgbClr val="A3ACBA"/>
                </a:solidFill>
                <a:latin typeface="Calibri" pitchFamily="34" charset="0"/>
                <a:ea typeface="Calibri" pitchFamily="34" charset="-122"/>
                <a:cs typeface="Calibri" pitchFamily="34" charset="-120"/>
              </a:rPr>
              <a:t>known vehicle size</a:t>
            </a:r>
            <a:endParaRPr lang="en-US" sz="1300" dirty="0"/>
          </a:p>
        </p:txBody>
      </p:sp>
      <p:pic>
        <p:nvPicPr>
          <p:cNvPr id="40" name="Image 2" descr="preencoded.png">    </p:cNvPr>
          <p:cNvPicPr>
            <a:picLocks noChangeAspect="1"/>
          </p:cNvPicPr>
          <p:nvPr/>
        </p:nvPicPr>
        <p:blipFill>
          <a:blip r:embed="rId3"/>
          <a:stretch>
            <a:fillRect/>
          </a:stretch>
        </p:blipFill>
        <p:spPr>
          <a:xfrm>
            <a:off x="4608576" y="3694176"/>
            <a:ext cx="201168" cy="201168"/>
          </a:xfrm>
          <a:prstGeom prst="rect">
            <a:avLst/>
          </a:prstGeom>
        </p:spPr>
      </p:pic>
      <p:sp>
        <p:nvSpPr>
          <p:cNvPr id="41" name="Text 36"/>
          <p:cNvSpPr txBox="1"/>
          <p:nvPr/>
        </p:nvSpPr>
        <p:spPr>
          <a:xfrm>
            <a:off x="4928616" y="3648456"/>
            <a:ext cx="2651760" cy="292608"/>
          </a:xfrm>
          <a:prstGeom prst="rect">
            <a:avLst/>
          </a:prstGeom>
          <a:noFill/>
          <a:ln/>
        </p:spPr>
        <p:txBody>
          <a:bodyPr wrap="square" lIns="0" tIns="0" rIns="0" bIns="0" rtlCol="0" anchor="t"/>
          <a:lstStyle/>
          <a:p>
            <a:pPr indent="0" marL="0">
              <a:buNone/>
            </a:pPr>
            <a:r>
              <a:rPr lang="en-US" sz="1300" strike="sngStrike" dirty="0">
                <a:solidFill>
                  <a:srgbClr val="A3ACBA"/>
                </a:solidFill>
                <a:latin typeface="Calibri" pitchFamily="34" charset="0"/>
                <a:ea typeface="Calibri" pitchFamily="34" charset="-122"/>
                <a:cs typeface="Calibri" pitchFamily="34" charset="-120"/>
              </a:rPr>
              <a:t>stereo or depth sensor</a:t>
            </a:r>
            <a:endParaRPr lang="en-US" sz="1300" dirty="0"/>
          </a:p>
        </p:txBody>
      </p:sp>
      <p:sp>
        <p:nvSpPr>
          <p:cNvPr id="42" name="Shape 37"/>
          <p:cNvSpPr/>
          <p:nvPr/>
        </p:nvSpPr>
        <p:spPr>
          <a:xfrm>
            <a:off x="4562856" y="4114800"/>
            <a:ext cx="3054096" cy="411480"/>
          </a:xfrm>
          <a:prstGeom prst="roundRect">
            <a:avLst>
              <a:gd name="adj" fmla="val 17778"/>
            </a:avLst>
          </a:prstGeom>
          <a:solidFill>
            <a:srgbClr val="3DD68C">
              <a:alpha val="15000"/>
            </a:srgbClr>
          </a:solidFill>
          <a:ln w="12700">
            <a:solidFill>
              <a:srgbClr val="3DD68C"/>
            </a:solidFill>
            <a:prstDash val="solid"/>
          </a:ln>
        </p:spPr>
      </p:sp>
      <p:pic>
        <p:nvPicPr>
          <p:cNvPr id="43" name="Image 3" descr="preencoded.png">    </p:cNvPr>
          <p:cNvPicPr>
            <a:picLocks noChangeAspect="1"/>
          </p:cNvPicPr>
          <p:nvPr/>
        </p:nvPicPr>
        <p:blipFill>
          <a:blip r:embed="rId4"/>
          <a:stretch>
            <a:fillRect/>
          </a:stretch>
        </p:blipFill>
        <p:spPr>
          <a:xfrm>
            <a:off x="4681728" y="4215384"/>
            <a:ext cx="201168" cy="201168"/>
          </a:xfrm>
          <a:prstGeom prst="rect">
            <a:avLst/>
          </a:prstGeom>
        </p:spPr>
      </p:pic>
      <p:sp>
        <p:nvSpPr>
          <p:cNvPr id="44" name="Text 38"/>
          <p:cNvSpPr txBox="1"/>
          <p:nvPr/>
        </p:nvSpPr>
        <p:spPr>
          <a:xfrm>
            <a:off x="4992624" y="4114800"/>
            <a:ext cx="2560320" cy="411480"/>
          </a:xfrm>
          <a:prstGeom prst="rect">
            <a:avLst/>
          </a:prstGeom>
          <a:noFill/>
          <a:ln/>
        </p:spPr>
        <p:txBody>
          <a:bodyPr wrap="square" lIns="0" tIns="0" rIns="0" bIns="0" rtlCol="0" anchor="ctr"/>
          <a:lstStyle/>
          <a:p>
            <a:pPr indent="0" marL="0">
              <a:buNone/>
            </a:pPr>
            <a:r>
              <a:rPr lang="en-US" sz="1300" b="1" dirty="0">
                <a:solidFill>
                  <a:srgbClr val="3DD68C"/>
                </a:solidFill>
                <a:latin typeface="Calibri" pitchFamily="34" charset="0"/>
                <a:ea typeface="Calibri" pitchFamily="34" charset="-122"/>
                <a:cs typeface="Calibri" pitchFamily="34" charset="-120"/>
              </a:rPr>
              <a:t>Needed here: box width over time</a:t>
            </a:r>
            <a:endParaRPr lang="en-US" sz="1300" dirty="0"/>
          </a:p>
        </p:txBody>
      </p:sp>
      <p:sp>
        <p:nvSpPr>
          <p:cNvPr id="45" name="Text 39"/>
          <p:cNvSpPr txBox="1"/>
          <p:nvPr/>
        </p:nvSpPr>
        <p:spPr>
          <a:xfrm>
            <a:off x="8897112" y="2880360"/>
            <a:ext cx="2011680" cy="228600"/>
          </a:xfrm>
          <a:prstGeom prst="rect">
            <a:avLst/>
          </a:prstGeom>
          <a:noFill/>
          <a:ln/>
        </p:spPr>
        <p:txBody>
          <a:bodyPr wrap="square" lIns="0" tIns="0" rIns="0" bIns="0" rtlCol="0" anchor="t"/>
          <a:lstStyle/>
          <a:p>
            <a:pPr algn="ctr" indent="0" marL="0">
              <a:buNone/>
            </a:pPr>
            <a:r>
              <a:rPr lang="en-US" sz="1100" b="1" dirty="0">
                <a:solidFill>
                  <a:srgbClr val="A3ACBA"/>
                </a:solidFill>
                <a:latin typeface="Calibri" pitchFamily="34" charset="0"/>
                <a:ea typeface="Calibri" pitchFamily="34" charset="-122"/>
                <a:cs typeface="Calibri" pitchFamily="34" charset="-120"/>
              </a:rPr>
              <a:t>most real frames</a:t>
            </a:r>
            <a:endParaRPr lang="en-US" sz="1100" dirty="0"/>
          </a:p>
        </p:txBody>
      </p:sp>
      <p:sp>
        <p:nvSpPr>
          <p:cNvPr id="46" name="Shape 40"/>
          <p:cNvSpPr/>
          <p:nvPr/>
        </p:nvSpPr>
        <p:spPr>
          <a:xfrm>
            <a:off x="8942832" y="3154680"/>
            <a:ext cx="1920240" cy="0"/>
          </a:xfrm>
          <a:prstGeom prst="line">
            <a:avLst/>
          </a:prstGeom>
          <a:noFill/>
          <a:ln w="12700">
            <a:solidFill>
              <a:srgbClr val="A3ACBA"/>
            </a:solidFill>
            <a:prstDash val="solid"/>
          </a:ln>
        </p:spPr>
      </p:sp>
      <p:sp>
        <p:nvSpPr>
          <p:cNvPr id="47" name="Shape 41"/>
          <p:cNvSpPr/>
          <p:nvPr/>
        </p:nvSpPr>
        <p:spPr>
          <a:xfrm>
            <a:off x="8375904" y="3264408"/>
            <a:ext cx="548640" cy="384048"/>
          </a:xfrm>
          <a:prstGeom prst="rect">
            <a:avLst/>
          </a:prstGeom>
          <a:solidFill>
            <a:srgbClr val="F2545B"/>
          </a:solidFill>
          <a:ln/>
        </p:spPr>
      </p:sp>
      <p:sp>
        <p:nvSpPr>
          <p:cNvPr id="48" name="Text 42"/>
          <p:cNvSpPr txBox="1"/>
          <p:nvPr/>
        </p:nvSpPr>
        <p:spPr>
          <a:xfrm>
            <a:off x="8942832" y="3264408"/>
            <a:ext cx="1920240" cy="384048"/>
          </a:xfrm>
          <a:prstGeom prst="rect">
            <a:avLst/>
          </a:prstGeom>
          <a:solidFill>
            <a:srgbClr val="4A5463"/>
          </a:solidFill>
          <a:ln/>
        </p:spPr>
        <p:txBody>
          <a:bodyPr wrap="square" lIns="50800" tIns="50800" rIns="50800" bIns="50800" rtlCol="0" anchor="ctr"/>
          <a:lstStyle/>
          <a:p>
            <a:pPr algn="ctr" indent="0" marL="0">
              <a:buNone/>
            </a:pPr>
            <a:r>
              <a:rPr lang="en-US" sz="1100" dirty="0">
                <a:solidFill>
                  <a:srgbClr val="F2F4F7"/>
                </a:solidFill>
                <a:latin typeface="Calibri" pitchFamily="34" charset="0"/>
                <a:ea typeface="Calibri" pitchFamily="34" charset="-122"/>
                <a:cs typeface="Calibri" pitchFamily="34" charset="-120"/>
              </a:rPr>
              <a:t>ambiguous / nothing seen</a:t>
            </a:r>
            <a:endParaRPr lang="en-US" sz="1100" dirty="0"/>
          </a:p>
        </p:txBody>
      </p:sp>
      <p:sp>
        <p:nvSpPr>
          <p:cNvPr id="49" name="Shape 43"/>
          <p:cNvSpPr/>
          <p:nvPr/>
        </p:nvSpPr>
        <p:spPr>
          <a:xfrm>
            <a:off x="10881360" y="3264408"/>
            <a:ext cx="502920" cy="384048"/>
          </a:xfrm>
          <a:prstGeom prst="rect">
            <a:avLst/>
          </a:prstGeom>
          <a:solidFill>
            <a:srgbClr val="3DD68C"/>
          </a:solidFill>
          <a:ln/>
        </p:spPr>
      </p:sp>
      <p:sp>
        <p:nvSpPr>
          <p:cNvPr id="50" name="Text 44"/>
          <p:cNvSpPr txBox="1"/>
          <p:nvPr/>
        </p:nvSpPr>
        <p:spPr>
          <a:xfrm>
            <a:off x="8375904" y="3685032"/>
            <a:ext cx="640080" cy="228600"/>
          </a:xfrm>
          <a:prstGeom prst="rect">
            <a:avLst/>
          </a:prstGeom>
          <a:noFill/>
          <a:ln/>
        </p:spPr>
        <p:txBody>
          <a:bodyPr wrap="square" lIns="0" tIns="0" rIns="0" bIns="0" rtlCol="0" anchor="t"/>
          <a:lstStyle/>
          <a:p>
            <a:pPr indent="0" marL="0">
              <a:buNone/>
            </a:pPr>
            <a:r>
              <a:rPr lang="en-US" sz="1000" dirty="0">
                <a:solidFill>
                  <a:srgbClr val="F2545B"/>
                </a:solidFill>
                <a:latin typeface="Calibri" pitchFamily="34" charset="0"/>
                <a:ea typeface="Calibri" pitchFamily="34" charset="-122"/>
                <a:cs typeface="Calibri" pitchFamily="34" charset="-120"/>
              </a:rPr>
              <a:t>danger</a:t>
            </a:r>
            <a:endParaRPr lang="en-US" sz="1000" dirty="0"/>
          </a:p>
        </p:txBody>
      </p:sp>
      <p:sp>
        <p:nvSpPr>
          <p:cNvPr id="51" name="Text 45"/>
          <p:cNvSpPr txBox="1"/>
          <p:nvPr/>
        </p:nvSpPr>
        <p:spPr>
          <a:xfrm>
            <a:off x="10881360" y="3685032"/>
            <a:ext cx="548640" cy="228600"/>
          </a:xfrm>
          <a:prstGeom prst="rect">
            <a:avLst/>
          </a:prstGeom>
          <a:noFill/>
          <a:ln/>
        </p:spPr>
        <p:txBody>
          <a:bodyPr wrap="square" lIns="0" tIns="0" rIns="0" bIns="0" rtlCol="0" anchor="t"/>
          <a:lstStyle/>
          <a:p>
            <a:pPr indent="0" marL="0">
              <a:buNone/>
            </a:pPr>
            <a:r>
              <a:rPr lang="en-US" sz="1000" dirty="0">
                <a:solidFill>
                  <a:srgbClr val="3DD68C"/>
                </a:solidFill>
                <a:latin typeface="Calibri" pitchFamily="34" charset="0"/>
                <a:ea typeface="Calibri" pitchFamily="34" charset="-122"/>
                <a:cs typeface="Calibri" pitchFamily="34" charset="-120"/>
              </a:rPr>
              <a:t>safe</a:t>
            </a:r>
            <a:endParaRPr lang="en-US" sz="1000" dirty="0"/>
          </a:p>
        </p:txBody>
      </p:sp>
      <p:sp>
        <p:nvSpPr>
          <p:cNvPr id="52" name="Shape 46"/>
          <p:cNvSpPr/>
          <p:nvPr/>
        </p:nvSpPr>
        <p:spPr>
          <a:xfrm>
            <a:off x="9902952" y="3685032"/>
            <a:ext cx="0" cy="384048"/>
          </a:xfrm>
          <a:prstGeom prst="line">
            <a:avLst/>
          </a:prstGeom>
          <a:noFill/>
          <a:ln w="25400">
            <a:solidFill>
              <a:srgbClr val="F2545B"/>
            </a:solidFill>
            <a:prstDash val="solid"/>
            <a:tailEnd type="triangle"/>
          </a:ln>
        </p:spPr>
      </p:sp>
      <p:sp>
        <p:nvSpPr>
          <p:cNvPr id="53" name="Text 47"/>
          <p:cNvSpPr txBox="1"/>
          <p:nvPr/>
        </p:nvSpPr>
        <p:spPr>
          <a:xfrm>
            <a:off x="8942832" y="4114800"/>
            <a:ext cx="1920240" cy="384048"/>
          </a:xfrm>
          <a:prstGeom prst="roundRect">
            <a:avLst>
              <a:gd name="adj" fmla="val 50000"/>
            </a:avLst>
          </a:prstGeom>
          <a:solidFill>
            <a:srgbClr val="F2545B"/>
          </a:solidFill>
          <a:ln/>
        </p:spPr>
        <p:txBody>
          <a:bodyPr wrap="square" lIns="50800" tIns="50800" rIns="50800" bIns="508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this project: → WAIT</a:t>
            </a:r>
            <a:endParaRPr lang="en-US" sz="1200" dirty="0"/>
          </a:p>
        </p:txBody>
      </p:sp>
      <p:sp>
        <p:nvSpPr>
          <p:cNvPr id="54" name="Text 48"/>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700" b="1" dirty="0">
                <a:solidFill>
                  <a:srgbClr val="F2F4F7"/>
                </a:solidFill>
                <a:latin typeface="Calibri" pitchFamily="34" charset="0"/>
                <a:ea typeface="Calibri" pitchFamily="34" charset="-122"/>
                <a:cs typeface="Calibri" pitchFamily="34" charset="-120"/>
              </a:rPr>
              <a:t>This project: </a:t>
            </a:r>
            <a:pPr indent="0" marL="0">
              <a:buNone/>
            </a:pPr>
            <a:r>
              <a:rPr lang="en-US" sz="1700" dirty="0">
                <a:solidFill>
                  <a:srgbClr val="F2F4F7"/>
                </a:solidFill>
                <a:latin typeface="Calibri" pitchFamily="34" charset="0"/>
                <a:ea typeface="Calibri" pitchFamily="34" charset="-122"/>
                <a:cs typeface="Calibri" pitchFamily="34" charset="-120"/>
              </a:rPr>
              <a:t>one integrated pipeline in which every uncertain case resolves to </a:t>
            </a:r>
            <a:pPr indent="0" marL="0">
              <a:buNone/>
            </a:pPr>
            <a:r>
              <a:rPr lang="en-US" sz="1700" b="1" dirty="0">
                <a:solidFill>
                  <a:srgbClr val="F2545B"/>
                </a:solidFill>
                <a:latin typeface="Calibri" pitchFamily="34" charset="0"/>
                <a:ea typeface="Calibri" pitchFamily="34" charset="-122"/>
                <a:cs typeface="Calibri" pitchFamily="34" charset="-120"/>
              </a:rPr>
              <a:t>WAIT</a:t>
            </a:r>
            <a:pPr indent="0" marL="0">
              <a:buNone/>
            </a:pPr>
            <a:r>
              <a:rPr lang="en-US" sz="1700" dirty="0">
                <a:solidFill>
                  <a:srgbClr val="F2F4F7"/>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Detection: YOLOv8 finds every object in one pass</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7</a:t>
            </a:r>
            <a:endParaRPr lang="en-US" sz="1000" dirty="0"/>
          </a:p>
        </p:txBody>
      </p:sp>
      <p:sp>
        <p:nvSpPr>
          <p:cNvPr id="15" name="Text 13"/>
          <p:cNvSpPr txBox="1"/>
          <p:nvPr/>
        </p:nvSpPr>
        <p:spPr>
          <a:xfrm>
            <a:off x="548640" y="1600200"/>
            <a:ext cx="5486400" cy="256032"/>
          </a:xfrm>
          <a:prstGeom prst="rect">
            <a:avLst/>
          </a:prstGeom>
          <a:noFill/>
          <a:ln/>
        </p:spPr>
        <p:txBody>
          <a:bodyPr wrap="square" lIns="0" tIns="0" rIns="0" bIns="0" rtlCol="0" anchor="t"/>
          <a:lstStyle/>
          <a:p>
            <a:pPr indent="0" marL="0">
              <a:buNone/>
            </a:pPr>
            <a:r>
              <a:rPr lang="en-US" sz="1200" b="1" spc="100" kern="0" dirty="0">
                <a:solidFill>
                  <a:srgbClr val="7B8595"/>
                </a:solidFill>
                <a:latin typeface="Calibri" pitchFamily="34" charset="0"/>
                <a:ea typeface="Calibri" pitchFamily="34" charset="-122"/>
                <a:cs typeface="Calibri" pitchFamily="34" charset="-120"/>
              </a:rPr>
              <a:t>TWO-STAGE  (e.g. Faster R-CNN)</a:t>
            </a:r>
            <a:endParaRPr lang="en-US" sz="1200" dirty="0"/>
          </a:p>
        </p:txBody>
      </p:sp>
      <p:sp>
        <p:nvSpPr>
          <p:cNvPr id="16" name="Shape 14"/>
          <p:cNvSpPr/>
          <p:nvPr/>
        </p:nvSpPr>
        <p:spPr>
          <a:xfrm>
            <a:off x="548640" y="1920240"/>
            <a:ext cx="1143000" cy="1097280"/>
          </a:xfrm>
          <a:prstGeom prst="roundRect">
            <a:avLst>
              <a:gd name="adj" fmla="val 5000"/>
            </a:avLst>
          </a:prstGeom>
          <a:solidFill>
            <a:srgbClr val="222A35"/>
          </a:solidFill>
          <a:ln w="9525">
            <a:solidFill>
              <a:srgbClr val="2E3845"/>
            </a:solidFill>
            <a:prstDash val="solid"/>
          </a:ln>
        </p:spPr>
      </p:sp>
      <p:pic>
        <p:nvPicPr>
          <p:cNvPr id="17" name="Image 0" descr="preencoded.png">    </p:cNvPr>
          <p:cNvPicPr>
            <a:picLocks noChangeAspect="1"/>
          </p:cNvPicPr>
          <p:nvPr/>
        </p:nvPicPr>
        <p:blipFill>
          <a:blip r:embed="rId1"/>
          <a:stretch>
            <a:fillRect/>
          </a:stretch>
        </p:blipFill>
        <p:spPr>
          <a:xfrm>
            <a:off x="713232" y="2423160"/>
            <a:ext cx="475488" cy="475488"/>
          </a:xfrm>
          <a:prstGeom prst="rect">
            <a:avLst/>
          </a:prstGeom>
        </p:spPr>
      </p:pic>
      <p:pic>
        <p:nvPicPr>
          <p:cNvPr id="18" name="Image 1" descr="preencoded.png">    </p:cNvPr>
          <p:cNvPicPr>
            <a:picLocks noChangeAspect="1"/>
          </p:cNvPicPr>
          <p:nvPr/>
        </p:nvPicPr>
        <p:blipFill>
          <a:blip r:embed="rId2"/>
          <a:stretch>
            <a:fillRect/>
          </a:stretch>
        </p:blipFill>
        <p:spPr>
          <a:xfrm>
            <a:off x="1335024" y="2084832"/>
            <a:ext cx="274320" cy="274320"/>
          </a:xfrm>
          <a:prstGeom prst="rect">
            <a:avLst/>
          </a:prstGeom>
        </p:spPr>
      </p:pic>
      <p:sp>
        <p:nvSpPr>
          <p:cNvPr id="19" name="Shape 15"/>
          <p:cNvSpPr/>
          <p:nvPr/>
        </p:nvSpPr>
        <p:spPr>
          <a:xfrm>
            <a:off x="1737360" y="2468880"/>
            <a:ext cx="365760" cy="0"/>
          </a:xfrm>
          <a:prstGeom prst="line">
            <a:avLst/>
          </a:prstGeom>
          <a:noFill/>
          <a:ln w="19050">
            <a:solidFill>
              <a:srgbClr val="667085"/>
            </a:solidFill>
            <a:prstDash val="solid"/>
            <a:tailEnd type="triangle"/>
          </a:ln>
        </p:spPr>
      </p:sp>
      <p:sp>
        <p:nvSpPr>
          <p:cNvPr id="20" name="Shape 16"/>
          <p:cNvSpPr/>
          <p:nvPr/>
        </p:nvSpPr>
        <p:spPr>
          <a:xfrm>
            <a:off x="2148840" y="1920240"/>
            <a:ext cx="1463040" cy="1097280"/>
          </a:xfrm>
          <a:prstGeom prst="roundRect">
            <a:avLst>
              <a:gd name="adj" fmla="val 5000"/>
            </a:avLst>
          </a:prstGeom>
          <a:solidFill>
            <a:srgbClr val="222A35"/>
          </a:solidFill>
          <a:ln w="9525">
            <a:solidFill>
              <a:srgbClr val="2E3845"/>
            </a:solidFill>
            <a:prstDash val="solid"/>
          </a:ln>
        </p:spPr>
      </p:sp>
      <p:sp>
        <p:nvSpPr>
          <p:cNvPr id="21" name="Shape 17"/>
          <p:cNvSpPr/>
          <p:nvPr/>
        </p:nvSpPr>
        <p:spPr>
          <a:xfrm>
            <a:off x="2240280" y="2029968"/>
            <a:ext cx="548640" cy="457200"/>
          </a:xfrm>
          <a:prstGeom prst="rect">
            <a:avLst/>
          </a:prstGeom>
          <a:noFill/>
          <a:ln w="9525">
            <a:solidFill>
              <a:srgbClr val="7B8595"/>
            </a:solidFill>
            <a:prstDash val="dash"/>
          </a:ln>
        </p:spPr>
      </p:sp>
      <p:sp>
        <p:nvSpPr>
          <p:cNvPr id="22" name="Shape 18"/>
          <p:cNvSpPr/>
          <p:nvPr/>
        </p:nvSpPr>
        <p:spPr>
          <a:xfrm>
            <a:off x="2423160" y="2331720"/>
            <a:ext cx="640080" cy="502920"/>
          </a:xfrm>
          <a:prstGeom prst="rect">
            <a:avLst/>
          </a:prstGeom>
          <a:noFill/>
          <a:ln w="9525">
            <a:solidFill>
              <a:srgbClr val="7B8595"/>
            </a:solidFill>
            <a:prstDash val="dash"/>
          </a:ln>
        </p:spPr>
      </p:sp>
      <p:sp>
        <p:nvSpPr>
          <p:cNvPr id="23" name="Shape 19"/>
          <p:cNvSpPr/>
          <p:nvPr/>
        </p:nvSpPr>
        <p:spPr>
          <a:xfrm>
            <a:off x="2880360" y="2011680"/>
            <a:ext cx="457200" cy="640080"/>
          </a:xfrm>
          <a:prstGeom prst="rect">
            <a:avLst/>
          </a:prstGeom>
          <a:noFill/>
          <a:ln w="9525">
            <a:solidFill>
              <a:srgbClr val="7B8595"/>
            </a:solidFill>
            <a:prstDash val="dash"/>
          </a:ln>
        </p:spPr>
      </p:sp>
      <p:sp>
        <p:nvSpPr>
          <p:cNvPr id="24" name="Shape 20"/>
          <p:cNvSpPr/>
          <p:nvPr/>
        </p:nvSpPr>
        <p:spPr>
          <a:xfrm>
            <a:off x="2286000" y="2468880"/>
            <a:ext cx="411480" cy="411480"/>
          </a:xfrm>
          <a:prstGeom prst="rect">
            <a:avLst/>
          </a:prstGeom>
          <a:noFill/>
          <a:ln w="9525">
            <a:solidFill>
              <a:srgbClr val="7B8595"/>
            </a:solidFill>
            <a:prstDash val="dash"/>
          </a:ln>
        </p:spPr>
      </p:sp>
      <p:sp>
        <p:nvSpPr>
          <p:cNvPr id="25" name="Shape 21"/>
          <p:cNvSpPr/>
          <p:nvPr/>
        </p:nvSpPr>
        <p:spPr>
          <a:xfrm>
            <a:off x="3017520" y="2423160"/>
            <a:ext cx="457200" cy="457200"/>
          </a:xfrm>
          <a:prstGeom prst="rect">
            <a:avLst/>
          </a:prstGeom>
          <a:noFill/>
          <a:ln w="9525">
            <a:solidFill>
              <a:srgbClr val="7B8595"/>
            </a:solidFill>
            <a:prstDash val="dash"/>
          </a:ln>
        </p:spPr>
      </p:sp>
      <p:sp>
        <p:nvSpPr>
          <p:cNvPr id="26" name="Shape 22"/>
          <p:cNvSpPr/>
          <p:nvPr/>
        </p:nvSpPr>
        <p:spPr>
          <a:xfrm>
            <a:off x="2651760" y="2148840"/>
            <a:ext cx="365760" cy="365760"/>
          </a:xfrm>
          <a:prstGeom prst="rect">
            <a:avLst/>
          </a:prstGeom>
          <a:noFill/>
          <a:ln w="9525">
            <a:solidFill>
              <a:srgbClr val="7B8595"/>
            </a:solidFill>
            <a:prstDash val="dash"/>
          </a:ln>
        </p:spPr>
      </p:sp>
      <p:sp>
        <p:nvSpPr>
          <p:cNvPr id="27" name="Shape 23"/>
          <p:cNvSpPr/>
          <p:nvPr/>
        </p:nvSpPr>
        <p:spPr>
          <a:xfrm>
            <a:off x="2788920" y="2560320"/>
            <a:ext cx="685800" cy="320040"/>
          </a:xfrm>
          <a:prstGeom prst="rect">
            <a:avLst/>
          </a:prstGeom>
          <a:noFill/>
          <a:ln w="9525">
            <a:solidFill>
              <a:srgbClr val="7B8595"/>
            </a:solidFill>
            <a:prstDash val="dash"/>
          </a:ln>
        </p:spPr>
      </p:sp>
      <p:sp>
        <p:nvSpPr>
          <p:cNvPr id="28" name="Shape 24"/>
          <p:cNvSpPr/>
          <p:nvPr/>
        </p:nvSpPr>
        <p:spPr>
          <a:xfrm>
            <a:off x="3657600" y="2468880"/>
            <a:ext cx="365760" cy="0"/>
          </a:xfrm>
          <a:prstGeom prst="line">
            <a:avLst/>
          </a:prstGeom>
          <a:noFill/>
          <a:ln w="19050">
            <a:solidFill>
              <a:srgbClr val="667085"/>
            </a:solidFill>
            <a:prstDash val="solid"/>
            <a:tailEnd type="triangle"/>
          </a:ln>
        </p:spPr>
      </p:sp>
      <p:sp>
        <p:nvSpPr>
          <p:cNvPr id="29" name="Shape 25"/>
          <p:cNvSpPr/>
          <p:nvPr/>
        </p:nvSpPr>
        <p:spPr>
          <a:xfrm>
            <a:off x="4069080" y="1920240"/>
            <a:ext cx="1463040" cy="1097280"/>
          </a:xfrm>
          <a:prstGeom prst="roundRect">
            <a:avLst>
              <a:gd name="adj" fmla="val 5000"/>
            </a:avLst>
          </a:prstGeom>
          <a:solidFill>
            <a:srgbClr val="222A35"/>
          </a:solidFill>
          <a:ln w="9525">
            <a:solidFill>
              <a:srgbClr val="2E3845"/>
            </a:solidFill>
            <a:prstDash val="solid"/>
          </a:ln>
        </p:spPr>
      </p:sp>
      <p:sp>
        <p:nvSpPr>
          <p:cNvPr id="30" name="Shape 26"/>
          <p:cNvSpPr/>
          <p:nvPr/>
        </p:nvSpPr>
        <p:spPr>
          <a:xfrm>
            <a:off x="4178808" y="2029968"/>
            <a:ext cx="274320" cy="256032"/>
          </a:xfrm>
          <a:prstGeom prst="rect">
            <a:avLst/>
          </a:prstGeom>
          <a:noFill/>
          <a:ln w="9525">
            <a:solidFill>
              <a:srgbClr val="7B8595"/>
            </a:solidFill>
            <a:prstDash val="solid"/>
          </a:ln>
        </p:spPr>
      </p:sp>
      <p:sp>
        <p:nvSpPr>
          <p:cNvPr id="31" name="Text 27"/>
          <p:cNvSpPr txBox="1"/>
          <p:nvPr/>
        </p:nvSpPr>
        <p:spPr>
          <a:xfrm>
            <a:off x="4526280" y="2029968"/>
            <a:ext cx="960120" cy="256032"/>
          </a:xfrm>
          <a:prstGeom prst="rect">
            <a:avLst/>
          </a:prstGeom>
          <a:noFill/>
          <a:ln/>
        </p:spPr>
        <p:txBody>
          <a:bodyPr wrap="square" lIns="0" tIns="0" rIns="0" bIns="0" rtlCol="0" anchor="ctr"/>
          <a:lstStyle/>
          <a:p>
            <a:pPr indent="0" marL="0">
              <a:buNone/>
            </a:pPr>
            <a:r>
              <a:rPr lang="en-US" sz="1050" dirty="0">
                <a:solidFill>
                  <a:srgbClr val="A3ACBA"/>
                </a:solidFill>
                <a:latin typeface="Consolas" pitchFamily="34" charset="0"/>
                <a:ea typeface="Consolas" pitchFamily="34" charset="-122"/>
                <a:cs typeface="Consolas" pitchFamily="34" charset="-120"/>
              </a:rPr>
              <a:t>car?</a:t>
            </a:r>
            <a:endParaRPr lang="en-US" sz="1050" dirty="0"/>
          </a:p>
        </p:txBody>
      </p:sp>
      <p:sp>
        <p:nvSpPr>
          <p:cNvPr id="32" name="Shape 28"/>
          <p:cNvSpPr/>
          <p:nvPr/>
        </p:nvSpPr>
        <p:spPr>
          <a:xfrm>
            <a:off x="4178808" y="2350008"/>
            <a:ext cx="274320" cy="256032"/>
          </a:xfrm>
          <a:prstGeom prst="rect">
            <a:avLst/>
          </a:prstGeom>
          <a:noFill/>
          <a:ln w="9525">
            <a:solidFill>
              <a:srgbClr val="7B8595"/>
            </a:solidFill>
            <a:prstDash val="solid"/>
          </a:ln>
        </p:spPr>
      </p:sp>
      <p:sp>
        <p:nvSpPr>
          <p:cNvPr id="33" name="Text 29"/>
          <p:cNvSpPr txBox="1"/>
          <p:nvPr/>
        </p:nvSpPr>
        <p:spPr>
          <a:xfrm>
            <a:off x="4526280" y="2350008"/>
            <a:ext cx="960120" cy="256032"/>
          </a:xfrm>
          <a:prstGeom prst="rect">
            <a:avLst/>
          </a:prstGeom>
          <a:noFill/>
          <a:ln/>
        </p:spPr>
        <p:txBody>
          <a:bodyPr wrap="square" lIns="0" tIns="0" rIns="0" bIns="0" rtlCol="0" anchor="ctr"/>
          <a:lstStyle/>
          <a:p>
            <a:pPr indent="0" marL="0">
              <a:buNone/>
            </a:pPr>
            <a:r>
              <a:rPr lang="en-US" sz="1050" dirty="0">
                <a:solidFill>
                  <a:srgbClr val="A3ACBA"/>
                </a:solidFill>
                <a:latin typeface="Consolas" pitchFamily="34" charset="0"/>
                <a:ea typeface="Consolas" pitchFamily="34" charset="-122"/>
                <a:cs typeface="Consolas" pitchFamily="34" charset="-120"/>
              </a:rPr>
              <a:t>bus?</a:t>
            </a:r>
            <a:endParaRPr lang="en-US" sz="1050" dirty="0"/>
          </a:p>
        </p:txBody>
      </p:sp>
      <p:sp>
        <p:nvSpPr>
          <p:cNvPr id="34" name="Shape 30"/>
          <p:cNvSpPr/>
          <p:nvPr/>
        </p:nvSpPr>
        <p:spPr>
          <a:xfrm>
            <a:off x="4178808" y="2670048"/>
            <a:ext cx="274320" cy="256032"/>
          </a:xfrm>
          <a:prstGeom prst="rect">
            <a:avLst/>
          </a:prstGeom>
          <a:noFill/>
          <a:ln w="9525">
            <a:solidFill>
              <a:srgbClr val="7B8595"/>
            </a:solidFill>
            <a:prstDash val="solid"/>
          </a:ln>
        </p:spPr>
      </p:sp>
      <p:sp>
        <p:nvSpPr>
          <p:cNvPr id="35" name="Text 31"/>
          <p:cNvSpPr txBox="1"/>
          <p:nvPr/>
        </p:nvSpPr>
        <p:spPr>
          <a:xfrm>
            <a:off x="4526280" y="2670048"/>
            <a:ext cx="960120" cy="256032"/>
          </a:xfrm>
          <a:prstGeom prst="rect">
            <a:avLst/>
          </a:prstGeom>
          <a:noFill/>
          <a:ln/>
        </p:spPr>
        <p:txBody>
          <a:bodyPr wrap="square" lIns="0" tIns="0" rIns="0" bIns="0" rtlCol="0" anchor="ctr"/>
          <a:lstStyle/>
          <a:p>
            <a:pPr indent="0" marL="0">
              <a:buNone/>
            </a:pPr>
            <a:r>
              <a:rPr lang="en-US" sz="1050" dirty="0">
                <a:solidFill>
                  <a:srgbClr val="A3ACBA"/>
                </a:solidFill>
                <a:latin typeface="Consolas" pitchFamily="34" charset="0"/>
                <a:ea typeface="Consolas" pitchFamily="34" charset="-122"/>
                <a:cs typeface="Consolas" pitchFamily="34" charset="-120"/>
              </a:rPr>
              <a:t>background?</a:t>
            </a:r>
            <a:endParaRPr lang="en-US" sz="1050" dirty="0"/>
          </a:p>
        </p:txBody>
      </p:sp>
      <p:sp>
        <p:nvSpPr>
          <p:cNvPr id="36" name="Shape 32"/>
          <p:cNvSpPr/>
          <p:nvPr/>
        </p:nvSpPr>
        <p:spPr>
          <a:xfrm>
            <a:off x="5577840" y="2468880"/>
            <a:ext cx="365760" cy="0"/>
          </a:xfrm>
          <a:prstGeom prst="line">
            <a:avLst/>
          </a:prstGeom>
          <a:noFill/>
          <a:ln w="19050">
            <a:solidFill>
              <a:srgbClr val="667085"/>
            </a:solidFill>
            <a:prstDash val="solid"/>
            <a:tailEnd type="triangle"/>
          </a:ln>
        </p:spPr>
      </p:sp>
      <p:sp>
        <p:nvSpPr>
          <p:cNvPr id="37" name="Shape 33"/>
          <p:cNvSpPr/>
          <p:nvPr/>
        </p:nvSpPr>
        <p:spPr>
          <a:xfrm>
            <a:off x="5989320" y="1920240"/>
            <a:ext cx="1143000" cy="1097280"/>
          </a:xfrm>
          <a:prstGeom prst="roundRect">
            <a:avLst>
              <a:gd name="adj" fmla="val 5000"/>
            </a:avLst>
          </a:prstGeom>
          <a:solidFill>
            <a:srgbClr val="222A35"/>
          </a:solidFill>
          <a:ln w="9525">
            <a:solidFill>
              <a:srgbClr val="2E3845"/>
            </a:solidFill>
            <a:prstDash val="solid"/>
          </a:ln>
        </p:spPr>
      </p:sp>
      <p:pic>
        <p:nvPicPr>
          <p:cNvPr id="38" name="Image 2" descr="preencoded.png">    </p:cNvPr>
          <p:cNvPicPr>
            <a:picLocks noChangeAspect="1"/>
          </p:cNvPicPr>
          <p:nvPr/>
        </p:nvPicPr>
        <p:blipFill>
          <a:blip r:embed="rId3"/>
          <a:stretch>
            <a:fillRect/>
          </a:stretch>
        </p:blipFill>
        <p:spPr>
          <a:xfrm>
            <a:off x="6153912" y="2423160"/>
            <a:ext cx="475488" cy="475488"/>
          </a:xfrm>
          <a:prstGeom prst="rect">
            <a:avLst/>
          </a:prstGeom>
        </p:spPr>
      </p:pic>
      <p:pic>
        <p:nvPicPr>
          <p:cNvPr id="39" name="Image 3" descr="preencoded.png">    </p:cNvPr>
          <p:cNvPicPr>
            <a:picLocks noChangeAspect="1"/>
          </p:cNvPicPr>
          <p:nvPr/>
        </p:nvPicPr>
        <p:blipFill>
          <a:blip r:embed="rId4"/>
          <a:stretch>
            <a:fillRect/>
          </a:stretch>
        </p:blipFill>
        <p:spPr>
          <a:xfrm>
            <a:off x="6775704" y="2084832"/>
            <a:ext cx="274320" cy="274320"/>
          </a:xfrm>
          <a:prstGeom prst="rect">
            <a:avLst/>
          </a:prstGeom>
        </p:spPr>
      </p:pic>
      <p:sp>
        <p:nvSpPr>
          <p:cNvPr id="40" name="Shape 34"/>
          <p:cNvSpPr/>
          <p:nvPr/>
        </p:nvSpPr>
        <p:spPr>
          <a:xfrm>
            <a:off x="6108192" y="2377440"/>
            <a:ext cx="594360" cy="548640"/>
          </a:xfrm>
          <a:prstGeom prst="rect">
            <a:avLst/>
          </a:prstGeom>
          <a:noFill/>
          <a:ln w="19050">
            <a:solidFill>
              <a:srgbClr val="7B8595"/>
            </a:solidFill>
            <a:prstDash val="solid"/>
          </a:ln>
        </p:spPr>
      </p:sp>
      <p:sp>
        <p:nvSpPr>
          <p:cNvPr id="41" name="Shape 35"/>
          <p:cNvSpPr/>
          <p:nvPr/>
        </p:nvSpPr>
        <p:spPr>
          <a:xfrm>
            <a:off x="6739128" y="2039112"/>
            <a:ext cx="320040" cy="365760"/>
          </a:xfrm>
          <a:prstGeom prst="rect">
            <a:avLst/>
          </a:prstGeom>
          <a:noFill/>
          <a:ln w="19050">
            <a:solidFill>
              <a:srgbClr val="7B8595"/>
            </a:solidFill>
            <a:prstDash val="solid"/>
          </a:ln>
        </p:spPr>
      </p:sp>
      <p:sp>
        <p:nvSpPr>
          <p:cNvPr id="42" name="Text 36"/>
          <p:cNvSpPr txBox="1"/>
          <p:nvPr/>
        </p:nvSpPr>
        <p:spPr>
          <a:xfrm>
            <a:off x="457200" y="3072384"/>
            <a:ext cx="132588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image</a:t>
            </a:r>
            <a:endParaRPr lang="en-US" sz="1100" dirty="0"/>
          </a:p>
        </p:txBody>
      </p:sp>
      <p:sp>
        <p:nvSpPr>
          <p:cNvPr id="43" name="Text 37"/>
          <p:cNvSpPr txBox="1"/>
          <p:nvPr/>
        </p:nvSpPr>
        <p:spPr>
          <a:xfrm>
            <a:off x="2057400" y="3072384"/>
            <a:ext cx="164592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propose many regions</a:t>
            </a:r>
            <a:endParaRPr lang="en-US" sz="1100" dirty="0"/>
          </a:p>
        </p:txBody>
      </p:sp>
      <p:sp>
        <p:nvSpPr>
          <p:cNvPr id="44" name="Text 38"/>
          <p:cNvSpPr txBox="1"/>
          <p:nvPr/>
        </p:nvSpPr>
        <p:spPr>
          <a:xfrm>
            <a:off x="3977640" y="3072384"/>
            <a:ext cx="164592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classify each region</a:t>
            </a:r>
            <a:endParaRPr lang="en-US" sz="1100" dirty="0"/>
          </a:p>
        </p:txBody>
      </p:sp>
      <p:sp>
        <p:nvSpPr>
          <p:cNvPr id="45" name="Text 39"/>
          <p:cNvSpPr txBox="1"/>
          <p:nvPr/>
        </p:nvSpPr>
        <p:spPr>
          <a:xfrm>
            <a:off x="5897880" y="3072384"/>
            <a:ext cx="132588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detections</a:t>
            </a:r>
            <a:endParaRPr lang="en-US" sz="1100" dirty="0"/>
          </a:p>
        </p:txBody>
      </p:sp>
      <p:sp>
        <p:nvSpPr>
          <p:cNvPr id="46" name="Text 40"/>
          <p:cNvSpPr txBox="1"/>
          <p:nvPr/>
        </p:nvSpPr>
        <p:spPr>
          <a:xfrm>
            <a:off x="548640" y="3584448"/>
            <a:ext cx="5486400" cy="256032"/>
          </a:xfrm>
          <a:prstGeom prst="rect">
            <a:avLst/>
          </a:prstGeom>
          <a:noFill/>
          <a:ln/>
        </p:spPr>
        <p:txBody>
          <a:bodyPr wrap="square" lIns="0" tIns="0" rIns="0" bIns="0" rtlCol="0" anchor="t"/>
          <a:lstStyle/>
          <a:p>
            <a:pPr indent="0" marL="0">
              <a:buNone/>
            </a:pPr>
            <a:r>
              <a:rPr lang="en-US" sz="1200" b="1" spc="100" kern="0" dirty="0">
                <a:solidFill>
                  <a:srgbClr val="5EC8E5"/>
                </a:solidFill>
                <a:latin typeface="Calibri" pitchFamily="34" charset="0"/>
                <a:ea typeface="Calibri" pitchFamily="34" charset="-122"/>
                <a:cs typeface="Calibri" pitchFamily="34" charset="-120"/>
              </a:rPr>
              <a:t>SINGLE-STAGE  (YOLO)</a:t>
            </a:r>
            <a:endParaRPr lang="en-US" sz="1200" dirty="0"/>
          </a:p>
        </p:txBody>
      </p:sp>
      <p:sp>
        <p:nvSpPr>
          <p:cNvPr id="47" name="Shape 41"/>
          <p:cNvSpPr/>
          <p:nvPr/>
        </p:nvSpPr>
        <p:spPr>
          <a:xfrm>
            <a:off x="548640" y="3904488"/>
            <a:ext cx="1143000" cy="1097280"/>
          </a:xfrm>
          <a:prstGeom prst="roundRect">
            <a:avLst>
              <a:gd name="adj" fmla="val 5000"/>
            </a:avLst>
          </a:prstGeom>
          <a:solidFill>
            <a:srgbClr val="222A35"/>
          </a:solidFill>
          <a:ln w="9525">
            <a:solidFill>
              <a:srgbClr val="2E3845"/>
            </a:solidFill>
            <a:prstDash val="solid"/>
          </a:ln>
        </p:spPr>
      </p:sp>
      <p:pic>
        <p:nvPicPr>
          <p:cNvPr id="48" name="Image 4" descr="preencoded.png">    </p:cNvPr>
          <p:cNvPicPr>
            <a:picLocks noChangeAspect="1"/>
          </p:cNvPicPr>
          <p:nvPr/>
        </p:nvPicPr>
        <p:blipFill>
          <a:blip r:embed="rId5"/>
          <a:stretch>
            <a:fillRect/>
          </a:stretch>
        </p:blipFill>
        <p:spPr>
          <a:xfrm>
            <a:off x="713232" y="4407408"/>
            <a:ext cx="475488" cy="475488"/>
          </a:xfrm>
          <a:prstGeom prst="rect">
            <a:avLst/>
          </a:prstGeom>
        </p:spPr>
      </p:pic>
      <p:pic>
        <p:nvPicPr>
          <p:cNvPr id="49" name="Image 5" descr="preencoded.png">    </p:cNvPr>
          <p:cNvPicPr>
            <a:picLocks noChangeAspect="1"/>
          </p:cNvPicPr>
          <p:nvPr/>
        </p:nvPicPr>
        <p:blipFill>
          <a:blip r:embed="rId6"/>
          <a:stretch>
            <a:fillRect/>
          </a:stretch>
        </p:blipFill>
        <p:spPr>
          <a:xfrm>
            <a:off x="1335024" y="4069080"/>
            <a:ext cx="274320" cy="274320"/>
          </a:xfrm>
          <a:prstGeom prst="rect">
            <a:avLst/>
          </a:prstGeom>
        </p:spPr>
      </p:pic>
      <p:sp>
        <p:nvSpPr>
          <p:cNvPr id="50" name="Shape 42"/>
          <p:cNvSpPr/>
          <p:nvPr/>
        </p:nvSpPr>
        <p:spPr>
          <a:xfrm>
            <a:off x="1737360" y="4453128"/>
            <a:ext cx="365760" cy="0"/>
          </a:xfrm>
          <a:prstGeom prst="line">
            <a:avLst/>
          </a:prstGeom>
          <a:noFill/>
          <a:ln w="25400">
            <a:solidFill>
              <a:srgbClr val="5EC8E5"/>
            </a:solidFill>
            <a:prstDash val="solid"/>
            <a:tailEnd type="triangle"/>
          </a:ln>
        </p:spPr>
      </p:sp>
      <p:sp>
        <p:nvSpPr>
          <p:cNvPr id="51" name="Shape 43"/>
          <p:cNvSpPr/>
          <p:nvPr/>
        </p:nvSpPr>
        <p:spPr>
          <a:xfrm>
            <a:off x="2148840" y="3904488"/>
            <a:ext cx="3383280" cy="1097280"/>
          </a:xfrm>
          <a:prstGeom prst="roundRect">
            <a:avLst>
              <a:gd name="adj" fmla="val 6667"/>
            </a:avLst>
          </a:prstGeom>
          <a:solidFill>
            <a:srgbClr val="5EC8E5">
              <a:alpha val="12000"/>
            </a:srgbClr>
          </a:solidFill>
          <a:ln w="15875">
            <a:solidFill>
              <a:srgbClr val="5EC8E5"/>
            </a:solidFill>
            <a:prstDash val="solid"/>
          </a:ln>
        </p:spPr>
      </p:sp>
      <p:sp>
        <p:nvSpPr>
          <p:cNvPr id="52" name="Shape 44"/>
          <p:cNvSpPr/>
          <p:nvPr/>
        </p:nvSpPr>
        <p:spPr>
          <a:xfrm>
            <a:off x="2286000" y="4014216"/>
            <a:ext cx="1188720" cy="877824"/>
          </a:xfrm>
          <a:prstGeom prst="roundRect">
            <a:avLst>
              <a:gd name="adj" fmla="val 6250"/>
            </a:avLst>
          </a:prstGeom>
          <a:solidFill>
            <a:srgbClr val="222A35"/>
          </a:solidFill>
          <a:ln w="9525">
            <a:solidFill>
              <a:srgbClr val="2E3845"/>
            </a:solidFill>
            <a:prstDash val="solid"/>
          </a:ln>
        </p:spPr>
      </p:sp>
      <p:sp>
        <p:nvSpPr>
          <p:cNvPr id="53" name="Shape 45"/>
          <p:cNvSpPr/>
          <p:nvPr/>
        </p:nvSpPr>
        <p:spPr>
          <a:xfrm>
            <a:off x="2523744" y="4014216"/>
            <a:ext cx="0" cy="877824"/>
          </a:xfrm>
          <a:prstGeom prst="line">
            <a:avLst/>
          </a:prstGeom>
          <a:noFill/>
          <a:ln w="6350">
            <a:solidFill>
              <a:srgbClr val="5EC8E5"/>
            </a:solidFill>
            <a:prstDash val="solid"/>
          </a:ln>
        </p:spPr>
      </p:sp>
      <p:sp>
        <p:nvSpPr>
          <p:cNvPr id="54" name="Shape 46"/>
          <p:cNvSpPr/>
          <p:nvPr/>
        </p:nvSpPr>
        <p:spPr>
          <a:xfrm>
            <a:off x="2761488" y="4014216"/>
            <a:ext cx="0" cy="877824"/>
          </a:xfrm>
          <a:prstGeom prst="line">
            <a:avLst/>
          </a:prstGeom>
          <a:noFill/>
          <a:ln w="6350">
            <a:solidFill>
              <a:srgbClr val="5EC8E5"/>
            </a:solidFill>
            <a:prstDash val="solid"/>
          </a:ln>
        </p:spPr>
      </p:sp>
      <p:sp>
        <p:nvSpPr>
          <p:cNvPr id="55" name="Shape 47"/>
          <p:cNvSpPr/>
          <p:nvPr/>
        </p:nvSpPr>
        <p:spPr>
          <a:xfrm>
            <a:off x="2999232" y="4014216"/>
            <a:ext cx="0" cy="877824"/>
          </a:xfrm>
          <a:prstGeom prst="line">
            <a:avLst/>
          </a:prstGeom>
          <a:noFill/>
          <a:ln w="6350">
            <a:solidFill>
              <a:srgbClr val="5EC8E5"/>
            </a:solidFill>
            <a:prstDash val="solid"/>
          </a:ln>
        </p:spPr>
      </p:sp>
      <p:sp>
        <p:nvSpPr>
          <p:cNvPr id="56" name="Shape 48"/>
          <p:cNvSpPr/>
          <p:nvPr/>
        </p:nvSpPr>
        <p:spPr>
          <a:xfrm>
            <a:off x="3236976" y="4014216"/>
            <a:ext cx="0" cy="877824"/>
          </a:xfrm>
          <a:prstGeom prst="line">
            <a:avLst/>
          </a:prstGeom>
          <a:noFill/>
          <a:ln w="6350">
            <a:solidFill>
              <a:srgbClr val="5EC8E5"/>
            </a:solidFill>
            <a:prstDash val="solid"/>
          </a:ln>
        </p:spPr>
      </p:sp>
      <p:sp>
        <p:nvSpPr>
          <p:cNvPr id="57" name="Shape 49"/>
          <p:cNvSpPr/>
          <p:nvPr/>
        </p:nvSpPr>
        <p:spPr>
          <a:xfrm>
            <a:off x="2286000" y="4233672"/>
            <a:ext cx="1188720" cy="0"/>
          </a:xfrm>
          <a:prstGeom prst="line">
            <a:avLst/>
          </a:prstGeom>
          <a:noFill/>
          <a:ln w="6350">
            <a:solidFill>
              <a:srgbClr val="5EC8E5"/>
            </a:solidFill>
            <a:prstDash val="solid"/>
          </a:ln>
        </p:spPr>
      </p:sp>
      <p:sp>
        <p:nvSpPr>
          <p:cNvPr id="58" name="Shape 50"/>
          <p:cNvSpPr/>
          <p:nvPr/>
        </p:nvSpPr>
        <p:spPr>
          <a:xfrm>
            <a:off x="2286000" y="4453128"/>
            <a:ext cx="1188720" cy="0"/>
          </a:xfrm>
          <a:prstGeom prst="line">
            <a:avLst/>
          </a:prstGeom>
          <a:noFill/>
          <a:ln w="6350">
            <a:solidFill>
              <a:srgbClr val="5EC8E5"/>
            </a:solidFill>
            <a:prstDash val="solid"/>
          </a:ln>
        </p:spPr>
      </p:sp>
      <p:sp>
        <p:nvSpPr>
          <p:cNvPr id="59" name="Shape 51"/>
          <p:cNvSpPr/>
          <p:nvPr/>
        </p:nvSpPr>
        <p:spPr>
          <a:xfrm>
            <a:off x="2286000" y="4672584"/>
            <a:ext cx="1188720" cy="0"/>
          </a:xfrm>
          <a:prstGeom prst="line">
            <a:avLst/>
          </a:prstGeom>
          <a:noFill/>
          <a:ln w="6350">
            <a:solidFill>
              <a:srgbClr val="5EC8E5"/>
            </a:solidFill>
            <a:prstDash val="solid"/>
          </a:ln>
        </p:spPr>
      </p:sp>
      <p:sp>
        <p:nvSpPr>
          <p:cNvPr id="60" name="Shape 52"/>
          <p:cNvSpPr/>
          <p:nvPr/>
        </p:nvSpPr>
        <p:spPr>
          <a:xfrm>
            <a:off x="2377440" y="4343400"/>
            <a:ext cx="566928" cy="457200"/>
          </a:xfrm>
          <a:prstGeom prst="rect">
            <a:avLst/>
          </a:prstGeom>
          <a:noFill/>
          <a:ln w="22225">
            <a:solidFill>
              <a:srgbClr val="5EC8E5"/>
            </a:solidFill>
            <a:prstDash val="solid"/>
          </a:ln>
        </p:spPr>
      </p:sp>
      <p:sp>
        <p:nvSpPr>
          <p:cNvPr id="61" name="Shape 53"/>
          <p:cNvSpPr/>
          <p:nvPr/>
        </p:nvSpPr>
        <p:spPr>
          <a:xfrm>
            <a:off x="3108960" y="4069080"/>
            <a:ext cx="256032" cy="329184"/>
          </a:xfrm>
          <a:prstGeom prst="rect">
            <a:avLst/>
          </a:prstGeom>
          <a:noFill/>
          <a:ln w="22225">
            <a:solidFill>
              <a:srgbClr val="5EC8E5"/>
            </a:solidFill>
            <a:prstDash val="solid"/>
          </a:ln>
        </p:spPr>
      </p:sp>
      <p:sp>
        <p:nvSpPr>
          <p:cNvPr id="62" name="Text 54"/>
          <p:cNvSpPr txBox="1"/>
          <p:nvPr/>
        </p:nvSpPr>
        <p:spPr>
          <a:xfrm>
            <a:off x="3611880" y="3995928"/>
            <a:ext cx="1828800" cy="914400"/>
          </a:xfrm>
          <a:prstGeom prst="rect">
            <a:avLst/>
          </a:prstGeom>
          <a:noFill/>
          <a:ln/>
        </p:spPr>
        <p:txBody>
          <a:bodyPr wrap="square" lIns="0" tIns="0" rIns="0" bIns="0" rtlCol="0" anchor="ctr"/>
          <a:lstStyle/>
          <a:p>
            <a:pPr indent="0" marL="0">
              <a:buNone/>
            </a:pPr>
            <a:r>
              <a:rPr lang="en-US" sz="1200" b="1" dirty="0">
                <a:solidFill>
                  <a:srgbClr val="F2F4F7"/>
                </a:solidFill>
                <a:latin typeface="Calibri" pitchFamily="34" charset="0"/>
                <a:ea typeface="Calibri" pitchFamily="34" charset="-122"/>
                <a:cs typeface="Calibri" pitchFamily="34" charset="-120"/>
              </a:rPr>
              <a:t>One network pass: a grid predicts boxes, classes and confidences together</a:t>
            </a:r>
            <a:endParaRPr lang="en-US" sz="1200" dirty="0"/>
          </a:p>
        </p:txBody>
      </p:sp>
      <p:sp>
        <p:nvSpPr>
          <p:cNvPr id="63" name="Shape 55"/>
          <p:cNvSpPr/>
          <p:nvPr/>
        </p:nvSpPr>
        <p:spPr>
          <a:xfrm>
            <a:off x="5577840" y="4453128"/>
            <a:ext cx="365760" cy="0"/>
          </a:xfrm>
          <a:prstGeom prst="line">
            <a:avLst/>
          </a:prstGeom>
          <a:noFill/>
          <a:ln w="25400">
            <a:solidFill>
              <a:srgbClr val="5EC8E5"/>
            </a:solidFill>
            <a:prstDash val="solid"/>
            <a:tailEnd type="triangle"/>
          </a:ln>
        </p:spPr>
      </p:sp>
      <p:sp>
        <p:nvSpPr>
          <p:cNvPr id="64" name="Shape 56"/>
          <p:cNvSpPr/>
          <p:nvPr/>
        </p:nvSpPr>
        <p:spPr>
          <a:xfrm>
            <a:off x="5989320" y="3904488"/>
            <a:ext cx="1143000" cy="1097280"/>
          </a:xfrm>
          <a:prstGeom prst="roundRect">
            <a:avLst>
              <a:gd name="adj" fmla="val 5000"/>
            </a:avLst>
          </a:prstGeom>
          <a:solidFill>
            <a:srgbClr val="222A35"/>
          </a:solidFill>
          <a:ln w="9525">
            <a:solidFill>
              <a:srgbClr val="2E3845"/>
            </a:solidFill>
            <a:prstDash val="solid"/>
          </a:ln>
        </p:spPr>
      </p:sp>
      <p:pic>
        <p:nvPicPr>
          <p:cNvPr id="65" name="Image 6" descr="preencoded.png">    </p:cNvPr>
          <p:cNvPicPr>
            <a:picLocks noChangeAspect="1"/>
          </p:cNvPicPr>
          <p:nvPr/>
        </p:nvPicPr>
        <p:blipFill>
          <a:blip r:embed="rId7"/>
          <a:stretch>
            <a:fillRect/>
          </a:stretch>
        </p:blipFill>
        <p:spPr>
          <a:xfrm>
            <a:off x="6153912" y="4407408"/>
            <a:ext cx="475488" cy="475488"/>
          </a:xfrm>
          <a:prstGeom prst="rect">
            <a:avLst/>
          </a:prstGeom>
        </p:spPr>
      </p:pic>
      <p:pic>
        <p:nvPicPr>
          <p:cNvPr id="66" name="Image 7" descr="preencoded.png">    </p:cNvPr>
          <p:cNvPicPr>
            <a:picLocks noChangeAspect="1"/>
          </p:cNvPicPr>
          <p:nvPr/>
        </p:nvPicPr>
        <p:blipFill>
          <a:blip r:embed="rId8"/>
          <a:stretch>
            <a:fillRect/>
          </a:stretch>
        </p:blipFill>
        <p:spPr>
          <a:xfrm>
            <a:off x="6775704" y="4069080"/>
            <a:ext cx="274320" cy="274320"/>
          </a:xfrm>
          <a:prstGeom prst="rect">
            <a:avLst/>
          </a:prstGeom>
        </p:spPr>
      </p:pic>
      <p:sp>
        <p:nvSpPr>
          <p:cNvPr id="67" name="Shape 57"/>
          <p:cNvSpPr/>
          <p:nvPr/>
        </p:nvSpPr>
        <p:spPr>
          <a:xfrm>
            <a:off x="6108192" y="4361688"/>
            <a:ext cx="594360" cy="548640"/>
          </a:xfrm>
          <a:prstGeom prst="rect">
            <a:avLst/>
          </a:prstGeom>
          <a:noFill/>
          <a:ln w="19050">
            <a:solidFill>
              <a:srgbClr val="5EC8E5"/>
            </a:solidFill>
            <a:prstDash val="solid"/>
          </a:ln>
        </p:spPr>
      </p:sp>
      <p:sp>
        <p:nvSpPr>
          <p:cNvPr id="68" name="Shape 58"/>
          <p:cNvSpPr/>
          <p:nvPr/>
        </p:nvSpPr>
        <p:spPr>
          <a:xfrm>
            <a:off x="6739128" y="4023360"/>
            <a:ext cx="320040" cy="365760"/>
          </a:xfrm>
          <a:prstGeom prst="rect">
            <a:avLst/>
          </a:prstGeom>
          <a:noFill/>
          <a:ln w="19050">
            <a:solidFill>
              <a:srgbClr val="5EC8E5"/>
            </a:solidFill>
            <a:prstDash val="solid"/>
          </a:ln>
        </p:spPr>
      </p:sp>
      <p:sp>
        <p:nvSpPr>
          <p:cNvPr id="69" name="Text 59"/>
          <p:cNvSpPr txBox="1"/>
          <p:nvPr/>
        </p:nvSpPr>
        <p:spPr>
          <a:xfrm>
            <a:off x="457200" y="5056632"/>
            <a:ext cx="132588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image</a:t>
            </a:r>
            <a:endParaRPr lang="en-US" sz="1100" dirty="0"/>
          </a:p>
        </p:txBody>
      </p:sp>
      <p:sp>
        <p:nvSpPr>
          <p:cNvPr id="70" name="Text 60"/>
          <p:cNvSpPr txBox="1"/>
          <p:nvPr/>
        </p:nvSpPr>
        <p:spPr>
          <a:xfrm>
            <a:off x="5897880" y="5056632"/>
            <a:ext cx="1325880" cy="256032"/>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detections</a:t>
            </a:r>
            <a:endParaRPr lang="en-US" sz="1100" dirty="0"/>
          </a:p>
        </p:txBody>
      </p:sp>
      <p:sp>
        <p:nvSpPr>
          <p:cNvPr id="71" name="Shape 61"/>
          <p:cNvSpPr/>
          <p:nvPr/>
        </p:nvSpPr>
        <p:spPr>
          <a:xfrm>
            <a:off x="7680960" y="1645920"/>
            <a:ext cx="3959352" cy="3611880"/>
          </a:xfrm>
          <a:prstGeom prst="roundRect">
            <a:avLst>
              <a:gd name="adj" fmla="val 2532"/>
            </a:avLst>
          </a:prstGeom>
          <a:solidFill>
            <a:srgbClr val="161B22"/>
          </a:solidFill>
          <a:ln w="9525">
            <a:solidFill>
              <a:srgbClr val="2E3845"/>
            </a:solidFill>
            <a:prstDash val="solid"/>
          </a:ln>
        </p:spPr>
      </p:sp>
      <p:sp>
        <p:nvSpPr>
          <p:cNvPr id="72" name="Text 62"/>
          <p:cNvSpPr txBox="1"/>
          <p:nvPr/>
        </p:nvSpPr>
        <p:spPr>
          <a:xfrm>
            <a:off x="7909560" y="1810512"/>
            <a:ext cx="3566160"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Why single-stage for a safety aid</a:t>
            </a:r>
            <a:endParaRPr lang="en-US" sz="1600" dirty="0"/>
          </a:p>
        </p:txBody>
      </p:sp>
      <p:sp>
        <p:nvSpPr>
          <p:cNvPr id="73" name="Shape 63"/>
          <p:cNvSpPr/>
          <p:nvPr/>
        </p:nvSpPr>
        <p:spPr>
          <a:xfrm>
            <a:off x="7909560" y="2331720"/>
            <a:ext cx="502920" cy="502920"/>
          </a:xfrm>
          <a:prstGeom prst="ellipse">
            <a:avLst/>
          </a:prstGeom>
          <a:solidFill>
            <a:srgbClr val="5EC8E5">
              <a:alpha val="18000"/>
            </a:srgbClr>
          </a:solidFill>
          <a:ln/>
        </p:spPr>
      </p:sp>
      <p:pic>
        <p:nvPicPr>
          <p:cNvPr id="74" name="Image 8" descr="preencoded.png">    </p:cNvPr>
          <p:cNvPicPr>
            <a:picLocks noChangeAspect="1"/>
          </p:cNvPicPr>
          <p:nvPr/>
        </p:nvPicPr>
        <p:blipFill>
          <a:blip r:embed="rId9"/>
          <a:stretch>
            <a:fillRect/>
          </a:stretch>
        </p:blipFill>
        <p:spPr>
          <a:xfrm>
            <a:off x="8030261" y="2452421"/>
            <a:ext cx="261518" cy="261518"/>
          </a:xfrm>
          <a:prstGeom prst="rect">
            <a:avLst/>
          </a:prstGeom>
        </p:spPr>
      </p:pic>
      <p:sp>
        <p:nvSpPr>
          <p:cNvPr id="75" name="Text 64"/>
          <p:cNvSpPr txBox="1"/>
          <p:nvPr/>
        </p:nvSpPr>
        <p:spPr>
          <a:xfrm>
            <a:off x="8595360" y="2286000"/>
            <a:ext cx="292608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Latency is safety</a:t>
            </a:r>
            <a:endParaRPr lang="en-US" sz="1400" dirty="0"/>
          </a:p>
        </p:txBody>
      </p:sp>
      <p:sp>
        <p:nvSpPr>
          <p:cNvPr id="76" name="Text 65"/>
          <p:cNvSpPr txBox="1"/>
          <p:nvPr/>
        </p:nvSpPr>
        <p:spPr>
          <a:xfrm>
            <a:off x="8595360" y="2578608"/>
            <a:ext cx="2926080" cy="5029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A late answer about a moving car is a wrong answer.</a:t>
            </a:r>
            <a:endParaRPr lang="en-US" sz="1200" dirty="0"/>
          </a:p>
        </p:txBody>
      </p:sp>
      <p:sp>
        <p:nvSpPr>
          <p:cNvPr id="77" name="Shape 66"/>
          <p:cNvSpPr/>
          <p:nvPr/>
        </p:nvSpPr>
        <p:spPr>
          <a:xfrm>
            <a:off x="7909560" y="3291840"/>
            <a:ext cx="502920" cy="502920"/>
          </a:xfrm>
          <a:prstGeom prst="ellipse">
            <a:avLst/>
          </a:prstGeom>
          <a:solidFill>
            <a:srgbClr val="5EC8E5">
              <a:alpha val="18000"/>
            </a:srgbClr>
          </a:solidFill>
          <a:ln/>
        </p:spPr>
      </p:sp>
      <p:pic>
        <p:nvPicPr>
          <p:cNvPr id="78" name="Image 9" descr="preencoded.png">    </p:cNvPr>
          <p:cNvPicPr>
            <a:picLocks noChangeAspect="1"/>
          </p:cNvPicPr>
          <p:nvPr/>
        </p:nvPicPr>
        <p:blipFill>
          <a:blip r:embed="rId10"/>
          <a:stretch>
            <a:fillRect/>
          </a:stretch>
        </p:blipFill>
        <p:spPr>
          <a:xfrm>
            <a:off x="8030261" y="3412541"/>
            <a:ext cx="261518" cy="261518"/>
          </a:xfrm>
          <a:prstGeom prst="rect">
            <a:avLst/>
          </a:prstGeom>
        </p:spPr>
      </p:pic>
      <p:sp>
        <p:nvSpPr>
          <p:cNvPr id="79" name="Text 67"/>
          <p:cNvSpPr txBox="1"/>
          <p:nvPr/>
        </p:nvSpPr>
        <p:spPr>
          <a:xfrm>
            <a:off x="8595360" y="3246120"/>
            <a:ext cx="292608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Runs on a CPU</a:t>
            </a:r>
            <a:endParaRPr lang="en-US" sz="1400" dirty="0"/>
          </a:p>
        </p:txBody>
      </p:sp>
      <p:sp>
        <p:nvSpPr>
          <p:cNvPr id="80" name="Text 68"/>
          <p:cNvSpPr txBox="1"/>
          <p:nvPr/>
        </p:nvSpPr>
        <p:spPr>
          <a:xfrm>
            <a:off x="8595360" y="3538728"/>
            <a:ext cx="2926080" cy="5029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Interactive frame rates on a standard PC.</a:t>
            </a:r>
            <a:endParaRPr lang="en-US" sz="1200" dirty="0"/>
          </a:p>
        </p:txBody>
      </p:sp>
      <p:sp>
        <p:nvSpPr>
          <p:cNvPr id="81" name="Shape 69"/>
          <p:cNvSpPr/>
          <p:nvPr/>
        </p:nvSpPr>
        <p:spPr>
          <a:xfrm>
            <a:off x="7909560" y="4251960"/>
            <a:ext cx="502920" cy="502920"/>
          </a:xfrm>
          <a:prstGeom prst="ellipse">
            <a:avLst/>
          </a:prstGeom>
          <a:solidFill>
            <a:srgbClr val="5EC8E5">
              <a:alpha val="18000"/>
            </a:srgbClr>
          </a:solidFill>
          <a:ln/>
        </p:spPr>
      </p:sp>
      <p:pic>
        <p:nvPicPr>
          <p:cNvPr id="82" name="Image 10" descr="preencoded.png">    </p:cNvPr>
          <p:cNvPicPr>
            <a:picLocks noChangeAspect="1"/>
          </p:cNvPicPr>
          <p:nvPr/>
        </p:nvPicPr>
        <p:blipFill>
          <a:blip r:embed="rId11"/>
          <a:stretch>
            <a:fillRect/>
          </a:stretch>
        </p:blipFill>
        <p:spPr>
          <a:xfrm>
            <a:off x="8030261" y="4372661"/>
            <a:ext cx="261518" cy="261518"/>
          </a:xfrm>
          <a:prstGeom prst="rect">
            <a:avLst/>
          </a:prstGeom>
        </p:spPr>
      </p:pic>
      <p:sp>
        <p:nvSpPr>
          <p:cNvPr id="83" name="Text 70"/>
          <p:cNvSpPr txBox="1"/>
          <p:nvPr/>
        </p:nvSpPr>
        <p:spPr>
          <a:xfrm>
            <a:off x="8595360" y="4206240"/>
            <a:ext cx="292608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One model, ten classes</a:t>
            </a:r>
            <a:endParaRPr lang="en-US" sz="1400" dirty="0"/>
          </a:p>
        </p:txBody>
      </p:sp>
      <p:sp>
        <p:nvSpPr>
          <p:cNvPr id="84" name="Text 71"/>
          <p:cNvSpPr txBox="1"/>
          <p:nvPr/>
        </p:nvSpPr>
        <p:spPr>
          <a:xfrm>
            <a:off x="8595360" y="4498848"/>
            <a:ext cx="2926080" cy="5029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Vehicles, people, crosswalks and signals in a single pass.</a:t>
            </a:r>
            <a:endParaRPr lang="en-US" sz="1200" dirty="0"/>
          </a:p>
        </p:txBody>
      </p:sp>
      <p:sp>
        <p:nvSpPr>
          <p:cNvPr id="85" name="Text 72"/>
          <p:cNvSpPr txBox="1"/>
          <p:nvPr/>
        </p:nvSpPr>
        <p:spPr>
          <a:xfrm>
            <a:off x="548640" y="5504688"/>
            <a:ext cx="1188720" cy="365760"/>
          </a:xfrm>
          <a:prstGeom prst="rect">
            <a:avLst/>
          </a:prstGeom>
          <a:noFill/>
          <a:ln/>
        </p:spPr>
        <p:txBody>
          <a:bodyPr wrap="square" lIns="0" tIns="0" rIns="0" bIns="0" rtlCol="0" anchor="ctr"/>
          <a:lstStyle/>
          <a:p>
            <a:pPr indent="0" marL="0">
              <a:buNone/>
            </a:pPr>
            <a:r>
              <a:rPr lang="en-US" sz="1100" b="1" spc="100" kern="0" dirty="0">
                <a:solidFill>
                  <a:srgbClr val="A3ACBA"/>
                </a:solidFill>
                <a:latin typeface="Calibri" pitchFamily="34" charset="0"/>
                <a:ea typeface="Calibri" pitchFamily="34" charset="-122"/>
                <a:cs typeface="Calibri" pitchFamily="34" charset="-120"/>
              </a:rPr>
              <a:t>10 CLASSES</a:t>
            </a:r>
            <a:endParaRPr lang="en-US" sz="1100" dirty="0"/>
          </a:p>
        </p:txBody>
      </p:sp>
      <p:sp>
        <p:nvSpPr>
          <p:cNvPr id="86" name="Text 73"/>
          <p:cNvSpPr txBox="1"/>
          <p:nvPr/>
        </p:nvSpPr>
        <p:spPr>
          <a:xfrm>
            <a:off x="1737360" y="5504688"/>
            <a:ext cx="472745"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car</a:t>
            </a:r>
            <a:endParaRPr lang="en-US" sz="1150" dirty="0"/>
          </a:p>
        </p:txBody>
      </p:sp>
      <p:sp>
        <p:nvSpPr>
          <p:cNvPr id="87" name="Text 74"/>
          <p:cNvSpPr txBox="1"/>
          <p:nvPr/>
        </p:nvSpPr>
        <p:spPr>
          <a:xfrm>
            <a:off x="2274113" y="5504688"/>
            <a:ext cx="472745"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bus</a:t>
            </a:r>
            <a:endParaRPr lang="en-US" sz="1150" dirty="0"/>
          </a:p>
        </p:txBody>
      </p:sp>
      <p:sp>
        <p:nvSpPr>
          <p:cNvPr id="88" name="Text 75"/>
          <p:cNvSpPr txBox="1"/>
          <p:nvPr/>
        </p:nvSpPr>
        <p:spPr>
          <a:xfrm>
            <a:off x="2810866" y="5504688"/>
            <a:ext cx="617220"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truck</a:t>
            </a:r>
            <a:endParaRPr lang="en-US" sz="1150" dirty="0"/>
          </a:p>
        </p:txBody>
      </p:sp>
      <p:sp>
        <p:nvSpPr>
          <p:cNvPr id="89" name="Text 76"/>
          <p:cNvSpPr txBox="1"/>
          <p:nvPr/>
        </p:nvSpPr>
        <p:spPr>
          <a:xfrm>
            <a:off x="3492094" y="5504688"/>
            <a:ext cx="978408"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motorcycle</a:t>
            </a:r>
            <a:endParaRPr lang="en-US" sz="1150" dirty="0"/>
          </a:p>
        </p:txBody>
      </p:sp>
      <p:sp>
        <p:nvSpPr>
          <p:cNvPr id="90" name="Text 77"/>
          <p:cNvSpPr txBox="1"/>
          <p:nvPr/>
        </p:nvSpPr>
        <p:spPr>
          <a:xfrm>
            <a:off x="4534510" y="5504688"/>
            <a:ext cx="1122883"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autorickshaw</a:t>
            </a:r>
            <a:endParaRPr lang="en-US" sz="1150" dirty="0"/>
          </a:p>
        </p:txBody>
      </p:sp>
      <p:sp>
        <p:nvSpPr>
          <p:cNvPr id="91" name="Text 78"/>
          <p:cNvSpPr txBox="1"/>
          <p:nvPr/>
        </p:nvSpPr>
        <p:spPr>
          <a:xfrm>
            <a:off x="5721401" y="5504688"/>
            <a:ext cx="689458" cy="365760"/>
          </a:xfrm>
          <a:prstGeom prst="roundRect">
            <a:avLst>
              <a:gd name="adj" fmla="val 50000"/>
            </a:avLst>
          </a:prstGeom>
          <a:solidFill>
            <a:srgbClr val="1E252F"/>
          </a:solidFill>
          <a:ln w="12700">
            <a:solidFill>
              <a:srgbClr val="2E3845"/>
            </a:solidFill>
          </a:ln>
        </p:spPr>
        <p:txBody>
          <a:bodyPr wrap="square" lIns="0" tIns="0" rIns="0" bIns="0" rtlCol="0" anchor="ctr"/>
          <a:lstStyle/>
          <a:p>
            <a:pPr algn="ctr" indent="0" marL="0">
              <a:buNone/>
            </a:pPr>
            <a:r>
              <a:rPr lang="en-US" sz="1150" dirty="0">
                <a:solidFill>
                  <a:srgbClr val="F2F4F7"/>
                </a:solidFill>
                <a:latin typeface="Consolas" pitchFamily="34" charset="0"/>
                <a:ea typeface="Consolas" pitchFamily="34" charset="-122"/>
                <a:cs typeface="Consolas" pitchFamily="34" charset="-120"/>
              </a:rPr>
              <a:t>person</a:t>
            </a:r>
            <a:endParaRPr lang="en-US" sz="1150" dirty="0"/>
          </a:p>
        </p:txBody>
      </p:sp>
      <p:sp>
        <p:nvSpPr>
          <p:cNvPr id="92" name="Text 79"/>
          <p:cNvSpPr txBox="1"/>
          <p:nvPr/>
        </p:nvSpPr>
        <p:spPr>
          <a:xfrm>
            <a:off x="6474866" y="5504688"/>
            <a:ext cx="906170" cy="365760"/>
          </a:xfrm>
          <a:prstGeom prst="roundRect">
            <a:avLst>
              <a:gd name="adj" fmla="val 50000"/>
            </a:avLst>
          </a:prstGeom>
          <a:solidFill>
            <a:srgbClr val="3DD68C">
              <a:alpha val="20000"/>
            </a:srgbClr>
          </a:solidFill>
          <a:ln w="12700">
            <a:solidFill>
              <a:srgbClr val="3DD68C"/>
            </a:solidFill>
          </a:ln>
        </p:spPr>
        <p:txBody>
          <a:bodyPr wrap="square" lIns="0" tIns="0" rIns="0" bIns="0" rtlCol="0" anchor="ctr"/>
          <a:lstStyle/>
          <a:p>
            <a:pPr algn="ctr" indent="0" marL="0">
              <a:buNone/>
            </a:pPr>
            <a:r>
              <a:rPr lang="en-US" sz="1150" dirty="0">
                <a:solidFill>
                  <a:srgbClr val="3DD68C"/>
                </a:solidFill>
                <a:latin typeface="Consolas" pitchFamily="34" charset="0"/>
                <a:ea typeface="Consolas" pitchFamily="34" charset="-122"/>
                <a:cs typeface="Consolas" pitchFamily="34" charset="-120"/>
              </a:rPr>
              <a:t>crosswalk</a:t>
            </a:r>
            <a:endParaRPr lang="en-US" sz="1150" dirty="0"/>
          </a:p>
        </p:txBody>
      </p:sp>
      <p:sp>
        <p:nvSpPr>
          <p:cNvPr id="93" name="Text 80"/>
          <p:cNvSpPr txBox="1"/>
          <p:nvPr/>
        </p:nvSpPr>
        <p:spPr>
          <a:xfrm>
            <a:off x="7445045" y="5504688"/>
            <a:ext cx="1122883" cy="365760"/>
          </a:xfrm>
          <a:prstGeom prst="roundRect">
            <a:avLst>
              <a:gd name="adj" fmla="val 50000"/>
            </a:avLst>
          </a:prstGeom>
          <a:solidFill>
            <a:srgbClr val="3DD68C">
              <a:alpha val="20000"/>
            </a:srgbClr>
          </a:solidFill>
          <a:ln w="12700">
            <a:solidFill>
              <a:srgbClr val="3DD68C"/>
            </a:solidFill>
          </a:ln>
        </p:spPr>
        <p:txBody>
          <a:bodyPr wrap="square" lIns="0" tIns="0" rIns="0" bIns="0" rtlCol="0" anchor="ctr"/>
          <a:lstStyle/>
          <a:p>
            <a:pPr algn="ctr" indent="0" marL="0">
              <a:buNone/>
            </a:pPr>
            <a:r>
              <a:rPr lang="en-US" sz="1150" dirty="0">
                <a:solidFill>
                  <a:srgbClr val="3DD68C"/>
                </a:solidFill>
                <a:latin typeface="Consolas" pitchFamily="34" charset="0"/>
                <a:ea typeface="Consolas" pitchFamily="34" charset="-122"/>
                <a:cs typeface="Consolas" pitchFamily="34" charset="-120"/>
              </a:rPr>
              <a:t>signal_green</a:t>
            </a:r>
            <a:endParaRPr lang="en-US" sz="1150" dirty="0"/>
          </a:p>
        </p:txBody>
      </p:sp>
      <p:sp>
        <p:nvSpPr>
          <p:cNvPr id="94" name="Text 81"/>
          <p:cNvSpPr txBox="1"/>
          <p:nvPr/>
        </p:nvSpPr>
        <p:spPr>
          <a:xfrm>
            <a:off x="8631936" y="5504688"/>
            <a:ext cx="978408" cy="365760"/>
          </a:xfrm>
          <a:prstGeom prst="roundRect">
            <a:avLst>
              <a:gd name="adj" fmla="val 50000"/>
            </a:avLst>
          </a:prstGeom>
          <a:solidFill>
            <a:srgbClr val="F2545B">
              <a:alpha val="20000"/>
            </a:srgbClr>
          </a:solidFill>
          <a:ln w="12700">
            <a:solidFill>
              <a:srgbClr val="F2545B"/>
            </a:solidFill>
          </a:ln>
        </p:spPr>
        <p:txBody>
          <a:bodyPr wrap="square" lIns="0" tIns="0" rIns="0" bIns="0" rtlCol="0" anchor="ctr"/>
          <a:lstStyle/>
          <a:p>
            <a:pPr algn="ctr" indent="0" marL="0">
              <a:buNone/>
            </a:pPr>
            <a:r>
              <a:rPr lang="en-US" sz="1150" dirty="0">
                <a:solidFill>
                  <a:srgbClr val="F2545B"/>
                </a:solidFill>
                <a:latin typeface="Consolas" pitchFamily="34" charset="0"/>
                <a:ea typeface="Consolas" pitchFamily="34" charset="-122"/>
                <a:cs typeface="Consolas" pitchFamily="34" charset="-120"/>
              </a:rPr>
              <a:t>signal_red</a:t>
            </a:r>
            <a:endParaRPr lang="en-US" sz="1150" dirty="0"/>
          </a:p>
        </p:txBody>
      </p:sp>
      <p:sp>
        <p:nvSpPr>
          <p:cNvPr id="95" name="Text 82"/>
          <p:cNvSpPr txBox="1"/>
          <p:nvPr/>
        </p:nvSpPr>
        <p:spPr>
          <a:xfrm>
            <a:off x="9674352" y="5504688"/>
            <a:ext cx="1411834" cy="365760"/>
          </a:xfrm>
          <a:prstGeom prst="roundRect">
            <a:avLst>
              <a:gd name="adj" fmla="val 50000"/>
            </a:avLst>
          </a:prstGeom>
          <a:solidFill>
            <a:srgbClr val="F5B43C">
              <a:alpha val="20000"/>
            </a:srgbClr>
          </a:solidFill>
          <a:ln w="12700">
            <a:solidFill>
              <a:srgbClr val="F5B43C"/>
            </a:solidFill>
          </a:ln>
        </p:spPr>
        <p:txBody>
          <a:bodyPr wrap="square" lIns="0" tIns="0" rIns="0" bIns="0" rtlCol="0" anchor="ctr"/>
          <a:lstStyle/>
          <a:p>
            <a:pPr algn="ctr" indent="0" marL="0">
              <a:buNone/>
            </a:pPr>
            <a:r>
              <a:rPr lang="en-US" sz="1150" dirty="0">
                <a:solidFill>
                  <a:srgbClr val="F5B43C"/>
                </a:solidFill>
                <a:latin typeface="Consolas" pitchFamily="34" charset="0"/>
                <a:ea typeface="Consolas" pitchFamily="34" charset="-122"/>
                <a:cs typeface="Consolas" pitchFamily="34" charset="-120"/>
              </a:rPr>
              <a:t>signal_countdown</a:t>
            </a:r>
            <a:endParaRPr lang="en-US" sz="1150" dirty="0"/>
          </a:p>
        </p:txBody>
      </p:sp>
      <p:sp>
        <p:nvSpPr>
          <p:cNvPr id="96" name="Text 83"/>
          <p:cNvSpPr txBox="1"/>
          <p:nvPr/>
        </p:nvSpPr>
        <p:spPr>
          <a:xfrm>
            <a:off x="1737360" y="5943600"/>
            <a:ext cx="9875520" cy="274320"/>
          </a:xfrm>
          <a:prstGeom prst="rect">
            <a:avLst/>
          </a:prstGeom>
          <a:noFill/>
          <a:ln/>
        </p:spPr>
        <p:txBody>
          <a:bodyPr wrap="square" lIns="0" tIns="0" rIns="0" bIns="0" rtlCol="0" anchor="t"/>
          <a:lstStyle/>
          <a:p>
            <a:pPr indent="0" marL="0">
              <a:buNone/>
            </a:pPr>
            <a:r>
              <a:rPr lang="en-US" sz="1100" b="1" dirty="0">
                <a:solidFill>
                  <a:srgbClr val="F2F4F7"/>
                </a:solidFill>
                <a:latin typeface="Calibri" pitchFamily="34" charset="0"/>
                <a:ea typeface="Calibri" pitchFamily="34" charset="-122"/>
                <a:cs typeface="Calibri" pitchFamily="34" charset="-120"/>
              </a:rPr>
              <a:t>grey</a:t>
            </a:r>
            <a:pPr indent="0" marL="0">
              <a:buNone/>
            </a:pPr>
            <a:r>
              <a:rPr lang="en-US" sz="1100" dirty="0">
                <a:solidFill>
                  <a:srgbClr val="A3ACBA"/>
                </a:solidFill>
                <a:latin typeface="Calibri" pitchFamily="34" charset="0"/>
                <a:ea typeface="Calibri" pitchFamily="34" charset="-122"/>
                <a:cs typeface="Calibri" pitchFamily="34" charset="-120"/>
              </a:rPr>
              <a:t> context   </a:t>
            </a:r>
            <a:pPr indent="0" marL="0">
              <a:buNone/>
            </a:pPr>
            <a:r>
              <a:rPr lang="en-US" sz="1100" b="1" dirty="0">
                <a:solidFill>
                  <a:srgbClr val="3DD68C"/>
                </a:solidFill>
                <a:latin typeface="Calibri" pitchFamily="34" charset="0"/>
                <a:ea typeface="Calibri" pitchFamily="34" charset="-122"/>
                <a:cs typeface="Calibri" pitchFamily="34" charset="-120"/>
              </a:rPr>
              <a:t>green</a:t>
            </a:r>
            <a:pPr indent="0" marL="0">
              <a:buNone/>
            </a:pPr>
            <a:r>
              <a:rPr lang="en-US" sz="1100" dirty="0">
                <a:solidFill>
                  <a:srgbClr val="A3ACBA"/>
                </a:solidFill>
                <a:latin typeface="Calibri" pitchFamily="34" charset="0"/>
                <a:ea typeface="Calibri" pitchFamily="34" charset="-122"/>
                <a:cs typeface="Calibri" pitchFamily="34" charset="-120"/>
              </a:rPr>
              <a:t> evidence toward SAFE (confidence-gated)   </a:t>
            </a:r>
            <a:pPr indent="0" marL="0">
              <a:buNone/>
            </a:pPr>
            <a:r>
              <a:rPr lang="en-US" sz="1100" b="1" dirty="0">
                <a:solidFill>
                  <a:srgbClr val="F2545B"/>
                </a:solidFill>
                <a:latin typeface="Calibri" pitchFamily="34" charset="0"/>
                <a:ea typeface="Calibri" pitchFamily="34" charset="-122"/>
                <a:cs typeface="Calibri" pitchFamily="34" charset="-120"/>
              </a:rPr>
              <a:t>red</a:t>
            </a:r>
            <a:pPr indent="0" marL="0">
              <a:buNone/>
            </a:pPr>
            <a:r>
              <a:rPr lang="en-US" sz="1100" dirty="0">
                <a:solidFill>
                  <a:srgbClr val="A3ACBA"/>
                </a:solidFill>
                <a:latin typeface="Calibri" pitchFamily="34" charset="0"/>
                <a:ea typeface="Calibri" pitchFamily="34" charset="-122"/>
                <a:cs typeface="Calibri" pitchFamily="34" charset="-120"/>
              </a:rPr>
              <a:t> evidence toward WAIT   </a:t>
            </a:r>
            <a:pPr indent="0" marL="0">
              <a:buNone/>
            </a:pPr>
            <a:r>
              <a:rPr lang="en-US" sz="1100" b="1" dirty="0">
                <a:solidFill>
                  <a:srgbClr val="F5B43C"/>
                </a:solidFill>
                <a:latin typeface="Calibri" pitchFamily="34" charset="0"/>
                <a:ea typeface="Calibri" pitchFamily="34" charset="-122"/>
                <a:cs typeface="Calibri" pitchFamily="34" charset="-120"/>
              </a:rPr>
              <a:t>amber</a:t>
            </a:r>
            <a:pPr indent="0" marL="0">
              <a:buNone/>
            </a:pPr>
            <a:r>
              <a:rPr lang="en-US" sz="1100" dirty="0">
                <a:solidFill>
                  <a:srgbClr val="A3ACBA"/>
                </a:solidFill>
                <a:latin typeface="Calibri" pitchFamily="34" charset="0"/>
                <a:ea typeface="Calibri" pitchFamily="34" charset="-122"/>
                <a:cs typeface="Calibri" pitchFamily="34" charset="-120"/>
              </a:rPr>
              <a:t> no training data yet, not used in decisions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Detector accuracy per class: a component metric</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8</a:t>
            </a:r>
            <a:endParaRPr lang="en-US" sz="1000" dirty="0"/>
          </a:p>
        </p:txBody>
      </p:sp>
      <p:sp>
        <p:nvSpPr>
          <p:cNvPr id="15" name="Text 13"/>
          <p:cNvSpPr txBox="1"/>
          <p:nvPr/>
        </p:nvSpPr>
        <p:spPr>
          <a:xfrm>
            <a:off x="548640" y="1691640"/>
            <a:ext cx="3474720" cy="1005840"/>
          </a:xfrm>
          <a:prstGeom prst="rect">
            <a:avLst/>
          </a:prstGeom>
          <a:noFill/>
          <a:ln/>
        </p:spPr>
        <p:txBody>
          <a:bodyPr wrap="square" lIns="0" tIns="0" rIns="0" bIns="0" rtlCol="0" anchor="t"/>
          <a:lstStyle/>
          <a:p>
            <a:pPr indent="0" marL="0">
              <a:buNone/>
            </a:pPr>
            <a:r>
              <a:rPr lang="en-US" sz="6800" b="1" dirty="0">
                <a:solidFill>
                  <a:srgbClr val="5EC8E5"/>
                </a:solidFill>
                <a:latin typeface="Calibri" pitchFamily="34" charset="0"/>
                <a:ea typeface="Calibri" pitchFamily="34" charset="-122"/>
                <a:cs typeface="Calibri" pitchFamily="34" charset="-120"/>
              </a:rPr>
              <a:t>0.829</a:t>
            </a:r>
            <a:endParaRPr lang="en-US" sz="6800" dirty="0"/>
          </a:p>
        </p:txBody>
      </p:sp>
      <p:sp>
        <p:nvSpPr>
          <p:cNvPr id="16" name="Text 14"/>
          <p:cNvSpPr txBox="1"/>
          <p:nvPr/>
        </p:nvSpPr>
        <p:spPr>
          <a:xfrm>
            <a:off x="548640" y="2697480"/>
            <a:ext cx="3474720" cy="320040"/>
          </a:xfrm>
          <a:prstGeom prst="rect">
            <a:avLst/>
          </a:prstGeom>
          <a:noFill/>
          <a:ln/>
        </p:spPr>
        <p:txBody>
          <a:bodyPr wrap="square" lIns="0" tIns="0" rIns="0" bIns="0" rtlCol="0" anchor="t"/>
          <a:lstStyle/>
          <a:p>
            <a:pPr indent="0" marL="0">
              <a:buNone/>
            </a:pPr>
            <a:r>
              <a:rPr lang="en-US" sz="1800" b="1" dirty="0">
                <a:solidFill>
                  <a:srgbClr val="F2F4F7"/>
                </a:solidFill>
                <a:latin typeface="Calibri" pitchFamily="34" charset="0"/>
                <a:ea typeface="Calibri" pitchFamily="34" charset="-122"/>
                <a:cs typeface="Calibri" pitchFamily="34" charset="-120"/>
              </a:rPr>
              <a:t>overall mAP50</a:t>
            </a:r>
            <a:endParaRPr lang="en-US" sz="1800" dirty="0"/>
          </a:p>
        </p:txBody>
      </p:sp>
      <p:sp>
        <p:nvSpPr>
          <p:cNvPr id="17" name="Text 15"/>
          <p:cNvSpPr txBox="1"/>
          <p:nvPr/>
        </p:nvSpPr>
        <p:spPr>
          <a:xfrm>
            <a:off x="548640" y="3044952"/>
            <a:ext cx="3291840" cy="59436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Mean Average Precision at box overlap (IoU) ≥ 0.5, on the detector’s validation set.</a:t>
            </a:r>
            <a:endParaRPr lang="en-US" sz="1200" dirty="0"/>
          </a:p>
        </p:txBody>
      </p:sp>
      <p:sp>
        <p:nvSpPr>
          <p:cNvPr id="18" name="Shape 16"/>
          <p:cNvSpPr/>
          <p:nvPr/>
        </p:nvSpPr>
        <p:spPr>
          <a:xfrm>
            <a:off x="548640" y="3931920"/>
            <a:ext cx="3291840" cy="1600200"/>
          </a:xfrm>
          <a:prstGeom prst="roundRect">
            <a:avLst>
              <a:gd name="adj" fmla="val 5714"/>
            </a:avLst>
          </a:prstGeom>
          <a:solidFill>
            <a:srgbClr val="F5B43C">
              <a:alpha val="12000"/>
            </a:srgbClr>
          </a:solidFill>
          <a:ln w="12700">
            <a:solidFill>
              <a:srgbClr val="F5B43C"/>
            </a:solidFill>
            <a:prstDash val="solid"/>
          </a:ln>
        </p:spPr>
      </p:sp>
      <p:pic>
        <p:nvPicPr>
          <p:cNvPr id="19" name="Image 0" descr="preencoded.png">    </p:cNvPr>
          <p:cNvPicPr>
            <a:picLocks noChangeAspect="1"/>
          </p:cNvPicPr>
          <p:nvPr/>
        </p:nvPicPr>
        <p:blipFill>
          <a:blip r:embed="rId1"/>
          <a:stretch>
            <a:fillRect/>
          </a:stretch>
        </p:blipFill>
        <p:spPr>
          <a:xfrm>
            <a:off x="749808" y="4114800"/>
            <a:ext cx="292608" cy="292608"/>
          </a:xfrm>
          <a:prstGeom prst="rect">
            <a:avLst/>
          </a:prstGeom>
        </p:spPr>
      </p:pic>
      <p:sp>
        <p:nvSpPr>
          <p:cNvPr id="20" name="Text 17"/>
          <p:cNvSpPr txBox="1"/>
          <p:nvPr/>
        </p:nvSpPr>
        <p:spPr>
          <a:xfrm>
            <a:off x="1143000" y="4096512"/>
            <a:ext cx="2560320" cy="320040"/>
          </a:xfrm>
          <a:prstGeom prst="rect">
            <a:avLst/>
          </a:prstGeom>
          <a:noFill/>
          <a:ln/>
        </p:spPr>
        <p:txBody>
          <a:bodyPr wrap="square" lIns="0" tIns="0" rIns="0" bIns="0" rtlCol="0" anchor="t"/>
          <a:lstStyle/>
          <a:p>
            <a:pPr indent="0" marL="0">
              <a:buNone/>
            </a:pPr>
            <a:r>
              <a:rPr lang="en-US" sz="1400" b="1" dirty="0">
                <a:solidFill>
                  <a:srgbClr val="F5B43C"/>
                </a:solidFill>
                <a:latin typeface="Calibri" pitchFamily="34" charset="0"/>
                <a:ea typeface="Calibri" pitchFamily="34" charset="-122"/>
                <a:cs typeface="Calibri" pitchFamily="34" charset="-120"/>
              </a:rPr>
              <a:t>Component metric only</a:t>
            </a:r>
            <a:endParaRPr lang="en-US" sz="1400" dirty="0"/>
          </a:p>
        </p:txBody>
      </p:sp>
      <p:sp>
        <p:nvSpPr>
          <p:cNvPr id="21" name="Text 18"/>
          <p:cNvSpPr txBox="1"/>
          <p:nvPr/>
        </p:nvSpPr>
        <p:spPr>
          <a:xfrm>
            <a:off x="749808" y="4498848"/>
            <a:ext cx="2926080" cy="960120"/>
          </a:xfrm>
          <a:prstGeom prst="rect">
            <a:avLst/>
          </a:prstGeom>
          <a:noFill/>
          <a:ln/>
        </p:spPr>
        <p:txBody>
          <a:bodyPr wrap="square" lIns="0" tIns="0" rIns="0" bIns="0" rtlCol="0" anchor="t"/>
          <a:lstStyle/>
          <a:p>
            <a:pPr indent="0" marL="0">
              <a:buNone/>
            </a:pPr>
            <a:r>
              <a:rPr lang="en-US" sz="1200" dirty="0">
                <a:solidFill>
                  <a:srgbClr val="F2F4F7"/>
                </a:solidFill>
                <a:latin typeface="Calibri" pitchFamily="34" charset="0"/>
                <a:ea typeface="Calibri" pitchFamily="34" charset="-122"/>
                <a:cs typeface="Calibri" pitchFamily="34" charset="-120"/>
              </a:rPr>
              <a:t>This measures how well the detector finds and labels objects. It is not a measure of whole-system accuracy or safety.</a:t>
            </a:r>
            <a:endParaRPr lang="en-US" sz="1200" dirty="0"/>
          </a:p>
        </p:txBody>
      </p:sp>
      <p:graphicFrame>
        <p:nvGraphicFramePr>
          <p:cNvPr id="22" name="Chart 0" descr=""/>
          <p:cNvGraphicFramePr/>
          <p:nvPr/>
        </p:nvGraphicFramePr>
        <p:xfrm>
          <a:off x="4069080" y="1645920"/>
          <a:ext cx="5074920" cy="4343400"/>
        </p:xfrm>
        <a:graphic xmlns:a="http://schemas.openxmlformats.org/drawingml/2006/main">
          <a:graphicData uri="http://schemas.openxmlformats.org/drawingml/2006/chart">
            <c:chart xmlns:c="http://schemas.openxmlformats.org/drawingml/2006/chart" r:id="rId2"/>
          </a:graphicData>
        </a:graphic>
      </p:graphicFrame>
      <p:sp>
        <p:nvSpPr>
          <p:cNvPr id="23" name="Shape 19"/>
          <p:cNvSpPr/>
          <p:nvPr/>
        </p:nvSpPr>
        <p:spPr>
          <a:xfrm>
            <a:off x="5394960" y="6071616"/>
            <a:ext cx="146304" cy="146304"/>
          </a:xfrm>
          <a:prstGeom prst="rect">
            <a:avLst/>
          </a:prstGeom>
          <a:solidFill>
            <a:srgbClr val="5EC8E5"/>
          </a:solidFill>
          <a:ln/>
        </p:spPr>
      </p:sp>
      <p:sp>
        <p:nvSpPr>
          <p:cNvPr id="24" name="Text 20"/>
          <p:cNvSpPr txBox="1"/>
          <p:nvPr/>
        </p:nvSpPr>
        <p:spPr>
          <a:xfrm>
            <a:off x="5596128" y="6016752"/>
            <a:ext cx="1828800" cy="256032"/>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large / nearby objects</a:t>
            </a:r>
            <a:endParaRPr lang="en-US" sz="1100" dirty="0"/>
          </a:p>
        </p:txBody>
      </p:sp>
      <p:sp>
        <p:nvSpPr>
          <p:cNvPr id="25" name="Shape 21"/>
          <p:cNvSpPr/>
          <p:nvPr/>
        </p:nvSpPr>
        <p:spPr>
          <a:xfrm>
            <a:off x="7269480" y="6071616"/>
            <a:ext cx="146304" cy="146304"/>
          </a:xfrm>
          <a:prstGeom prst="rect">
            <a:avLst/>
          </a:prstGeom>
          <a:solidFill>
            <a:srgbClr val="F5B43C"/>
          </a:solidFill>
          <a:ln/>
        </p:spPr>
      </p:sp>
      <p:sp>
        <p:nvSpPr>
          <p:cNvPr id="26" name="Text 22"/>
          <p:cNvSpPr txBox="1"/>
          <p:nvPr/>
        </p:nvSpPr>
        <p:spPr>
          <a:xfrm>
            <a:off x="7470648" y="6016752"/>
            <a:ext cx="1828800" cy="256032"/>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traffic-signal heads</a:t>
            </a:r>
            <a:endParaRPr lang="en-US" sz="1100" dirty="0"/>
          </a:p>
        </p:txBody>
      </p:sp>
      <p:sp>
        <p:nvSpPr>
          <p:cNvPr id="27" name="Shape 23"/>
          <p:cNvSpPr/>
          <p:nvPr/>
        </p:nvSpPr>
        <p:spPr>
          <a:xfrm>
            <a:off x="9326880" y="1691640"/>
            <a:ext cx="2313432" cy="4297680"/>
          </a:xfrm>
          <a:prstGeom prst="roundRect">
            <a:avLst>
              <a:gd name="adj" fmla="val 3953"/>
            </a:avLst>
          </a:prstGeom>
          <a:solidFill>
            <a:srgbClr val="161B22"/>
          </a:solidFill>
          <a:ln w="9525">
            <a:solidFill>
              <a:srgbClr val="2E3845"/>
            </a:solidFill>
            <a:prstDash val="solid"/>
          </a:ln>
        </p:spPr>
      </p:sp>
      <p:sp>
        <p:nvSpPr>
          <p:cNvPr id="28" name="Text 24"/>
          <p:cNvSpPr txBox="1"/>
          <p:nvPr/>
        </p:nvSpPr>
        <p:spPr>
          <a:xfrm>
            <a:off x="9491472" y="1828800"/>
            <a:ext cx="2011680" cy="54864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Why signals score lower</a:t>
            </a:r>
            <a:endParaRPr lang="en-US" sz="1400" dirty="0"/>
          </a:p>
        </p:txBody>
      </p:sp>
      <p:sp>
        <p:nvSpPr>
          <p:cNvPr id="29" name="Shape 25"/>
          <p:cNvSpPr/>
          <p:nvPr/>
        </p:nvSpPr>
        <p:spPr>
          <a:xfrm>
            <a:off x="9491472" y="2468880"/>
            <a:ext cx="1984248" cy="1737360"/>
          </a:xfrm>
          <a:prstGeom prst="roundRect">
            <a:avLst>
              <a:gd name="adj" fmla="val 2632"/>
            </a:avLst>
          </a:prstGeom>
          <a:solidFill>
            <a:srgbClr val="222A35"/>
          </a:solidFill>
          <a:ln/>
        </p:spPr>
      </p:sp>
      <p:sp>
        <p:nvSpPr>
          <p:cNvPr id="30" name="Shape 26"/>
          <p:cNvSpPr/>
          <p:nvPr/>
        </p:nvSpPr>
        <p:spPr>
          <a:xfrm>
            <a:off x="9601200" y="3063240"/>
            <a:ext cx="1234440" cy="1005840"/>
          </a:xfrm>
          <a:prstGeom prst="rect">
            <a:avLst/>
          </a:prstGeom>
          <a:noFill/>
          <a:ln w="19050">
            <a:solidFill>
              <a:srgbClr val="5EC8E5"/>
            </a:solidFill>
            <a:prstDash val="solid"/>
          </a:ln>
        </p:spPr>
      </p:sp>
      <p:pic>
        <p:nvPicPr>
          <p:cNvPr id="31" name="Image 1" descr="preencoded.png">    </p:cNvPr>
          <p:cNvPicPr>
            <a:picLocks noChangeAspect="1"/>
          </p:cNvPicPr>
          <p:nvPr/>
        </p:nvPicPr>
        <p:blipFill>
          <a:blip r:embed="rId3"/>
          <a:stretch>
            <a:fillRect/>
          </a:stretch>
        </p:blipFill>
        <p:spPr>
          <a:xfrm>
            <a:off x="9710928" y="3090672"/>
            <a:ext cx="1005840" cy="1005840"/>
          </a:xfrm>
          <a:prstGeom prst="rect">
            <a:avLst/>
          </a:prstGeom>
        </p:spPr>
      </p:pic>
      <p:sp>
        <p:nvSpPr>
          <p:cNvPr id="32" name="Shape 27"/>
          <p:cNvSpPr/>
          <p:nvPr/>
        </p:nvSpPr>
        <p:spPr>
          <a:xfrm>
            <a:off x="11155680" y="2606040"/>
            <a:ext cx="91440" cy="201168"/>
          </a:xfrm>
          <a:prstGeom prst="rect">
            <a:avLst/>
          </a:prstGeom>
          <a:noFill/>
          <a:ln w="15875">
            <a:solidFill>
              <a:srgbClr val="F5B43C"/>
            </a:solidFill>
            <a:prstDash val="solid"/>
          </a:ln>
        </p:spPr>
      </p:sp>
      <p:sp>
        <p:nvSpPr>
          <p:cNvPr id="33" name="Text 28"/>
          <p:cNvSpPr txBox="1"/>
          <p:nvPr/>
        </p:nvSpPr>
        <p:spPr>
          <a:xfrm>
            <a:off x="9601200" y="2816352"/>
            <a:ext cx="914400" cy="228600"/>
          </a:xfrm>
          <a:prstGeom prst="rect">
            <a:avLst/>
          </a:prstGeom>
          <a:noFill/>
          <a:ln/>
        </p:spPr>
        <p:txBody>
          <a:bodyPr wrap="square" lIns="0" tIns="0" rIns="0" bIns="0" rtlCol="0" anchor="t"/>
          <a:lstStyle/>
          <a:p>
            <a:pPr indent="0" marL="0">
              <a:buNone/>
            </a:pPr>
            <a:r>
              <a:rPr lang="en-US" sz="1050" dirty="0">
                <a:solidFill>
                  <a:srgbClr val="5EC8E5"/>
                </a:solidFill>
                <a:latin typeface="Consolas" pitchFamily="34" charset="0"/>
                <a:ea typeface="Consolas" pitchFamily="34" charset="-122"/>
                <a:cs typeface="Consolas" pitchFamily="34" charset="-120"/>
              </a:rPr>
              <a:t>car</a:t>
            </a:r>
            <a:endParaRPr lang="en-US" sz="1050" dirty="0"/>
          </a:p>
        </p:txBody>
      </p:sp>
      <p:sp>
        <p:nvSpPr>
          <p:cNvPr id="34" name="Text 29"/>
          <p:cNvSpPr txBox="1"/>
          <p:nvPr/>
        </p:nvSpPr>
        <p:spPr>
          <a:xfrm>
            <a:off x="10561320" y="2834640"/>
            <a:ext cx="868680" cy="228600"/>
          </a:xfrm>
          <a:prstGeom prst="rect">
            <a:avLst/>
          </a:prstGeom>
          <a:noFill/>
          <a:ln/>
        </p:spPr>
        <p:txBody>
          <a:bodyPr wrap="square" lIns="0" tIns="0" rIns="0" bIns="0" rtlCol="0" anchor="t"/>
          <a:lstStyle/>
          <a:p>
            <a:pPr algn="r" indent="0" marL="0">
              <a:buNone/>
            </a:pPr>
            <a:r>
              <a:rPr lang="en-US" sz="1050" dirty="0">
                <a:solidFill>
                  <a:srgbClr val="F5B43C"/>
                </a:solidFill>
                <a:latin typeface="Consolas" pitchFamily="34" charset="0"/>
                <a:ea typeface="Consolas" pitchFamily="34" charset="-122"/>
                <a:cs typeface="Consolas" pitchFamily="34" charset="-120"/>
              </a:rPr>
              <a:t>signal</a:t>
            </a:r>
            <a:endParaRPr lang="en-US" sz="1050" dirty="0"/>
          </a:p>
        </p:txBody>
      </p:sp>
      <p:sp>
        <p:nvSpPr>
          <p:cNvPr id="35" name="Text 30"/>
          <p:cNvSpPr txBox="1"/>
          <p:nvPr/>
        </p:nvSpPr>
        <p:spPr>
          <a:xfrm>
            <a:off x="9491472" y="4343400"/>
            <a:ext cx="2011680" cy="155448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A distant signal head may be only a few pixels wide. A nearby car fills a large part of the frame. Small objects are inherently harder to detect.</a:t>
            </a:r>
            <a:endParaRPr lang="en-US" sz="1150" dirty="0"/>
          </a:p>
        </p:txBody>
      </p:sp>
      <p:sp>
        <p:nvSpPr>
          <p:cNvPr id="36" name="Text 31"/>
          <p:cNvSpPr txBox="1"/>
          <p:nvPr/>
        </p:nvSpPr>
        <p:spPr>
          <a:xfrm>
            <a:off x="548640" y="6016752"/>
            <a:ext cx="3840480" cy="256032"/>
          </a:xfrm>
          <a:prstGeom prst="rect">
            <a:avLst/>
          </a:prstGeom>
          <a:noFill/>
          <a:ln/>
        </p:spPr>
        <p:txBody>
          <a:bodyPr wrap="square" lIns="0" tIns="0" rIns="0" bIns="0" rtlCol="0" anchor="t"/>
          <a:lstStyle/>
          <a:p>
            <a:pPr indent="0" marL="0">
              <a:buNone/>
            </a:pPr>
            <a:r>
              <a:rPr lang="en-US" sz="1050" i="1" dirty="0">
                <a:solidFill>
                  <a:srgbClr val="667085"/>
                </a:solidFill>
                <a:latin typeface="Calibri" pitchFamily="34" charset="0"/>
                <a:ea typeface="Calibri" pitchFamily="34" charset="-122"/>
                <a:cs typeface="Calibri" pitchFamily="34" charset="-120"/>
              </a:rPr>
              <a:t>signal_countdown is not scored: no labelled data yet.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Tracking: ByteTrack gives every vehicle a stable identity</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One frame shows where things are. Only identity across frames shows which way they are moving.</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9</a:t>
            </a:r>
            <a:endParaRPr lang="en-US" sz="1000" dirty="0"/>
          </a:p>
        </p:txBody>
      </p:sp>
      <p:sp>
        <p:nvSpPr>
          <p:cNvPr id="16" name="Shape 14"/>
          <p:cNvSpPr/>
          <p:nvPr/>
        </p:nvSpPr>
        <p:spPr>
          <a:xfrm>
            <a:off x="548640" y="1874520"/>
            <a:ext cx="5440680" cy="2926080"/>
          </a:xfrm>
          <a:prstGeom prst="roundRect">
            <a:avLst>
              <a:gd name="adj" fmla="val 3125"/>
            </a:avLst>
          </a:prstGeom>
          <a:solidFill>
            <a:srgbClr val="161B22"/>
          </a:solidFill>
          <a:ln w="9525">
            <a:solidFill>
              <a:srgbClr val="2E3845"/>
            </a:solidFill>
            <a:prstDash val="solid"/>
          </a:ln>
        </p:spPr>
      </p:sp>
      <p:pic>
        <p:nvPicPr>
          <p:cNvPr id="17" name="Image 0" descr="preencoded.png">    </p:cNvPr>
          <p:cNvPicPr>
            <a:picLocks noChangeAspect="1"/>
          </p:cNvPicPr>
          <p:nvPr/>
        </p:nvPicPr>
        <p:blipFill>
          <a:blip r:embed="rId1"/>
          <a:stretch>
            <a:fillRect/>
          </a:stretch>
        </p:blipFill>
        <p:spPr>
          <a:xfrm>
            <a:off x="777240" y="2011680"/>
            <a:ext cx="274320" cy="274320"/>
          </a:xfrm>
          <a:prstGeom prst="rect">
            <a:avLst/>
          </a:prstGeom>
        </p:spPr>
      </p:pic>
      <p:sp>
        <p:nvSpPr>
          <p:cNvPr id="18" name="Text 15"/>
          <p:cNvSpPr txBox="1"/>
          <p:nvPr/>
        </p:nvSpPr>
        <p:spPr>
          <a:xfrm>
            <a:off x="1143000" y="1984248"/>
            <a:ext cx="3657600"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Detection only</a:t>
            </a:r>
            <a:endParaRPr lang="en-US" sz="1600" dirty="0"/>
          </a:p>
        </p:txBody>
      </p:sp>
      <p:sp>
        <p:nvSpPr>
          <p:cNvPr id="19" name="Shape 16"/>
          <p:cNvSpPr/>
          <p:nvPr/>
        </p:nvSpPr>
        <p:spPr>
          <a:xfrm>
            <a:off x="822960" y="2423160"/>
            <a:ext cx="4892040" cy="2011680"/>
          </a:xfrm>
          <a:prstGeom prst="roundRect">
            <a:avLst>
              <a:gd name="adj" fmla="val 2727"/>
            </a:avLst>
          </a:prstGeom>
          <a:solidFill>
            <a:srgbClr val="222A35"/>
          </a:solidFill>
          <a:ln/>
        </p:spPr>
      </p:sp>
      <p:sp>
        <p:nvSpPr>
          <p:cNvPr id="20" name="Shape 17"/>
          <p:cNvSpPr/>
          <p:nvPr/>
        </p:nvSpPr>
        <p:spPr>
          <a:xfrm flipV="1">
            <a:off x="1188720" y="2514600"/>
            <a:ext cx="1828800" cy="1920240"/>
          </a:xfrm>
          <a:prstGeom prst="line">
            <a:avLst/>
          </a:prstGeom>
          <a:noFill/>
          <a:ln w="12700">
            <a:solidFill>
              <a:srgbClr val="2E3845"/>
            </a:solidFill>
            <a:prstDash val="solid"/>
          </a:ln>
        </p:spPr>
      </p:sp>
      <p:sp>
        <p:nvSpPr>
          <p:cNvPr id="21" name="Shape 18"/>
          <p:cNvSpPr/>
          <p:nvPr/>
        </p:nvSpPr>
        <p:spPr>
          <a:xfrm flipH="1" flipV="1">
            <a:off x="3520440" y="2514600"/>
            <a:ext cx="1828800" cy="1920240"/>
          </a:xfrm>
          <a:prstGeom prst="line">
            <a:avLst/>
          </a:prstGeom>
          <a:noFill/>
          <a:ln w="12700">
            <a:solidFill>
              <a:srgbClr val="2E3845"/>
            </a:solidFill>
            <a:prstDash val="solid"/>
          </a:ln>
        </p:spPr>
      </p:sp>
      <p:sp>
        <p:nvSpPr>
          <p:cNvPr id="22" name="Shape 19"/>
          <p:cNvSpPr/>
          <p:nvPr/>
        </p:nvSpPr>
        <p:spPr>
          <a:xfrm>
            <a:off x="2011680" y="3246120"/>
            <a:ext cx="640080" cy="457200"/>
          </a:xfrm>
          <a:prstGeom prst="rect">
            <a:avLst/>
          </a:prstGeom>
          <a:noFill/>
          <a:ln w="15875">
            <a:solidFill>
              <a:srgbClr val="667085"/>
            </a:solidFill>
            <a:prstDash val="dash"/>
          </a:ln>
        </p:spPr>
      </p:sp>
      <p:sp>
        <p:nvSpPr>
          <p:cNvPr id="23" name="Shape 20"/>
          <p:cNvSpPr/>
          <p:nvPr/>
        </p:nvSpPr>
        <p:spPr>
          <a:xfrm>
            <a:off x="1783080" y="3429000"/>
            <a:ext cx="960120" cy="685800"/>
          </a:xfrm>
          <a:prstGeom prst="rect">
            <a:avLst/>
          </a:prstGeom>
          <a:noFill/>
          <a:ln w="19050">
            <a:solidFill>
              <a:srgbClr val="F2F4F7"/>
            </a:solidFill>
            <a:prstDash val="solid"/>
          </a:ln>
        </p:spPr>
      </p:sp>
      <p:sp>
        <p:nvSpPr>
          <p:cNvPr id="24" name="Shape 21"/>
          <p:cNvSpPr/>
          <p:nvPr/>
        </p:nvSpPr>
        <p:spPr>
          <a:xfrm>
            <a:off x="3886200" y="3108960"/>
            <a:ext cx="822960" cy="594360"/>
          </a:xfrm>
          <a:prstGeom prst="rect">
            <a:avLst/>
          </a:prstGeom>
          <a:noFill/>
          <a:ln w="15875">
            <a:solidFill>
              <a:srgbClr val="667085"/>
            </a:solidFill>
            <a:prstDash val="dash"/>
          </a:ln>
        </p:spPr>
      </p:sp>
      <p:sp>
        <p:nvSpPr>
          <p:cNvPr id="25" name="Shape 22"/>
          <p:cNvSpPr/>
          <p:nvPr/>
        </p:nvSpPr>
        <p:spPr>
          <a:xfrm>
            <a:off x="4114800" y="3081528"/>
            <a:ext cx="566928" cy="411480"/>
          </a:xfrm>
          <a:prstGeom prst="rect">
            <a:avLst/>
          </a:prstGeom>
          <a:noFill/>
          <a:ln w="19050">
            <a:solidFill>
              <a:srgbClr val="F2F4F7"/>
            </a:solidFill>
            <a:prstDash val="solid"/>
          </a:ln>
        </p:spPr>
      </p:sp>
      <p:sp>
        <p:nvSpPr>
          <p:cNvPr id="26" name="Shape 23"/>
          <p:cNvSpPr/>
          <p:nvPr/>
        </p:nvSpPr>
        <p:spPr>
          <a:xfrm flipV="1">
            <a:off x="2651760" y="3291840"/>
            <a:ext cx="1463040" cy="182880"/>
          </a:xfrm>
          <a:prstGeom prst="line">
            <a:avLst/>
          </a:prstGeom>
          <a:noFill/>
          <a:ln w="15875">
            <a:solidFill>
              <a:srgbClr val="F5B43C"/>
            </a:solidFill>
            <a:prstDash val="sysDash"/>
          </a:ln>
        </p:spPr>
      </p:sp>
      <p:sp>
        <p:nvSpPr>
          <p:cNvPr id="27" name="Shape 24"/>
          <p:cNvSpPr/>
          <p:nvPr/>
        </p:nvSpPr>
        <p:spPr>
          <a:xfrm flipH="1">
            <a:off x="2743200" y="3611880"/>
            <a:ext cx="1143000" cy="137160"/>
          </a:xfrm>
          <a:prstGeom prst="line">
            <a:avLst/>
          </a:prstGeom>
          <a:noFill/>
          <a:ln w="15875">
            <a:solidFill>
              <a:srgbClr val="F5B43C"/>
            </a:solidFill>
            <a:prstDash val="sysDash"/>
          </a:ln>
        </p:spPr>
      </p:sp>
      <p:sp>
        <p:nvSpPr>
          <p:cNvPr id="28" name="Text 25"/>
          <p:cNvSpPr txBox="1"/>
          <p:nvPr/>
        </p:nvSpPr>
        <p:spPr>
          <a:xfrm>
            <a:off x="3154680" y="2926080"/>
            <a:ext cx="365760" cy="365760"/>
          </a:xfrm>
          <a:prstGeom prst="rect">
            <a:avLst/>
          </a:prstGeom>
          <a:noFill/>
          <a:ln/>
        </p:spPr>
        <p:txBody>
          <a:bodyPr wrap="square" lIns="0" tIns="0" rIns="0" bIns="0" rtlCol="0" anchor="t"/>
          <a:lstStyle/>
          <a:p>
            <a:pPr algn="ctr" indent="0" marL="0">
              <a:buNone/>
            </a:pPr>
            <a:r>
              <a:rPr lang="en-US" sz="2200" b="1" dirty="0">
                <a:solidFill>
                  <a:srgbClr val="F5B43C"/>
                </a:solidFill>
                <a:latin typeface="Calibri" pitchFamily="34" charset="0"/>
                <a:ea typeface="Calibri" pitchFamily="34" charset="-122"/>
                <a:cs typeface="Calibri" pitchFamily="34" charset="-120"/>
              </a:rPr>
              <a:t>?</a:t>
            </a:r>
            <a:endParaRPr lang="en-US" sz="2200" dirty="0"/>
          </a:p>
        </p:txBody>
      </p:sp>
      <p:sp>
        <p:nvSpPr>
          <p:cNvPr id="29" name="Text 26"/>
          <p:cNvSpPr txBox="1"/>
          <p:nvPr/>
        </p:nvSpPr>
        <p:spPr>
          <a:xfrm>
            <a:off x="914400" y="4160520"/>
            <a:ext cx="4663440" cy="228600"/>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dashed = frame t     solid = frame t+1</a:t>
            </a:r>
            <a:endParaRPr lang="en-US" sz="1050" dirty="0"/>
          </a:p>
        </p:txBody>
      </p:sp>
      <p:sp>
        <p:nvSpPr>
          <p:cNvPr id="30" name="Text 27"/>
          <p:cNvSpPr txBox="1"/>
          <p:nvPr/>
        </p:nvSpPr>
        <p:spPr>
          <a:xfrm>
            <a:off x="777240" y="4462272"/>
            <a:ext cx="5029200" cy="274320"/>
          </a:xfrm>
          <a:prstGeom prst="rect">
            <a:avLst/>
          </a:prstGeom>
          <a:noFill/>
          <a:ln/>
        </p:spPr>
        <p:txBody>
          <a:bodyPr wrap="square" lIns="0" tIns="0" rIns="0" bIns="0" rtlCol="0" anchor="t"/>
          <a:lstStyle/>
          <a:p>
            <a:pPr indent="0" marL="0">
              <a:buNone/>
            </a:pPr>
            <a:r>
              <a:rPr lang="en-US" sz="1200" b="1" dirty="0">
                <a:solidFill>
                  <a:srgbClr val="F5B43C"/>
                </a:solidFill>
                <a:latin typeface="Calibri" pitchFamily="34" charset="0"/>
                <a:ea typeface="Calibri" pitchFamily="34" charset="-122"/>
                <a:cs typeface="Calibri" pitchFamily="34" charset="-120"/>
              </a:rPr>
              <a:t>Which box is which? Growth and shrinkage cannot be measured.</a:t>
            </a:r>
            <a:endParaRPr lang="en-US" sz="1200" dirty="0"/>
          </a:p>
        </p:txBody>
      </p:sp>
      <p:sp>
        <p:nvSpPr>
          <p:cNvPr id="31" name="Shape 28"/>
          <p:cNvSpPr/>
          <p:nvPr/>
        </p:nvSpPr>
        <p:spPr>
          <a:xfrm>
            <a:off x="6199632" y="1874520"/>
            <a:ext cx="5440680" cy="2926080"/>
          </a:xfrm>
          <a:prstGeom prst="roundRect">
            <a:avLst>
              <a:gd name="adj" fmla="val 3125"/>
            </a:avLst>
          </a:prstGeom>
          <a:solidFill>
            <a:srgbClr val="161B22"/>
          </a:solidFill>
          <a:ln w="9525">
            <a:solidFill>
              <a:srgbClr val="2E3845"/>
            </a:solidFill>
            <a:prstDash val="solid"/>
          </a:ln>
        </p:spPr>
      </p:sp>
      <p:pic>
        <p:nvPicPr>
          <p:cNvPr id="32" name="Image 1" descr="preencoded.png">    </p:cNvPr>
          <p:cNvPicPr>
            <a:picLocks noChangeAspect="1"/>
          </p:cNvPicPr>
          <p:nvPr/>
        </p:nvPicPr>
        <p:blipFill>
          <a:blip r:embed="rId2"/>
          <a:stretch>
            <a:fillRect/>
          </a:stretch>
        </p:blipFill>
        <p:spPr>
          <a:xfrm>
            <a:off x="6428232" y="2011680"/>
            <a:ext cx="274320" cy="274320"/>
          </a:xfrm>
          <a:prstGeom prst="rect">
            <a:avLst/>
          </a:prstGeom>
        </p:spPr>
      </p:pic>
      <p:sp>
        <p:nvSpPr>
          <p:cNvPr id="33" name="Text 29"/>
          <p:cNvSpPr txBox="1"/>
          <p:nvPr/>
        </p:nvSpPr>
        <p:spPr>
          <a:xfrm>
            <a:off x="6793992" y="1984248"/>
            <a:ext cx="3657600"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Detection + tracking</a:t>
            </a:r>
            <a:endParaRPr lang="en-US" sz="1600" dirty="0"/>
          </a:p>
        </p:txBody>
      </p:sp>
      <p:sp>
        <p:nvSpPr>
          <p:cNvPr id="34" name="Shape 30"/>
          <p:cNvSpPr/>
          <p:nvPr/>
        </p:nvSpPr>
        <p:spPr>
          <a:xfrm>
            <a:off x="6473952" y="2423160"/>
            <a:ext cx="4892040" cy="2011680"/>
          </a:xfrm>
          <a:prstGeom prst="roundRect">
            <a:avLst>
              <a:gd name="adj" fmla="val 2727"/>
            </a:avLst>
          </a:prstGeom>
          <a:solidFill>
            <a:srgbClr val="222A35"/>
          </a:solidFill>
          <a:ln/>
        </p:spPr>
      </p:sp>
      <p:sp>
        <p:nvSpPr>
          <p:cNvPr id="35" name="Shape 31"/>
          <p:cNvSpPr/>
          <p:nvPr/>
        </p:nvSpPr>
        <p:spPr>
          <a:xfrm flipV="1">
            <a:off x="6839712" y="2514600"/>
            <a:ext cx="1828800" cy="1920240"/>
          </a:xfrm>
          <a:prstGeom prst="line">
            <a:avLst/>
          </a:prstGeom>
          <a:noFill/>
          <a:ln w="12700">
            <a:solidFill>
              <a:srgbClr val="2E3845"/>
            </a:solidFill>
            <a:prstDash val="solid"/>
          </a:ln>
        </p:spPr>
      </p:sp>
      <p:sp>
        <p:nvSpPr>
          <p:cNvPr id="36" name="Shape 32"/>
          <p:cNvSpPr/>
          <p:nvPr/>
        </p:nvSpPr>
        <p:spPr>
          <a:xfrm flipH="1" flipV="1">
            <a:off x="9171432" y="2514600"/>
            <a:ext cx="1828800" cy="1920240"/>
          </a:xfrm>
          <a:prstGeom prst="line">
            <a:avLst/>
          </a:prstGeom>
          <a:noFill/>
          <a:ln w="12700">
            <a:solidFill>
              <a:srgbClr val="2E3845"/>
            </a:solidFill>
            <a:prstDash val="solid"/>
          </a:ln>
        </p:spPr>
      </p:sp>
      <p:sp>
        <p:nvSpPr>
          <p:cNvPr id="37" name="Shape 33"/>
          <p:cNvSpPr/>
          <p:nvPr/>
        </p:nvSpPr>
        <p:spPr>
          <a:xfrm>
            <a:off x="7662672" y="3246120"/>
            <a:ext cx="640080" cy="457200"/>
          </a:xfrm>
          <a:prstGeom prst="rect">
            <a:avLst/>
          </a:prstGeom>
          <a:noFill/>
          <a:ln w="15875">
            <a:solidFill>
              <a:srgbClr val="F2545B"/>
            </a:solidFill>
            <a:prstDash val="dash"/>
          </a:ln>
        </p:spPr>
      </p:sp>
      <p:sp>
        <p:nvSpPr>
          <p:cNvPr id="38" name="Shape 34"/>
          <p:cNvSpPr/>
          <p:nvPr/>
        </p:nvSpPr>
        <p:spPr>
          <a:xfrm>
            <a:off x="7434072" y="3429000"/>
            <a:ext cx="960120" cy="685800"/>
          </a:xfrm>
          <a:prstGeom prst="rect">
            <a:avLst/>
          </a:prstGeom>
          <a:noFill/>
          <a:ln w="25400">
            <a:solidFill>
              <a:srgbClr val="F2545B"/>
            </a:solidFill>
            <a:prstDash val="solid"/>
          </a:ln>
        </p:spPr>
      </p:sp>
      <p:sp>
        <p:nvSpPr>
          <p:cNvPr id="39" name="Text 35"/>
          <p:cNvSpPr txBox="1"/>
          <p:nvPr/>
        </p:nvSpPr>
        <p:spPr>
          <a:xfrm>
            <a:off x="7434072" y="3191256"/>
            <a:ext cx="384048" cy="237744"/>
          </a:xfrm>
          <a:prstGeom prst="rect">
            <a:avLst/>
          </a:prstGeom>
          <a:solidFill>
            <a:srgbClr val="F254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Shape 36"/>
          <p:cNvSpPr/>
          <p:nvPr/>
        </p:nvSpPr>
        <p:spPr>
          <a:xfrm>
            <a:off x="9537192" y="3108960"/>
            <a:ext cx="822960" cy="594360"/>
          </a:xfrm>
          <a:prstGeom prst="rect">
            <a:avLst/>
          </a:prstGeom>
          <a:noFill/>
          <a:ln w="15875">
            <a:solidFill>
              <a:srgbClr val="5EC8E5"/>
            </a:solidFill>
            <a:prstDash val="dash"/>
          </a:ln>
        </p:spPr>
      </p:sp>
      <p:sp>
        <p:nvSpPr>
          <p:cNvPr id="41" name="Shape 37"/>
          <p:cNvSpPr/>
          <p:nvPr/>
        </p:nvSpPr>
        <p:spPr>
          <a:xfrm>
            <a:off x="9765792" y="3081528"/>
            <a:ext cx="566928" cy="411480"/>
          </a:xfrm>
          <a:prstGeom prst="rect">
            <a:avLst/>
          </a:prstGeom>
          <a:noFill/>
          <a:ln w="25400">
            <a:solidFill>
              <a:srgbClr val="5EC8E5"/>
            </a:solidFill>
            <a:prstDash val="solid"/>
          </a:ln>
        </p:spPr>
      </p:sp>
      <p:sp>
        <p:nvSpPr>
          <p:cNvPr id="42" name="Text 38"/>
          <p:cNvSpPr txBox="1"/>
          <p:nvPr/>
        </p:nvSpPr>
        <p:spPr>
          <a:xfrm>
            <a:off x="9765792" y="2843784"/>
            <a:ext cx="384048" cy="237744"/>
          </a:xfrm>
          <a:prstGeom prst="rect">
            <a:avLst/>
          </a:prstGeom>
          <a:solidFill>
            <a:srgbClr val="5EC8E5"/>
          </a:solidFill>
          <a:ln/>
        </p:spPr>
        <p:txBody>
          <a:bodyPr wrap="square" lIns="0" tIns="0" rIns="0" bIns="0" rtlCol="0" anchor="ctr"/>
          <a:lstStyle/>
          <a:p>
            <a:pPr algn="ctr" indent="0" marL="0">
              <a:buNone/>
            </a:pPr>
            <a:r>
              <a:rPr lang="en-US" sz="1100" b="1" dirty="0">
                <a:solidFill>
                  <a:srgbClr val="0E1116"/>
                </a:solidFill>
                <a:latin typeface="Calibri" pitchFamily="34" charset="0"/>
                <a:ea typeface="Calibri" pitchFamily="34" charset="-122"/>
                <a:cs typeface="Calibri" pitchFamily="34" charset="-120"/>
              </a:rPr>
              <a:t>#3</a:t>
            </a:r>
            <a:endParaRPr lang="en-US" sz="1100" dirty="0"/>
          </a:p>
        </p:txBody>
      </p:sp>
      <p:sp>
        <p:nvSpPr>
          <p:cNvPr id="43" name="Text 39"/>
          <p:cNvSpPr txBox="1"/>
          <p:nvPr/>
        </p:nvSpPr>
        <p:spPr>
          <a:xfrm>
            <a:off x="6565392" y="2532888"/>
            <a:ext cx="1463040" cy="45720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#7 growing:</a:t>
            </a:r>
            <a:endParaRPr lang="en-US" sz="1100" dirty="0"/>
          </a:p>
          <a:p>
            <a:pPr indent="0" marL="0">
              <a:buNone/>
            </a:pPr>
            <a:r>
              <a:rPr lang="en-US" sz="1100" b="1" dirty="0">
                <a:solidFill>
                  <a:srgbClr val="F2545B"/>
                </a:solidFill>
                <a:latin typeface="Calibri" pitchFamily="34" charset="0"/>
                <a:ea typeface="Calibri" pitchFamily="34" charset="-122"/>
                <a:cs typeface="Calibri" pitchFamily="34" charset="-120"/>
              </a:rPr>
              <a:t>approaching</a:t>
            </a:r>
            <a:endParaRPr lang="en-US" sz="1100" dirty="0"/>
          </a:p>
        </p:txBody>
      </p:sp>
      <p:sp>
        <p:nvSpPr>
          <p:cNvPr id="44" name="Text 40"/>
          <p:cNvSpPr txBox="1"/>
          <p:nvPr/>
        </p:nvSpPr>
        <p:spPr>
          <a:xfrm>
            <a:off x="10405872" y="3566160"/>
            <a:ext cx="914400" cy="457200"/>
          </a:xfrm>
          <a:prstGeom prst="rect">
            <a:avLst/>
          </a:prstGeom>
          <a:noFill/>
          <a:ln/>
        </p:spPr>
        <p:txBody>
          <a:bodyPr wrap="square" lIns="0" tIns="0" rIns="0" bIns="0" rtlCol="0" anchor="t"/>
          <a:lstStyle/>
          <a:p>
            <a:pPr indent="0" marL="0">
              <a:buNone/>
            </a:pPr>
            <a:r>
              <a:rPr lang="en-US" sz="1100" b="1" dirty="0">
                <a:solidFill>
                  <a:srgbClr val="5EC8E5"/>
                </a:solidFill>
                <a:latin typeface="Calibri" pitchFamily="34" charset="0"/>
                <a:ea typeface="Calibri" pitchFamily="34" charset="-122"/>
                <a:cs typeface="Calibri" pitchFamily="34" charset="-120"/>
              </a:rPr>
              <a:t>#3 shrinking:</a:t>
            </a:r>
            <a:endParaRPr lang="en-US" sz="1100" dirty="0"/>
          </a:p>
          <a:p>
            <a:pPr indent="0" marL="0">
              <a:buNone/>
            </a:pPr>
            <a:r>
              <a:rPr lang="en-US" sz="1100" b="1" dirty="0">
                <a:solidFill>
                  <a:srgbClr val="5EC8E5"/>
                </a:solidFill>
                <a:latin typeface="Calibri" pitchFamily="34" charset="0"/>
                <a:ea typeface="Calibri" pitchFamily="34" charset="-122"/>
                <a:cs typeface="Calibri" pitchFamily="34" charset="-120"/>
              </a:rPr>
              <a:t>receding</a:t>
            </a:r>
            <a:endParaRPr lang="en-US" sz="1100" dirty="0"/>
          </a:p>
        </p:txBody>
      </p:sp>
      <p:sp>
        <p:nvSpPr>
          <p:cNvPr id="45" name="Text 41"/>
          <p:cNvSpPr txBox="1"/>
          <p:nvPr/>
        </p:nvSpPr>
        <p:spPr>
          <a:xfrm>
            <a:off x="6565392" y="4160520"/>
            <a:ext cx="4663440" cy="228600"/>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dashed = frame t     solid = frame t+1</a:t>
            </a:r>
            <a:endParaRPr lang="en-US" sz="1050" dirty="0"/>
          </a:p>
        </p:txBody>
      </p:sp>
      <p:sp>
        <p:nvSpPr>
          <p:cNvPr id="46" name="Text 42"/>
          <p:cNvSpPr txBox="1"/>
          <p:nvPr/>
        </p:nvSpPr>
        <p:spPr>
          <a:xfrm>
            <a:off x="6428232" y="4462272"/>
            <a:ext cx="5029200" cy="274320"/>
          </a:xfrm>
          <a:prstGeom prst="rect">
            <a:avLst/>
          </a:prstGeom>
          <a:noFill/>
          <a:ln/>
        </p:spPr>
        <p:txBody>
          <a:bodyPr wrap="square" lIns="0" tIns="0" rIns="0" bIns="0" rtlCol="0" anchor="t"/>
          <a:lstStyle/>
          <a:p>
            <a:pPr indent="0" marL="0">
              <a:buNone/>
            </a:pPr>
            <a:r>
              <a:rPr lang="en-US" sz="1200" b="1" dirty="0">
                <a:solidFill>
                  <a:srgbClr val="5EC8E5"/>
                </a:solidFill>
                <a:latin typeface="Calibri" pitchFamily="34" charset="0"/>
                <a:ea typeface="Calibri" pitchFamily="34" charset="-122"/>
                <a:cs typeface="Calibri" pitchFamily="34" charset="-120"/>
              </a:rPr>
              <a:t>Same ID across frames, so each box’s change in size is measurable.</a:t>
            </a:r>
            <a:endParaRPr lang="en-US" sz="1200" dirty="0"/>
          </a:p>
        </p:txBody>
      </p:sp>
      <p:sp>
        <p:nvSpPr>
          <p:cNvPr id="47" name="Shape 43"/>
          <p:cNvSpPr/>
          <p:nvPr/>
        </p:nvSpPr>
        <p:spPr>
          <a:xfrm>
            <a:off x="548640" y="4983480"/>
            <a:ext cx="2606040" cy="1188720"/>
          </a:xfrm>
          <a:prstGeom prst="roundRect">
            <a:avLst>
              <a:gd name="adj" fmla="val 7692"/>
            </a:avLst>
          </a:prstGeom>
          <a:solidFill>
            <a:srgbClr val="161B22"/>
          </a:solidFill>
          <a:ln w="9525">
            <a:solidFill>
              <a:srgbClr val="2E3845"/>
            </a:solidFill>
            <a:prstDash val="solid"/>
          </a:ln>
        </p:spPr>
      </p:sp>
      <p:sp>
        <p:nvSpPr>
          <p:cNvPr id="48" name="Text 44"/>
          <p:cNvSpPr txBox="1"/>
          <p:nvPr/>
        </p:nvSpPr>
        <p:spPr>
          <a:xfrm>
            <a:off x="713232" y="5129784"/>
            <a:ext cx="329184" cy="329184"/>
          </a:xfrm>
          <a:prstGeom prst="ellipse">
            <a:avLst/>
          </a:prstGeom>
          <a:solidFill>
            <a:srgbClr val="1E252F"/>
          </a:solidFill>
          <a:ln/>
        </p:spPr>
        <p:txBody>
          <a:bodyPr wrap="square" lIns="0" tIns="0" rIns="0" bIns="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1</a:t>
            </a:r>
            <a:endParaRPr lang="en-US" sz="1200" dirty="0"/>
          </a:p>
        </p:txBody>
      </p:sp>
      <p:sp>
        <p:nvSpPr>
          <p:cNvPr id="49" name="Text 45"/>
          <p:cNvSpPr txBox="1"/>
          <p:nvPr/>
        </p:nvSpPr>
        <p:spPr>
          <a:xfrm>
            <a:off x="1143000" y="5129784"/>
            <a:ext cx="1874520" cy="329184"/>
          </a:xfrm>
          <a:prstGeom prst="rect">
            <a:avLst/>
          </a:prstGeom>
          <a:noFill/>
          <a:ln/>
        </p:spPr>
        <p:txBody>
          <a:bodyPr wrap="square" lIns="0" tIns="0" rIns="0" bIns="0" rtlCol="0" anchor="ctr"/>
          <a:lstStyle/>
          <a:p>
            <a:pPr indent="0" marL="0">
              <a:buNone/>
            </a:pPr>
            <a:r>
              <a:rPr lang="en-US" sz="1400" b="1" dirty="0">
                <a:solidFill>
                  <a:srgbClr val="F2F4F7"/>
                </a:solidFill>
                <a:latin typeface="Calibri" pitchFamily="34" charset="0"/>
                <a:ea typeface="Calibri" pitchFamily="34" charset="-122"/>
                <a:cs typeface="Calibri" pitchFamily="34" charset="-120"/>
              </a:rPr>
              <a:t>Predict</a:t>
            </a:r>
            <a:endParaRPr lang="en-US" sz="1400" dirty="0"/>
          </a:p>
        </p:txBody>
      </p:sp>
      <p:sp>
        <p:nvSpPr>
          <p:cNvPr id="50" name="Text 46"/>
          <p:cNvSpPr txBox="1"/>
          <p:nvPr/>
        </p:nvSpPr>
        <p:spPr>
          <a:xfrm>
            <a:off x="713232" y="5532120"/>
            <a:ext cx="2313432" cy="59436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A motion model predicts where each existing track moves next.</a:t>
            </a:r>
            <a:endParaRPr lang="en-US" sz="1150" dirty="0"/>
          </a:p>
        </p:txBody>
      </p:sp>
      <p:sp>
        <p:nvSpPr>
          <p:cNvPr id="51" name="Shape 47"/>
          <p:cNvSpPr/>
          <p:nvPr/>
        </p:nvSpPr>
        <p:spPr>
          <a:xfrm>
            <a:off x="3172968" y="5577840"/>
            <a:ext cx="185623" cy="0"/>
          </a:xfrm>
          <a:prstGeom prst="line">
            <a:avLst/>
          </a:prstGeom>
          <a:noFill/>
          <a:ln w="15875">
            <a:solidFill>
              <a:srgbClr val="667085"/>
            </a:solidFill>
            <a:prstDash val="solid"/>
            <a:tailEnd type="triangle"/>
          </a:ln>
        </p:spPr>
      </p:sp>
      <p:sp>
        <p:nvSpPr>
          <p:cNvPr id="52" name="Shape 48"/>
          <p:cNvSpPr/>
          <p:nvPr/>
        </p:nvSpPr>
        <p:spPr>
          <a:xfrm>
            <a:off x="3376879" y="4983480"/>
            <a:ext cx="2606040" cy="1188720"/>
          </a:xfrm>
          <a:prstGeom prst="roundRect">
            <a:avLst>
              <a:gd name="adj" fmla="val 7692"/>
            </a:avLst>
          </a:prstGeom>
          <a:solidFill>
            <a:srgbClr val="161B22"/>
          </a:solidFill>
          <a:ln w="9525">
            <a:solidFill>
              <a:srgbClr val="2E3845"/>
            </a:solidFill>
            <a:prstDash val="solid"/>
          </a:ln>
        </p:spPr>
      </p:sp>
      <p:sp>
        <p:nvSpPr>
          <p:cNvPr id="53" name="Text 49"/>
          <p:cNvSpPr txBox="1"/>
          <p:nvPr/>
        </p:nvSpPr>
        <p:spPr>
          <a:xfrm>
            <a:off x="3541471" y="5129784"/>
            <a:ext cx="329184" cy="329184"/>
          </a:xfrm>
          <a:prstGeom prst="ellipse">
            <a:avLst/>
          </a:prstGeom>
          <a:solidFill>
            <a:srgbClr val="1E252F"/>
          </a:solidFill>
          <a:ln/>
        </p:spPr>
        <p:txBody>
          <a:bodyPr wrap="square" lIns="0" tIns="0" rIns="0" bIns="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2</a:t>
            </a:r>
            <a:endParaRPr lang="en-US" sz="1200" dirty="0"/>
          </a:p>
        </p:txBody>
      </p:sp>
      <p:sp>
        <p:nvSpPr>
          <p:cNvPr id="54" name="Text 50"/>
          <p:cNvSpPr txBox="1"/>
          <p:nvPr/>
        </p:nvSpPr>
        <p:spPr>
          <a:xfrm>
            <a:off x="3971239" y="5129784"/>
            <a:ext cx="1874520" cy="329184"/>
          </a:xfrm>
          <a:prstGeom prst="rect">
            <a:avLst/>
          </a:prstGeom>
          <a:noFill/>
          <a:ln/>
        </p:spPr>
        <p:txBody>
          <a:bodyPr wrap="square" lIns="0" tIns="0" rIns="0" bIns="0" rtlCol="0" anchor="ctr"/>
          <a:lstStyle/>
          <a:p>
            <a:pPr indent="0" marL="0">
              <a:buNone/>
            </a:pPr>
            <a:r>
              <a:rPr lang="en-US" sz="1400" b="1" dirty="0">
                <a:solidFill>
                  <a:srgbClr val="F2F4F7"/>
                </a:solidFill>
                <a:latin typeface="Calibri" pitchFamily="34" charset="0"/>
                <a:ea typeface="Calibri" pitchFamily="34" charset="-122"/>
                <a:cs typeface="Calibri" pitchFamily="34" charset="-120"/>
              </a:rPr>
              <a:t>Match strong boxes</a:t>
            </a:r>
            <a:endParaRPr lang="en-US" sz="1400" dirty="0"/>
          </a:p>
        </p:txBody>
      </p:sp>
      <p:sp>
        <p:nvSpPr>
          <p:cNvPr id="55" name="Text 51"/>
          <p:cNvSpPr txBox="1"/>
          <p:nvPr/>
        </p:nvSpPr>
        <p:spPr>
          <a:xfrm>
            <a:off x="3541471" y="5532120"/>
            <a:ext cx="2313432" cy="59436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High-confidence detections are matched to predictions by box overlap (IoU).</a:t>
            </a:r>
            <a:endParaRPr lang="en-US" sz="1150" dirty="0"/>
          </a:p>
        </p:txBody>
      </p:sp>
      <p:sp>
        <p:nvSpPr>
          <p:cNvPr id="56" name="Shape 52"/>
          <p:cNvSpPr/>
          <p:nvPr/>
        </p:nvSpPr>
        <p:spPr>
          <a:xfrm>
            <a:off x="6001207" y="5577840"/>
            <a:ext cx="185623" cy="0"/>
          </a:xfrm>
          <a:prstGeom prst="line">
            <a:avLst/>
          </a:prstGeom>
          <a:noFill/>
          <a:ln w="15875">
            <a:solidFill>
              <a:srgbClr val="667085"/>
            </a:solidFill>
            <a:prstDash val="solid"/>
            <a:tailEnd type="triangle"/>
          </a:ln>
        </p:spPr>
      </p:sp>
      <p:sp>
        <p:nvSpPr>
          <p:cNvPr id="57" name="Shape 53"/>
          <p:cNvSpPr/>
          <p:nvPr/>
        </p:nvSpPr>
        <p:spPr>
          <a:xfrm>
            <a:off x="6205118" y="4983480"/>
            <a:ext cx="2606040" cy="1188720"/>
          </a:xfrm>
          <a:prstGeom prst="roundRect">
            <a:avLst>
              <a:gd name="adj" fmla="val 7692"/>
            </a:avLst>
          </a:prstGeom>
          <a:solidFill>
            <a:srgbClr val="161B22"/>
          </a:solidFill>
          <a:ln w="9525">
            <a:solidFill>
              <a:srgbClr val="2E3845"/>
            </a:solidFill>
            <a:prstDash val="solid"/>
          </a:ln>
        </p:spPr>
      </p:sp>
      <p:sp>
        <p:nvSpPr>
          <p:cNvPr id="58" name="Text 54"/>
          <p:cNvSpPr txBox="1"/>
          <p:nvPr/>
        </p:nvSpPr>
        <p:spPr>
          <a:xfrm>
            <a:off x="6369710" y="5129784"/>
            <a:ext cx="329184" cy="329184"/>
          </a:xfrm>
          <a:prstGeom prst="ellipse">
            <a:avLst/>
          </a:prstGeom>
          <a:solidFill>
            <a:srgbClr val="1E252F"/>
          </a:solidFill>
          <a:ln/>
        </p:spPr>
        <p:txBody>
          <a:bodyPr wrap="square" lIns="0" tIns="0" rIns="0" bIns="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3</a:t>
            </a:r>
            <a:endParaRPr lang="en-US" sz="1200" dirty="0"/>
          </a:p>
        </p:txBody>
      </p:sp>
      <p:sp>
        <p:nvSpPr>
          <p:cNvPr id="59" name="Text 55"/>
          <p:cNvSpPr txBox="1"/>
          <p:nvPr/>
        </p:nvSpPr>
        <p:spPr>
          <a:xfrm>
            <a:off x="6799478" y="5129784"/>
            <a:ext cx="1874520" cy="329184"/>
          </a:xfrm>
          <a:prstGeom prst="rect">
            <a:avLst/>
          </a:prstGeom>
          <a:noFill/>
          <a:ln/>
        </p:spPr>
        <p:txBody>
          <a:bodyPr wrap="square" lIns="0" tIns="0" rIns="0" bIns="0" rtlCol="0" anchor="ctr"/>
          <a:lstStyle/>
          <a:p>
            <a:pPr indent="0" marL="0">
              <a:buNone/>
            </a:pPr>
            <a:r>
              <a:rPr lang="en-US" sz="1400" b="1" dirty="0">
                <a:solidFill>
                  <a:srgbClr val="F2F4F7"/>
                </a:solidFill>
                <a:latin typeface="Calibri" pitchFamily="34" charset="0"/>
                <a:ea typeface="Calibri" pitchFamily="34" charset="-122"/>
                <a:cs typeface="Calibri" pitchFamily="34" charset="-120"/>
              </a:rPr>
              <a:t>Rescue weak boxes</a:t>
            </a:r>
            <a:endParaRPr lang="en-US" sz="1400" dirty="0"/>
          </a:p>
        </p:txBody>
      </p:sp>
      <p:sp>
        <p:nvSpPr>
          <p:cNvPr id="60" name="Text 56"/>
          <p:cNvSpPr txBox="1"/>
          <p:nvPr/>
        </p:nvSpPr>
        <p:spPr>
          <a:xfrm>
            <a:off x="6369710" y="5532120"/>
            <a:ext cx="2313432" cy="59436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Leftover low-confidence boxes get a second match, so IDs survive partial occlusion.</a:t>
            </a:r>
            <a:endParaRPr lang="en-US" sz="1150" dirty="0"/>
          </a:p>
        </p:txBody>
      </p:sp>
      <p:sp>
        <p:nvSpPr>
          <p:cNvPr id="61" name="Shape 57"/>
          <p:cNvSpPr/>
          <p:nvPr/>
        </p:nvSpPr>
        <p:spPr>
          <a:xfrm>
            <a:off x="8829446" y="5577840"/>
            <a:ext cx="185623" cy="0"/>
          </a:xfrm>
          <a:prstGeom prst="line">
            <a:avLst/>
          </a:prstGeom>
          <a:noFill/>
          <a:ln w="15875">
            <a:solidFill>
              <a:srgbClr val="667085"/>
            </a:solidFill>
            <a:prstDash val="solid"/>
            <a:tailEnd type="triangle"/>
          </a:ln>
        </p:spPr>
      </p:sp>
      <p:sp>
        <p:nvSpPr>
          <p:cNvPr id="62" name="Shape 58"/>
          <p:cNvSpPr/>
          <p:nvPr/>
        </p:nvSpPr>
        <p:spPr>
          <a:xfrm>
            <a:off x="9033358" y="4983480"/>
            <a:ext cx="2606040" cy="1188720"/>
          </a:xfrm>
          <a:prstGeom prst="roundRect">
            <a:avLst>
              <a:gd name="adj" fmla="val 7692"/>
            </a:avLst>
          </a:prstGeom>
          <a:solidFill>
            <a:srgbClr val="5EC8E5">
              <a:alpha val="12000"/>
            </a:srgbClr>
          </a:solidFill>
          <a:ln w="9525">
            <a:solidFill>
              <a:srgbClr val="5EC8E5"/>
            </a:solidFill>
            <a:prstDash val="solid"/>
          </a:ln>
        </p:spPr>
      </p:sp>
      <p:sp>
        <p:nvSpPr>
          <p:cNvPr id="63" name="Text 59"/>
          <p:cNvSpPr txBox="1"/>
          <p:nvPr/>
        </p:nvSpPr>
        <p:spPr>
          <a:xfrm>
            <a:off x="9197950" y="5129784"/>
            <a:ext cx="329184" cy="329184"/>
          </a:xfrm>
          <a:prstGeom prst="ellipse">
            <a:avLst/>
          </a:prstGeom>
          <a:solidFill>
            <a:srgbClr val="5EC8E5"/>
          </a:solidFill>
          <a:ln/>
        </p:spPr>
        <p:txBody>
          <a:bodyPr wrap="square" lIns="0" tIns="0" rIns="0" bIns="0" rtlCol="0" anchor="ctr"/>
          <a:lstStyle/>
          <a:p>
            <a:pPr algn="ctr" indent="0" marL="0">
              <a:buNone/>
            </a:pPr>
            <a:r>
              <a:rPr lang="en-US" sz="1200" b="1" dirty="0">
                <a:solidFill>
                  <a:srgbClr val="0E1116"/>
                </a:solidFill>
                <a:latin typeface="Calibri" pitchFamily="34" charset="0"/>
                <a:ea typeface="Calibri" pitchFamily="34" charset="-122"/>
                <a:cs typeface="Calibri" pitchFamily="34" charset="-120"/>
              </a:rPr>
              <a:t>4</a:t>
            </a:r>
            <a:endParaRPr lang="en-US" sz="1200" dirty="0"/>
          </a:p>
        </p:txBody>
      </p:sp>
      <p:sp>
        <p:nvSpPr>
          <p:cNvPr id="64" name="Text 60"/>
          <p:cNvSpPr txBox="1"/>
          <p:nvPr/>
        </p:nvSpPr>
        <p:spPr>
          <a:xfrm>
            <a:off x="9627718" y="5129784"/>
            <a:ext cx="1874520" cy="329184"/>
          </a:xfrm>
          <a:prstGeom prst="rect">
            <a:avLst/>
          </a:prstGeom>
          <a:noFill/>
          <a:ln/>
        </p:spPr>
        <p:txBody>
          <a:bodyPr wrap="square" lIns="0" tIns="0" rIns="0" bIns="0" rtlCol="0" anchor="ctr"/>
          <a:lstStyle/>
          <a:p>
            <a:pPr indent="0" marL="0">
              <a:buNone/>
            </a:pPr>
            <a:r>
              <a:rPr lang="en-US" sz="1400" b="1" dirty="0">
                <a:solidFill>
                  <a:srgbClr val="F2F4F7"/>
                </a:solidFill>
                <a:latin typeface="Calibri" pitchFamily="34" charset="0"/>
                <a:ea typeface="Calibri" pitchFamily="34" charset="-122"/>
                <a:cs typeface="Calibri" pitchFamily="34" charset="-120"/>
              </a:rPr>
              <a:t>Keep history</a:t>
            </a:r>
            <a:endParaRPr lang="en-US" sz="1400" dirty="0"/>
          </a:p>
        </p:txBody>
      </p:sp>
      <p:sp>
        <p:nvSpPr>
          <p:cNvPr id="65" name="Text 61"/>
          <p:cNvSpPr txBox="1"/>
          <p:nvPr/>
        </p:nvSpPr>
        <p:spPr>
          <a:xfrm>
            <a:off x="9197950" y="5532120"/>
            <a:ext cx="2313432" cy="59436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Each ID stores its recent box widths. This is the input to TTC.</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As a vehicle approaches, its box grows: w = k / D</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A bounding box is the only distance cue a single uncalibrated camera gives us.</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10</a:t>
            </a:r>
            <a:endParaRPr lang="en-US" sz="1000" dirty="0"/>
          </a:p>
        </p:txBody>
      </p:sp>
      <p:sp>
        <p:nvSpPr>
          <p:cNvPr id="16" name="Shape 14"/>
          <p:cNvSpPr/>
          <p:nvPr/>
        </p:nvSpPr>
        <p:spPr>
          <a:xfrm>
            <a:off x="548640" y="1874520"/>
            <a:ext cx="6858000" cy="4251960"/>
          </a:xfrm>
          <a:prstGeom prst="roundRect">
            <a:avLst>
              <a:gd name="adj" fmla="val 2151"/>
            </a:avLst>
          </a:prstGeom>
          <a:solidFill>
            <a:srgbClr val="12161C"/>
          </a:solidFill>
          <a:ln w="9525">
            <a:solidFill>
              <a:srgbClr val="2E3845"/>
            </a:solidFill>
            <a:prstDash val="solid"/>
          </a:ln>
        </p:spPr>
      </p:sp>
      <p:sp>
        <p:nvSpPr>
          <p:cNvPr id="17" name="Shape 15"/>
          <p:cNvSpPr/>
          <p:nvPr/>
        </p:nvSpPr>
        <p:spPr>
          <a:xfrm>
            <a:off x="731520" y="2194560"/>
            <a:ext cx="6492240" cy="3840480"/>
          </a:xfrm>
          <a:custGeom>
            <a:avLst/>
            <a:gdLst/>
            <a:ahLst/>
            <a:cxnLst/>
            <a:rect l="l" t="t" r="r" b="b"/>
            <a:pathLst>
              <a:path w="6492240" h="3840480">
                <a:moveTo>
                  <a:pt x="2971800" y="0"/>
                </a:moveTo>
                <a:lnTo>
                  <a:pt x="3520440" y="0"/>
                </a:lnTo>
                <a:lnTo>
                  <a:pt x="6492240" y="3840480"/>
                </a:lnTo>
                <a:lnTo>
                  <a:pt x="0" y="3840480"/>
                </a:lnTo>
                <a:close/>
              </a:path>
            </a:pathLst>
          </a:custGeom>
          <a:solidFill>
            <a:srgbClr val="252C36"/>
          </a:solidFill>
          <a:ln/>
        </p:spPr>
      </p:sp>
      <p:sp>
        <p:nvSpPr>
          <p:cNvPr id="18" name="Shape 16"/>
          <p:cNvSpPr/>
          <p:nvPr/>
        </p:nvSpPr>
        <p:spPr>
          <a:xfrm>
            <a:off x="3977640" y="2240280"/>
            <a:ext cx="0" cy="3749040"/>
          </a:xfrm>
          <a:prstGeom prst="line">
            <a:avLst/>
          </a:prstGeom>
          <a:noFill/>
          <a:ln w="15875">
            <a:solidFill>
              <a:srgbClr val="8A94A3"/>
            </a:solidFill>
            <a:prstDash val="dash"/>
          </a:ln>
        </p:spPr>
      </p:sp>
      <p:pic>
        <p:nvPicPr>
          <p:cNvPr id="19" name="Image 0" descr="preencoded.png">    </p:cNvPr>
          <p:cNvPicPr>
            <a:picLocks noChangeAspect="1"/>
          </p:cNvPicPr>
          <p:nvPr/>
        </p:nvPicPr>
        <p:blipFill>
          <a:blip r:embed="rId1"/>
          <a:stretch>
            <a:fillRect/>
          </a:stretch>
        </p:blipFill>
        <p:spPr>
          <a:xfrm>
            <a:off x="4167835" y="2590020"/>
            <a:ext cx="284415" cy="284415"/>
          </a:xfrm>
          <a:prstGeom prst="rect">
            <a:avLst/>
          </a:prstGeom>
        </p:spPr>
      </p:pic>
      <p:sp>
        <p:nvSpPr>
          <p:cNvPr id="20" name="Shape 17"/>
          <p:cNvSpPr/>
          <p:nvPr/>
        </p:nvSpPr>
        <p:spPr>
          <a:xfrm>
            <a:off x="4110228" y="2584094"/>
            <a:ext cx="411480" cy="296266"/>
          </a:xfrm>
          <a:prstGeom prst="rect">
            <a:avLst/>
          </a:prstGeom>
          <a:noFill/>
          <a:ln w="22225">
            <a:solidFill>
              <a:srgbClr val="5EC8E5"/>
            </a:solidFill>
            <a:prstDash val="solid"/>
          </a:ln>
        </p:spPr>
      </p:sp>
      <p:sp>
        <p:nvSpPr>
          <p:cNvPr id="21" name="Text 18"/>
          <p:cNvSpPr txBox="1"/>
          <p:nvPr/>
        </p:nvSpPr>
        <p:spPr>
          <a:xfrm>
            <a:off x="4631436" y="2595067"/>
            <a:ext cx="2194560" cy="274320"/>
          </a:xfrm>
          <a:prstGeom prst="rect">
            <a:avLst/>
          </a:prstGeom>
          <a:noFill/>
          <a:ln/>
        </p:spPr>
        <p:txBody>
          <a:bodyPr wrap="square" lIns="0" tIns="0" rIns="0" bIns="0" rtlCol="0" anchor="t"/>
          <a:lstStyle/>
          <a:p>
            <a:pPr indent="0" marL="0">
              <a:buNone/>
            </a:pPr>
            <a:r>
              <a:rPr lang="en-US" sz="1200" b="1" dirty="0">
                <a:solidFill>
                  <a:srgbClr val="5EC8E5"/>
                </a:solidFill>
                <a:latin typeface="Consolas" pitchFamily="34" charset="0"/>
                <a:ea typeface="Consolas" pitchFamily="34" charset="-122"/>
                <a:cs typeface="Consolas" pitchFamily="34" charset="-120"/>
              </a:rPr>
              <a:t>D = 40 m   w = 30 px</a:t>
            </a:r>
            <a:endParaRPr lang="en-US" sz="1200" dirty="0"/>
          </a:p>
        </p:txBody>
      </p:sp>
      <p:pic>
        <p:nvPicPr>
          <p:cNvPr id="22" name="Image 1" descr="preencoded.png">    </p:cNvPr>
          <p:cNvPicPr>
            <a:picLocks noChangeAspect="1"/>
          </p:cNvPicPr>
          <p:nvPr/>
        </p:nvPicPr>
        <p:blipFill>
          <a:blip r:embed="rId2"/>
          <a:stretch>
            <a:fillRect/>
          </a:stretch>
        </p:blipFill>
        <p:spPr>
          <a:xfrm>
            <a:off x="4367174" y="3305519"/>
            <a:ext cx="568830" cy="568830"/>
          </a:xfrm>
          <a:prstGeom prst="rect">
            <a:avLst/>
          </a:prstGeom>
        </p:spPr>
      </p:pic>
      <p:sp>
        <p:nvSpPr>
          <p:cNvPr id="23" name="Shape 19"/>
          <p:cNvSpPr/>
          <p:nvPr/>
        </p:nvSpPr>
        <p:spPr>
          <a:xfrm>
            <a:off x="4251960" y="3293669"/>
            <a:ext cx="822960" cy="592531"/>
          </a:xfrm>
          <a:prstGeom prst="rect">
            <a:avLst/>
          </a:prstGeom>
          <a:noFill/>
          <a:ln w="22225">
            <a:solidFill>
              <a:srgbClr val="5EC8E5"/>
            </a:solidFill>
            <a:prstDash val="solid"/>
          </a:ln>
        </p:spPr>
      </p:sp>
      <p:sp>
        <p:nvSpPr>
          <p:cNvPr id="24" name="Text 20"/>
          <p:cNvSpPr txBox="1"/>
          <p:nvPr/>
        </p:nvSpPr>
        <p:spPr>
          <a:xfrm>
            <a:off x="5184648" y="3452774"/>
            <a:ext cx="2194560" cy="274320"/>
          </a:xfrm>
          <a:prstGeom prst="rect">
            <a:avLst/>
          </a:prstGeom>
          <a:noFill/>
          <a:ln/>
        </p:spPr>
        <p:txBody>
          <a:bodyPr wrap="square" lIns="0" tIns="0" rIns="0" bIns="0" rtlCol="0" anchor="t"/>
          <a:lstStyle/>
          <a:p>
            <a:pPr indent="0" marL="0">
              <a:buNone/>
            </a:pPr>
            <a:r>
              <a:rPr lang="en-US" sz="1200" b="1" dirty="0">
                <a:solidFill>
                  <a:srgbClr val="5EC8E5"/>
                </a:solidFill>
                <a:latin typeface="Consolas" pitchFamily="34" charset="0"/>
                <a:ea typeface="Consolas" pitchFamily="34" charset="-122"/>
                <a:cs typeface="Consolas" pitchFamily="34" charset="-120"/>
              </a:rPr>
              <a:t>D = 20 m   w = 60 px</a:t>
            </a:r>
            <a:endParaRPr lang="en-US" sz="1200" dirty="0"/>
          </a:p>
        </p:txBody>
      </p:sp>
      <p:pic>
        <p:nvPicPr>
          <p:cNvPr id="25" name="Image 2" descr="preencoded.png">    </p:cNvPr>
          <p:cNvPicPr>
            <a:picLocks noChangeAspect="1"/>
          </p:cNvPicPr>
          <p:nvPr/>
        </p:nvPicPr>
        <p:blipFill>
          <a:blip r:embed="rId3"/>
          <a:stretch>
            <a:fillRect/>
          </a:stretch>
        </p:blipFill>
        <p:spPr>
          <a:xfrm>
            <a:off x="4665269" y="4599359"/>
            <a:ext cx="1137660" cy="1137660"/>
          </a:xfrm>
          <a:prstGeom prst="rect">
            <a:avLst/>
          </a:prstGeom>
        </p:spPr>
      </p:pic>
      <p:sp>
        <p:nvSpPr>
          <p:cNvPr id="26" name="Shape 21"/>
          <p:cNvSpPr/>
          <p:nvPr/>
        </p:nvSpPr>
        <p:spPr>
          <a:xfrm>
            <a:off x="4434840" y="4575658"/>
            <a:ext cx="1645920" cy="1185062"/>
          </a:xfrm>
          <a:prstGeom prst="rect">
            <a:avLst/>
          </a:prstGeom>
          <a:noFill/>
          <a:ln w="22225">
            <a:solidFill>
              <a:srgbClr val="5EC8E5"/>
            </a:solidFill>
            <a:prstDash val="solid"/>
          </a:ln>
        </p:spPr>
      </p:sp>
      <p:sp>
        <p:nvSpPr>
          <p:cNvPr id="27" name="Text 22"/>
          <p:cNvSpPr txBox="1"/>
          <p:nvPr/>
        </p:nvSpPr>
        <p:spPr>
          <a:xfrm>
            <a:off x="6190488" y="5031029"/>
            <a:ext cx="2194560" cy="274320"/>
          </a:xfrm>
          <a:prstGeom prst="rect">
            <a:avLst/>
          </a:prstGeom>
          <a:noFill/>
          <a:ln/>
        </p:spPr>
        <p:txBody>
          <a:bodyPr wrap="square" lIns="0" tIns="0" rIns="0" bIns="0" rtlCol="0" anchor="t"/>
          <a:lstStyle/>
          <a:p>
            <a:pPr indent="0" marL="0">
              <a:buNone/>
            </a:pPr>
            <a:r>
              <a:rPr lang="en-US" sz="1200" b="1" dirty="0">
                <a:solidFill>
                  <a:srgbClr val="5EC8E5"/>
                </a:solidFill>
                <a:latin typeface="Consolas" pitchFamily="34" charset="0"/>
                <a:ea typeface="Consolas" pitchFamily="34" charset="-122"/>
                <a:cs typeface="Consolas" pitchFamily="34" charset="-120"/>
              </a:rPr>
              <a:t>D = 10 m   w = 120 px</a:t>
            </a:r>
            <a:endParaRPr lang="en-US" sz="1200" dirty="0"/>
          </a:p>
        </p:txBody>
      </p:sp>
      <p:sp>
        <p:nvSpPr>
          <p:cNvPr id="28" name="Shape 23"/>
          <p:cNvSpPr/>
          <p:nvPr/>
        </p:nvSpPr>
        <p:spPr>
          <a:xfrm>
            <a:off x="1188720" y="2377440"/>
            <a:ext cx="0" cy="3291840"/>
          </a:xfrm>
          <a:prstGeom prst="line">
            <a:avLst/>
          </a:prstGeom>
          <a:noFill/>
          <a:ln w="25400">
            <a:solidFill>
              <a:srgbClr val="F2545B"/>
            </a:solidFill>
            <a:prstDash val="solid"/>
            <a:tailEnd type="triangle"/>
          </a:ln>
        </p:spPr>
      </p:sp>
      <p:sp>
        <p:nvSpPr>
          <p:cNvPr id="29" name="Text 24"/>
          <p:cNvSpPr txBox="1"/>
          <p:nvPr/>
        </p:nvSpPr>
        <p:spPr>
          <a:xfrm>
            <a:off x="1325880" y="3840480"/>
            <a:ext cx="1463040" cy="274320"/>
          </a:xfrm>
          <a:prstGeom prst="rect">
            <a:avLst/>
          </a:prstGeom>
          <a:noFill/>
          <a:ln/>
        </p:spPr>
        <p:txBody>
          <a:bodyPr wrap="square" lIns="0" tIns="0" rIns="0" bIns="0" rtlCol="0" anchor="t"/>
          <a:lstStyle/>
          <a:p>
            <a:pPr indent="0" marL="0">
              <a:buNone/>
            </a:pPr>
            <a:r>
              <a:rPr lang="en-US" sz="1200" b="1" dirty="0">
                <a:solidFill>
                  <a:srgbClr val="F2545B"/>
                </a:solidFill>
                <a:latin typeface="Calibri" pitchFamily="34" charset="0"/>
                <a:ea typeface="Calibri" pitchFamily="34" charset="-122"/>
                <a:cs typeface="Calibri" pitchFamily="34" charset="-120"/>
              </a:rPr>
              <a:t>approaching</a:t>
            </a:r>
            <a:endParaRPr lang="en-US" sz="1200" dirty="0"/>
          </a:p>
        </p:txBody>
      </p:sp>
      <p:sp>
        <p:nvSpPr>
          <p:cNvPr id="30" name="Shape 25"/>
          <p:cNvSpPr/>
          <p:nvPr/>
        </p:nvSpPr>
        <p:spPr>
          <a:xfrm>
            <a:off x="7726680" y="1874520"/>
            <a:ext cx="3913632" cy="2148840"/>
          </a:xfrm>
          <a:prstGeom prst="roundRect">
            <a:avLst>
              <a:gd name="adj" fmla="val 4255"/>
            </a:avLst>
          </a:prstGeom>
          <a:solidFill>
            <a:srgbClr val="161B22"/>
          </a:solidFill>
          <a:ln w="9525">
            <a:solidFill>
              <a:srgbClr val="2E3845"/>
            </a:solidFill>
            <a:prstDash val="solid"/>
          </a:ln>
        </p:spPr>
      </p:sp>
      <p:sp>
        <p:nvSpPr>
          <p:cNvPr id="31" name="Text 26"/>
          <p:cNvSpPr txBox="1"/>
          <p:nvPr/>
        </p:nvSpPr>
        <p:spPr>
          <a:xfrm>
            <a:off x="7726680" y="1993392"/>
            <a:ext cx="3913632" cy="685800"/>
          </a:xfrm>
          <a:prstGeom prst="rect">
            <a:avLst/>
          </a:prstGeom>
          <a:noFill/>
          <a:ln/>
        </p:spPr>
        <p:txBody>
          <a:bodyPr wrap="square" lIns="0" tIns="0" rIns="0" bIns="0" rtlCol="0" anchor="t"/>
          <a:lstStyle/>
          <a:p>
            <a:pPr algn="ctr" indent="0" marL="0">
              <a:buNone/>
            </a:pPr>
            <a:r>
              <a:rPr lang="en-US" sz="3800" b="1" dirty="0">
                <a:solidFill>
                  <a:srgbClr val="F2F4F7"/>
                </a:solidFill>
                <a:latin typeface="Consolas" pitchFamily="34" charset="0"/>
                <a:ea typeface="Consolas" pitchFamily="34" charset="-122"/>
                <a:cs typeface="Consolas" pitchFamily="34" charset="-120"/>
              </a:rPr>
              <a:t>w = k / D</a:t>
            </a:r>
            <a:endParaRPr lang="en-US" sz="3800" dirty="0"/>
          </a:p>
        </p:txBody>
      </p:sp>
      <p:sp>
        <p:nvSpPr>
          <p:cNvPr id="32" name="Text 27"/>
          <p:cNvSpPr txBox="1"/>
          <p:nvPr/>
        </p:nvSpPr>
        <p:spPr>
          <a:xfrm>
            <a:off x="7955280" y="2743200"/>
            <a:ext cx="3566160" cy="1143000"/>
          </a:xfrm>
          <a:prstGeom prst="rect">
            <a:avLst/>
          </a:prstGeom>
          <a:noFill/>
          <a:ln/>
        </p:spPr>
        <p:txBody>
          <a:bodyPr wrap="square" lIns="0" tIns="0" rIns="0" bIns="0" rtlCol="0" anchor="t"/>
          <a:lstStyle/>
          <a:p>
            <a:pPr indent="0" marL="0">
              <a:spcAft>
                <a:spcPts val="300"/>
              </a:spcAft>
              <a:buNone/>
            </a:pPr>
            <a:r>
              <a:rPr lang="en-US" sz="1250" b="1" dirty="0">
                <a:solidFill>
                  <a:srgbClr val="5EC8E5"/>
                </a:solidFill>
                <a:latin typeface="Consolas" pitchFamily="34" charset="0"/>
                <a:ea typeface="Consolas" pitchFamily="34" charset="-122"/>
                <a:cs typeface="Consolas" pitchFamily="34" charset="-120"/>
              </a:rPr>
              <a:t>w  </a:t>
            </a:r>
            <a:pPr indent="0" marL="0">
              <a:spcAft>
                <a:spcPts val="300"/>
              </a:spcAft>
              <a:buNone/>
            </a:pPr>
            <a:r>
              <a:rPr lang="en-US" sz="1250" dirty="0">
                <a:solidFill>
                  <a:srgbClr val="F2F4F7"/>
                </a:solidFill>
                <a:latin typeface="Calibri" pitchFamily="34" charset="0"/>
                <a:ea typeface="Calibri" pitchFamily="34" charset="-122"/>
                <a:cs typeface="Calibri" pitchFamily="34" charset="-120"/>
              </a:rPr>
              <a:t>box width in pixels</a:t>
            </a:r>
            <a:endParaRPr lang="en-US" sz="1250" dirty="0"/>
          </a:p>
          <a:p>
            <a:pPr indent="0" marL="0">
              <a:spcAft>
                <a:spcPts val="300"/>
              </a:spcAft>
              <a:buNone/>
            </a:pPr>
            <a:r>
              <a:rPr lang="en-US" sz="1250" b="1" dirty="0">
                <a:solidFill>
                  <a:srgbClr val="5EC8E5"/>
                </a:solidFill>
                <a:latin typeface="Consolas" pitchFamily="34" charset="0"/>
                <a:ea typeface="Consolas" pitchFamily="34" charset="-122"/>
                <a:cs typeface="Consolas" pitchFamily="34" charset="-120"/>
              </a:rPr>
              <a:t>D  </a:t>
            </a:r>
            <a:pPr indent="0" marL="0">
              <a:spcAft>
                <a:spcPts val="300"/>
              </a:spcAft>
              <a:buNone/>
            </a:pPr>
            <a:r>
              <a:rPr lang="en-US" sz="1250" dirty="0">
                <a:solidFill>
                  <a:srgbClr val="F2F4F7"/>
                </a:solidFill>
                <a:latin typeface="Calibri" pitchFamily="34" charset="0"/>
                <a:ea typeface="Calibri" pitchFamily="34" charset="-122"/>
                <a:cs typeface="Calibri" pitchFamily="34" charset="-120"/>
              </a:rPr>
              <a:t>distance to the vehicle</a:t>
            </a:r>
            <a:endParaRPr lang="en-US" sz="1250" dirty="0"/>
          </a:p>
          <a:p>
            <a:pPr indent="0" marL="0">
              <a:spcAft>
                <a:spcPts val="300"/>
              </a:spcAft>
              <a:buNone/>
            </a:pPr>
            <a:r>
              <a:rPr lang="en-US" sz="1250" b="1" dirty="0">
                <a:solidFill>
                  <a:srgbClr val="5EC8E5"/>
                </a:solidFill>
                <a:latin typeface="Consolas" pitchFamily="34" charset="0"/>
                <a:ea typeface="Consolas" pitchFamily="34" charset="-122"/>
                <a:cs typeface="Consolas" pitchFamily="34" charset="-120"/>
              </a:rPr>
              <a:t>k  </a:t>
            </a:r>
            <a:pPr indent="0" marL="0">
              <a:spcAft>
                <a:spcPts val="300"/>
              </a:spcAft>
              <a:buNone/>
            </a:pPr>
            <a:r>
              <a:rPr lang="en-US" sz="1250" dirty="0">
                <a:solidFill>
                  <a:srgbClr val="F2F4F7"/>
                </a:solidFill>
                <a:latin typeface="Calibri" pitchFamily="34" charset="0"/>
                <a:ea typeface="Calibri" pitchFamily="34" charset="-122"/>
                <a:cs typeface="Calibri" pitchFamily="34" charset="-120"/>
              </a:rPr>
              <a:t>focal length × real width: unknown, and never needed</a:t>
            </a:r>
            <a:endParaRPr lang="en-US" sz="1250" dirty="0"/>
          </a:p>
        </p:txBody>
      </p:sp>
      <p:sp>
        <p:nvSpPr>
          <p:cNvPr id="33" name="Text 28"/>
          <p:cNvSpPr txBox="1"/>
          <p:nvPr/>
        </p:nvSpPr>
        <p:spPr>
          <a:xfrm>
            <a:off x="7726680" y="4224528"/>
            <a:ext cx="3913632" cy="320040"/>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Halve the distance → double the width</a:t>
            </a:r>
            <a:endParaRPr lang="en-US" sz="1500" dirty="0"/>
          </a:p>
        </p:txBody>
      </p:sp>
      <p:sp>
        <p:nvSpPr>
          <p:cNvPr id="34" name="Text 29"/>
          <p:cNvSpPr txBox="1"/>
          <p:nvPr/>
        </p:nvSpPr>
        <p:spPr>
          <a:xfrm>
            <a:off x="7726680" y="4681728"/>
            <a:ext cx="640080" cy="292608"/>
          </a:xfrm>
          <a:prstGeom prst="rect">
            <a:avLst/>
          </a:prstGeom>
          <a:noFill/>
          <a:ln/>
        </p:spPr>
        <p:txBody>
          <a:bodyPr wrap="square" lIns="0" tIns="0" rIns="0" bIns="0" rtlCol="0" anchor="ctr"/>
          <a:lstStyle/>
          <a:p>
            <a:pPr indent="0" marL="0">
              <a:buNone/>
            </a:pPr>
            <a:r>
              <a:rPr lang="en-US" sz="1200" dirty="0">
                <a:solidFill>
                  <a:srgbClr val="A3ACBA"/>
                </a:solidFill>
                <a:latin typeface="Consolas" pitchFamily="34" charset="0"/>
                <a:ea typeface="Consolas" pitchFamily="34" charset="-122"/>
                <a:cs typeface="Consolas" pitchFamily="34" charset="-120"/>
              </a:rPr>
              <a:t>40 m</a:t>
            </a:r>
            <a:endParaRPr lang="en-US" sz="1200" dirty="0"/>
          </a:p>
        </p:txBody>
      </p:sp>
      <p:sp>
        <p:nvSpPr>
          <p:cNvPr id="35" name="Shape 30"/>
          <p:cNvSpPr/>
          <p:nvPr/>
        </p:nvSpPr>
        <p:spPr>
          <a:xfrm>
            <a:off x="8412480" y="4709160"/>
            <a:ext cx="502920" cy="237744"/>
          </a:xfrm>
          <a:prstGeom prst="rect">
            <a:avLst/>
          </a:prstGeom>
          <a:solidFill>
            <a:srgbClr val="5EC8E5"/>
          </a:solidFill>
          <a:ln/>
        </p:spPr>
      </p:sp>
      <p:sp>
        <p:nvSpPr>
          <p:cNvPr id="36" name="Text 31"/>
          <p:cNvSpPr txBox="1"/>
          <p:nvPr/>
        </p:nvSpPr>
        <p:spPr>
          <a:xfrm>
            <a:off x="9006840" y="4681728"/>
            <a:ext cx="914400" cy="292608"/>
          </a:xfrm>
          <a:prstGeom prst="rect">
            <a:avLst/>
          </a:prstGeom>
          <a:noFill/>
          <a:ln/>
        </p:spPr>
        <p:txBody>
          <a:bodyPr wrap="square" lIns="0" tIns="0" rIns="0" bIns="0" rtlCol="0" anchor="ctr"/>
          <a:lstStyle/>
          <a:p>
            <a:pPr indent="0" marL="0">
              <a:buNone/>
            </a:pPr>
            <a:r>
              <a:rPr lang="en-US" sz="1200" dirty="0">
                <a:solidFill>
                  <a:srgbClr val="5EC8E5"/>
                </a:solidFill>
                <a:latin typeface="Consolas" pitchFamily="34" charset="0"/>
                <a:ea typeface="Consolas" pitchFamily="34" charset="-122"/>
                <a:cs typeface="Consolas" pitchFamily="34" charset="-120"/>
              </a:rPr>
              <a:t>30 px</a:t>
            </a:r>
            <a:endParaRPr lang="en-US" sz="1200" dirty="0"/>
          </a:p>
        </p:txBody>
      </p:sp>
      <p:sp>
        <p:nvSpPr>
          <p:cNvPr id="37" name="Text 32"/>
          <p:cNvSpPr txBox="1"/>
          <p:nvPr/>
        </p:nvSpPr>
        <p:spPr>
          <a:xfrm>
            <a:off x="7726680" y="5138928"/>
            <a:ext cx="640080" cy="292608"/>
          </a:xfrm>
          <a:prstGeom prst="rect">
            <a:avLst/>
          </a:prstGeom>
          <a:noFill/>
          <a:ln/>
        </p:spPr>
        <p:txBody>
          <a:bodyPr wrap="square" lIns="0" tIns="0" rIns="0" bIns="0" rtlCol="0" anchor="ctr"/>
          <a:lstStyle/>
          <a:p>
            <a:pPr indent="0" marL="0">
              <a:buNone/>
            </a:pPr>
            <a:r>
              <a:rPr lang="en-US" sz="1200" dirty="0">
                <a:solidFill>
                  <a:srgbClr val="A3ACBA"/>
                </a:solidFill>
                <a:latin typeface="Consolas" pitchFamily="34" charset="0"/>
                <a:ea typeface="Consolas" pitchFamily="34" charset="-122"/>
                <a:cs typeface="Consolas" pitchFamily="34" charset="-120"/>
              </a:rPr>
              <a:t>20 m</a:t>
            </a:r>
            <a:endParaRPr lang="en-US" sz="1200" dirty="0"/>
          </a:p>
        </p:txBody>
      </p:sp>
      <p:sp>
        <p:nvSpPr>
          <p:cNvPr id="38" name="Shape 33"/>
          <p:cNvSpPr/>
          <p:nvPr/>
        </p:nvSpPr>
        <p:spPr>
          <a:xfrm>
            <a:off x="8412480" y="5166360"/>
            <a:ext cx="1005840" cy="237744"/>
          </a:xfrm>
          <a:prstGeom prst="rect">
            <a:avLst/>
          </a:prstGeom>
          <a:solidFill>
            <a:srgbClr val="5EC8E5"/>
          </a:solidFill>
          <a:ln/>
        </p:spPr>
      </p:sp>
      <p:sp>
        <p:nvSpPr>
          <p:cNvPr id="39" name="Text 34"/>
          <p:cNvSpPr txBox="1"/>
          <p:nvPr/>
        </p:nvSpPr>
        <p:spPr>
          <a:xfrm>
            <a:off x="9509760" y="5138928"/>
            <a:ext cx="914400" cy="292608"/>
          </a:xfrm>
          <a:prstGeom prst="rect">
            <a:avLst/>
          </a:prstGeom>
          <a:noFill/>
          <a:ln/>
        </p:spPr>
        <p:txBody>
          <a:bodyPr wrap="square" lIns="0" tIns="0" rIns="0" bIns="0" rtlCol="0" anchor="ctr"/>
          <a:lstStyle/>
          <a:p>
            <a:pPr indent="0" marL="0">
              <a:buNone/>
            </a:pPr>
            <a:r>
              <a:rPr lang="en-US" sz="1200" dirty="0">
                <a:solidFill>
                  <a:srgbClr val="5EC8E5"/>
                </a:solidFill>
                <a:latin typeface="Consolas" pitchFamily="34" charset="0"/>
                <a:ea typeface="Consolas" pitchFamily="34" charset="-122"/>
                <a:cs typeface="Consolas" pitchFamily="34" charset="-120"/>
              </a:rPr>
              <a:t>60 px</a:t>
            </a:r>
            <a:endParaRPr lang="en-US" sz="1200" dirty="0"/>
          </a:p>
        </p:txBody>
      </p:sp>
      <p:sp>
        <p:nvSpPr>
          <p:cNvPr id="40" name="Text 35"/>
          <p:cNvSpPr txBox="1"/>
          <p:nvPr/>
        </p:nvSpPr>
        <p:spPr>
          <a:xfrm>
            <a:off x="7726680" y="5596128"/>
            <a:ext cx="640080" cy="292608"/>
          </a:xfrm>
          <a:prstGeom prst="rect">
            <a:avLst/>
          </a:prstGeom>
          <a:noFill/>
          <a:ln/>
        </p:spPr>
        <p:txBody>
          <a:bodyPr wrap="square" lIns="0" tIns="0" rIns="0" bIns="0" rtlCol="0" anchor="ctr"/>
          <a:lstStyle/>
          <a:p>
            <a:pPr indent="0" marL="0">
              <a:buNone/>
            </a:pPr>
            <a:r>
              <a:rPr lang="en-US" sz="1200" dirty="0">
                <a:solidFill>
                  <a:srgbClr val="A3ACBA"/>
                </a:solidFill>
                <a:latin typeface="Consolas" pitchFamily="34" charset="0"/>
                <a:ea typeface="Consolas" pitchFamily="34" charset="-122"/>
                <a:cs typeface="Consolas" pitchFamily="34" charset="-120"/>
              </a:rPr>
              <a:t>10 m</a:t>
            </a:r>
            <a:endParaRPr lang="en-US" sz="1200" dirty="0"/>
          </a:p>
        </p:txBody>
      </p:sp>
      <p:sp>
        <p:nvSpPr>
          <p:cNvPr id="41" name="Shape 36"/>
          <p:cNvSpPr/>
          <p:nvPr/>
        </p:nvSpPr>
        <p:spPr>
          <a:xfrm>
            <a:off x="8412480" y="5623560"/>
            <a:ext cx="2011680" cy="237744"/>
          </a:xfrm>
          <a:prstGeom prst="rect">
            <a:avLst/>
          </a:prstGeom>
          <a:solidFill>
            <a:srgbClr val="5EC8E5"/>
          </a:solidFill>
          <a:ln/>
        </p:spPr>
      </p:sp>
      <p:sp>
        <p:nvSpPr>
          <p:cNvPr id="42" name="Text 37"/>
          <p:cNvSpPr txBox="1"/>
          <p:nvPr/>
        </p:nvSpPr>
        <p:spPr>
          <a:xfrm>
            <a:off x="10515600" y="5596128"/>
            <a:ext cx="914400" cy="292608"/>
          </a:xfrm>
          <a:prstGeom prst="rect">
            <a:avLst/>
          </a:prstGeom>
          <a:noFill/>
          <a:ln/>
        </p:spPr>
        <p:txBody>
          <a:bodyPr wrap="square" lIns="0" tIns="0" rIns="0" bIns="0" rtlCol="0" anchor="ctr"/>
          <a:lstStyle/>
          <a:p>
            <a:pPr indent="0" marL="0">
              <a:buNone/>
            </a:pPr>
            <a:r>
              <a:rPr lang="en-US" sz="1200" dirty="0">
                <a:solidFill>
                  <a:srgbClr val="5EC8E5"/>
                </a:solidFill>
                <a:latin typeface="Consolas" pitchFamily="34" charset="0"/>
                <a:ea typeface="Consolas" pitchFamily="34" charset="-122"/>
                <a:cs typeface="Consolas" pitchFamily="34" charset="-120"/>
              </a:rPr>
              <a:t>120 px</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Time-to-contact without calibration: straighten the curve</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11</a:t>
            </a:r>
            <a:endParaRPr lang="en-US" sz="1000" dirty="0"/>
          </a:p>
        </p:txBody>
      </p:sp>
      <p:sp>
        <p:nvSpPr>
          <p:cNvPr id="15" name="Shape 13"/>
          <p:cNvSpPr/>
          <p:nvPr/>
        </p:nvSpPr>
        <p:spPr>
          <a:xfrm>
            <a:off x="548640" y="1600200"/>
            <a:ext cx="5440680" cy="3611880"/>
          </a:xfrm>
          <a:prstGeom prst="roundRect">
            <a:avLst>
              <a:gd name="adj" fmla="val 2532"/>
            </a:avLst>
          </a:prstGeom>
          <a:solidFill>
            <a:srgbClr val="161B22"/>
          </a:solidFill>
          <a:ln w="9525">
            <a:solidFill>
              <a:srgbClr val="2E3845"/>
            </a:solidFill>
            <a:prstDash val="solid"/>
          </a:ln>
        </p:spPr>
      </p:sp>
      <p:sp>
        <p:nvSpPr>
          <p:cNvPr id="16" name="Text 14"/>
          <p:cNvSpPr txBox="1"/>
          <p:nvPr/>
        </p:nvSpPr>
        <p:spPr>
          <a:xfrm>
            <a:off x="822960" y="1764792"/>
            <a:ext cx="4937760" cy="320040"/>
          </a:xfrm>
          <a:prstGeom prst="rect">
            <a:avLst/>
          </a:prstGeom>
          <a:noFill/>
          <a:ln/>
        </p:spPr>
        <p:txBody>
          <a:bodyPr wrap="square" lIns="0" tIns="0" rIns="0" bIns="0" rtlCol="0" anchor="t"/>
          <a:lstStyle/>
          <a:p>
            <a:pPr indent="0" marL="0">
              <a:buNone/>
            </a:pPr>
            <a:r>
              <a:rPr lang="en-US" sz="1600" b="1" dirty="0">
                <a:solidFill>
                  <a:srgbClr val="F5B43C"/>
                </a:solidFill>
                <a:latin typeface="Calibri" pitchFamily="34" charset="0"/>
                <a:ea typeface="Calibri" pitchFamily="34" charset="-122"/>
                <a:cs typeface="Calibri" pitchFamily="34" charset="-120"/>
              </a:rPr>
              <a:t>Width w vs time: a curve</a:t>
            </a:r>
            <a:endParaRPr lang="en-US" sz="1600" dirty="0"/>
          </a:p>
        </p:txBody>
      </p:sp>
      <p:sp>
        <p:nvSpPr>
          <p:cNvPr id="17" name="Text 15"/>
          <p:cNvSpPr txBox="1"/>
          <p:nvPr/>
        </p:nvSpPr>
        <p:spPr>
          <a:xfrm>
            <a:off x="822960" y="2075688"/>
            <a:ext cx="493776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w = k / D is a hyperbola in time, so a straight-line fit on w is biased.</a:t>
            </a:r>
            <a:endParaRPr lang="en-US" sz="1200" dirty="0"/>
          </a:p>
        </p:txBody>
      </p:sp>
      <p:sp>
        <p:nvSpPr>
          <p:cNvPr id="18" name="Shape 16"/>
          <p:cNvSpPr/>
          <p:nvPr/>
        </p:nvSpPr>
        <p:spPr>
          <a:xfrm>
            <a:off x="1188720" y="4617720"/>
            <a:ext cx="4480560" cy="0"/>
          </a:xfrm>
          <a:prstGeom prst="line">
            <a:avLst/>
          </a:prstGeom>
          <a:noFill/>
          <a:ln w="12700">
            <a:solidFill>
              <a:srgbClr val="667085"/>
            </a:solidFill>
            <a:prstDash val="solid"/>
          </a:ln>
        </p:spPr>
      </p:sp>
      <p:sp>
        <p:nvSpPr>
          <p:cNvPr id="19" name="Shape 17"/>
          <p:cNvSpPr/>
          <p:nvPr/>
        </p:nvSpPr>
        <p:spPr>
          <a:xfrm flipV="1">
            <a:off x="1188720" y="2423160"/>
            <a:ext cx="0" cy="2194560"/>
          </a:xfrm>
          <a:prstGeom prst="line">
            <a:avLst/>
          </a:prstGeom>
          <a:noFill/>
          <a:ln w="12700">
            <a:solidFill>
              <a:srgbClr val="667085"/>
            </a:solidFill>
            <a:prstDash val="solid"/>
          </a:ln>
        </p:spPr>
      </p:sp>
      <p:sp>
        <p:nvSpPr>
          <p:cNvPr id="20" name="Text 18"/>
          <p:cNvSpPr txBox="1"/>
          <p:nvPr/>
        </p:nvSpPr>
        <p:spPr>
          <a:xfrm>
            <a:off x="777240" y="2377440"/>
            <a:ext cx="320040" cy="274320"/>
          </a:xfrm>
          <a:prstGeom prst="rect">
            <a:avLst/>
          </a:prstGeom>
          <a:noFill/>
          <a:ln/>
        </p:spPr>
        <p:txBody>
          <a:bodyPr wrap="square" lIns="0" tIns="0" rIns="0" bIns="0" rtlCol="0" anchor="t"/>
          <a:lstStyle/>
          <a:p>
            <a:pPr algn="r" indent="0" marL="0">
              <a:buNone/>
            </a:pPr>
            <a:r>
              <a:rPr lang="en-US" sz="1400" b="1" dirty="0">
                <a:solidFill>
                  <a:srgbClr val="F5B43C"/>
                </a:solidFill>
                <a:latin typeface="Consolas" pitchFamily="34" charset="0"/>
                <a:ea typeface="Consolas" pitchFamily="34" charset="-122"/>
                <a:cs typeface="Consolas" pitchFamily="34" charset="-120"/>
              </a:rPr>
              <a:t>w</a:t>
            </a:r>
            <a:endParaRPr lang="en-US" sz="1400" dirty="0"/>
          </a:p>
        </p:txBody>
      </p:sp>
      <p:sp>
        <p:nvSpPr>
          <p:cNvPr id="21" name="Text 19"/>
          <p:cNvSpPr txBox="1"/>
          <p:nvPr/>
        </p:nvSpPr>
        <p:spPr>
          <a:xfrm>
            <a:off x="4937760" y="4663440"/>
            <a:ext cx="731520" cy="228600"/>
          </a:xfrm>
          <a:prstGeom prst="rect">
            <a:avLst/>
          </a:prstGeom>
          <a:noFill/>
          <a:ln/>
        </p:spPr>
        <p:txBody>
          <a:bodyPr wrap="square" lIns="0" tIns="0" rIns="0" bIns="0" rtlCol="0" anchor="t"/>
          <a:lstStyle/>
          <a:p>
            <a:pPr algn="r" indent="0" marL="0">
              <a:buNone/>
            </a:pPr>
            <a:r>
              <a:rPr lang="en-US" sz="1100" dirty="0">
                <a:solidFill>
                  <a:srgbClr val="A3ACBA"/>
                </a:solidFill>
                <a:latin typeface="Calibri" pitchFamily="34" charset="0"/>
                <a:ea typeface="Calibri" pitchFamily="34" charset="-122"/>
                <a:cs typeface="Calibri" pitchFamily="34" charset="-120"/>
              </a:rPr>
              <a:t>time →</a:t>
            </a:r>
            <a:endParaRPr lang="en-US" sz="1100" dirty="0"/>
          </a:p>
        </p:txBody>
      </p:sp>
      <p:sp>
        <p:nvSpPr>
          <p:cNvPr id="22" name="Shape 20"/>
          <p:cNvSpPr/>
          <p:nvPr/>
        </p:nvSpPr>
        <p:spPr>
          <a:xfrm>
            <a:off x="5337387" y="2423160"/>
            <a:ext cx="0" cy="2194560"/>
          </a:xfrm>
          <a:prstGeom prst="line">
            <a:avLst/>
          </a:prstGeom>
          <a:noFill/>
          <a:ln w="15875">
            <a:solidFill>
              <a:srgbClr val="F2545B"/>
            </a:solidFill>
            <a:prstDash val="dash"/>
          </a:ln>
        </p:spPr>
      </p:sp>
      <p:sp>
        <p:nvSpPr>
          <p:cNvPr id="23" name="Text 21"/>
          <p:cNvSpPr txBox="1"/>
          <p:nvPr/>
        </p:nvSpPr>
        <p:spPr>
          <a:xfrm>
            <a:off x="4925907" y="4663440"/>
            <a:ext cx="822960" cy="228600"/>
          </a:xfrm>
          <a:prstGeom prst="rect">
            <a:avLst/>
          </a:prstGeom>
          <a:noFill/>
          <a:ln/>
        </p:spPr>
        <p:txBody>
          <a:bodyPr wrap="square" lIns="0" tIns="0" rIns="0" bIns="0" rtlCol="0" anchor="t"/>
          <a:lstStyle/>
          <a:p>
            <a:pPr algn="ctr" indent="0" marL="0">
              <a:buNone/>
            </a:pPr>
            <a:r>
              <a:rPr lang="en-US" sz="1100" b="1" dirty="0">
                <a:solidFill>
                  <a:srgbClr val="F2545B"/>
                </a:solidFill>
                <a:latin typeface="Calibri" pitchFamily="34" charset="0"/>
                <a:ea typeface="Calibri" pitchFamily="34" charset="-122"/>
                <a:cs typeface="Calibri" pitchFamily="34" charset="-120"/>
              </a:rPr>
              <a:t>contact</a:t>
            </a:r>
            <a:endParaRPr lang="en-US" sz="1100" dirty="0"/>
          </a:p>
        </p:txBody>
      </p:sp>
      <p:sp>
        <p:nvSpPr>
          <p:cNvPr id="24" name="Shape 22"/>
          <p:cNvSpPr/>
          <p:nvPr/>
        </p:nvSpPr>
        <p:spPr>
          <a:xfrm>
            <a:off x="1188720" y="2497154"/>
            <a:ext cx="3833368" cy="1959403"/>
          </a:xfrm>
          <a:custGeom>
            <a:avLst/>
            <a:gdLst/>
            <a:ahLst/>
            <a:cxnLst/>
            <a:rect l="l" t="t" r="r" b="b"/>
            <a:pathLst>
              <a:path w="3833368" h="1959403">
                <a:moveTo>
                  <a:pt x="0" y="1959403"/>
                </a:moveTo>
                <a:lnTo>
                  <a:pt x="49784" y="1957445"/>
                </a:lnTo>
                <a:lnTo>
                  <a:pt x="99568" y="1955440"/>
                </a:lnTo>
                <a:lnTo>
                  <a:pt x="149352" y="1953384"/>
                </a:lnTo>
                <a:lnTo>
                  <a:pt x="199136" y="1951277"/>
                </a:lnTo>
                <a:lnTo>
                  <a:pt x="248920" y="1949116"/>
                </a:lnTo>
                <a:lnTo>
                  <a:pt x="298704" y="1946899"/>
                </a:lnTo>
                <a:lnTo>
                  <a:pt x="348488" y="1944624"/>
                </a:lnTo>
                <a:lnTo>
                  <a:pt x="398272" y="1942288"/>
                </a:lnTo>
                <a:lnTo>
                  <a:pt x="448056" y="1939890"/>
                </a:lnTo>
                <a:lnTo>
                  <a:pt x="497840" y="1937426"/>
                </a:lnTo>
                <a:lnTo>
                  <a:pt x="547624" y="1934894"/>
                </a:lnTo>
                <a:lnTo>
                  <a:pt x="597408" y="1932291"/>
                </a:lnTo>
                <a:lnTo>
                  <a:pt x="647192" y="1929614"/>
                </a:lnTo>
                <a:lnTo>
                  <a:pt x="696976" y="1926860"/>
                </a:lnTo>
                <a:lnTo>
                  <a:pt x="746760" y="1924026"/>
                </a:lnTo>
                <a:lnTo>
                  <a:pt x="796544" y="1921107"/>
                </a:lnTo>
                <a:lnTo>
                  <a:pt x="846328" y="1918100"/>
                </a:lnTo>
                <a:lnTo>
                  <a:pt x="896112" y="1915001"/>
                </a:lnTo>
                <a:lnTo>
                  <a:pt x="945896" y="1911805"/>
                </a:lnTo>
                <a:lnTo>
                  <a:pt x="995680" y="1908509"/>
                </a:lnTo>
                <a:lnTo>
                  <a:pt x="1045464" y="1905107"/>
                </a:lnTo>
                <a:lnTo>
                  <a:pt x="1095248" y="1901594"/>
                </a:lnTo>
                <a:lnTo>
                  <a:pt x="1145032" y="1897965"/>
                </a:lnTo>
                <a:lnTo>
                  <a:pt x="1194816" y="1894213"/>
                </a:lnTo>
                <a:lnTo>
                  <a:pt x="1244600" y="1890333"/>
                </a:lnTo>
                <a:lnTo>
                  <a:pt x="1294384" y="1886317"/>
                </a:lnTo>
                <a:lnTo>
                  <a:pt x="1344168" y="1882159"/>
                </a:lnTo>
                <a:lnTo>
                  <a:pt x="1393952" y="1877850"/>
                </a:lnTo>
                <a:lnTo>
                  <a:pt x="1443736" y="1873383"/>
                </a:lnTo>
                <a:lnTo>
                  <a:pt x="1493520" y="1868749"/>
                </a:lnTo>
                <a:lnTo>
                  <a:pt x="1543304" y="1863937"/>
                </a:lnTo>
                <a:lnTo>
                  <a:pt x="1593088" y="1858938"/>
                </a:lnTo>
                <a:lnTo>
                  <a:pt x="1642872" y="1853740"/>
                </a:lnTo>
                <a:lnTo>
                  <a:pt x="1692656" y="1848331"/>
                </a:lnTo>
                <a:lnTo>
                  <a:pt x="1742440" y="1842699"/>
                </a:lnTo>
                <a:lnTo>
                  <a:pt x="1792224" y="1836828"/>
                </a:lnTo>
                <a:lnTo>
                  <a:pt x="1842008" y="1830704"/>
                </a:lnTo>
                <a:lnTo>
                  <a:pt x="1891792" y="1824310"/>
                </a:lnTo>
                <a:lnTo>
                  <a:pt x="1941576" y="1817628"/>
                </a:lnTo>
                <a:lnTo>
                  <a:pt x="1991360" y="1810637"/>
                </a:lnTo>
                <a:lnTo>
                  <a:pt x="2041144" y="1803316"/>
                </a:lnTo>
                <a:lnTo>
                  <a:pt x="2090928" y="1795640"/>
                </a:lnTo>
                <a:lnTo>
                  <a:pt x="2140712" y="1787584"/>
                </a:lnTo>
                <a:lnTo>
                  <a:pt x="2190496" y="1779119"/>
                </a:lnTo>
                <a:lnTo>
                  <a:pt x="2240280" y="1770211"/>
                </a:lnTo>
                <a:lnTo>
                  <a:pt x="2290064" y="1760827"/>
                </a:lnTo>
                <a:lnTo>
                  <a:pt x="2339848" y="1750926"/>
                </a:lnTo>
                <a:lnTo>
                  <a:pt x="2389632" y="1740464"/>
                </a:lnTo>
                <a:lnTo>
                  <a:pt x="2439416" y="1729393"/>
                </a:lnTo>
                <a:lnTo>
                  <a:pt x="2489200" y="1717658"/>
                </a:lnTo>
                <a:lnTo>
                  <a:pt x="2538984" y="1705197"/>
                </a:lnTo>
                <a:lnTo>
                  <a:pt x="2588768" y="1691941"/>
                </a:lnTo>
                <a:lnTo>
                  <a:pt x="2638552" y="1677810"/>
                </a:lnTo>
                <a:lnTo>
                  <a:pt x="2688336" y="1662716"/>
                </a:lnTo>
                <a:lnTo>
                  <a:pt x="2738120" y="1646557"/>
                </a:lnTo>
                <a:lnTo>
                  <a:pt x="2787904" y="1629215"/>
                </a:lnTo>
                <a:lnTo>
                  <a:pt x="2837688" y="1610556"/>
                </a:lnTo>
                <a:lnTo>
                  <a:pt x="2887472" y="1590424"/>
                </a:lnTo>
                <a:lnTo>
                  <a:pt x="2937256" y="1568638"/>
                </a:lnTo>
                <a:lnTo>
                  <a:pt x="2987040" y="1544984"/>
                </a:lnTo>
                <a:lnTo>
                  <a:pt x="3036824" y="1519211"/>
                </a:lnTo>
                <a:lnTo>
                  <a:pt x="3086608" y="1491023"/>
                </a:lnTo>
                <a:lnTo>
                  <a:pt x="3136392" y="1460062"/>
                </a:lnTo>
                <a:lnTo>
                  <a:pt x="3186176" y="1425898"/>
                </a:lnTo>
                <a:lnTo>
                  <a:pt x="3235960" y="1388007"/>
                </a:lnTo>
                <a:lnTo>
                  <a:pt x="3285744" y="1345744"/>
                </a:lnTo>
                <a:lnTo>
                  <a:pt x="3335528" y="1298306"/>
                </a:lnTo>
                <a:lnTo>
                  <a:pt x="3385312" y="1244680"/>
                </a:lnTo>
                <a:lnTo>
                  <a:pt x="3435096" y="1183572"/>
                </a:lnTo>
                <a:lnTo>
                  <a:pt x="3484880" y="1113297"/>
                </a:lnTo>
                <a:lnTo>
                  <a:pt x="3534664" y="1031627"/>
                </a:lnTo>
                <a:lnTo>
                  <a:pt x="3584448" y="935544"/>
                </a:lnTo>
                <a:lnTo>
                  <a:pt x="3634232" y="820864"/>
                </a:lnTo>
                <a:lnTo>
                  <a:pt x="3684016" y="681610"/>
                </a:lnTo>
                <a:lnTo>
                  <a:pt x="3733800" y="508936"/>
                </a:lnTo>
                <a:lnTo>
                  <a:pt x="3783584" y="289168"/>
                </a:lnTo>
                <a:lnTo>
                  <a:pt x="3833368" y="0"/>
                </a:lnTo>
              </a:path>
            </a:pathLst>
          </a:custGeom>
          <a:noFill/>
          <a:ln w="31750">
            <a:solidFill>
              <a:srgbClr val="F5B43C"/>
            </a:solidFill>
            <a:prstDash val="solid"/>
          </a:ln>
        </p:spPr>
      </p:sp>
      <p:sp>
        <p:nvSpPr>
          <p:cNvPr id="25" name="Shape 23"/>
          <p:cNvSpPr/>
          <p:nvPr/>
        </p:nvSpPr>
        <p:spPr>
          <a:xfrm>
            <a:off x="1437640" y="4005897"/>
            <a:ext cx="4148667" cy="495039"/>
          </a:xfrm>
          <a:custGeom>
            <a:avLst/>
            <a:gdLst/>
            <a:ahLst/>
            <a:cxnLst/>
            <a:rect l="l" t="t" r="r" b="b"/>
            <a:pathLst>
              <a:path w="4148667" h="495039">
                <a:moveTo>
                  <a:pt x="0" y="495039"/>
                </a:moveTo>
                <a:lnTo>
                  <a:pt x="4148667" y="0"/>
                </a:lnTo>
              </a:path>
            </a:pathLst>
          </a:custGeom>
          <a:noFill/>
          <a:ln w="19050">
            <a:solidFill>
              <a:srgbClr val="A3ACBA"/>
            </a:solidFill>
            <a:prstDash val="dash"/>
          </a:ln>
        </p:spPr>
      </p:sp>
      <p:sp>
        <p:nvSpPr>
          <p:cNvPr id="26" name="Shape 24"/>
          <p:cNvSpPr/>
          <p:nvPr/>
        </p:nvSpPr>
        <p:spPr>
          <a:xfrm>
            <a:off x="1959017" y="4356830"/>
            <a:ext cx="118872" cy="118872"/>
          </a:xfrm>
          <a:prstGeom prst="ellipse">
            <a:avLst/>
          </a:prstGeom>
          <a:solidFill>
            <a:srgbClr val="F5B43C"/>
          </a:solidFill>
          <a:ln/>
        </p:spPr>
      </p:sp>
      <p:sp>
        <p:nvSpPr>
          <p:cNvPr id="27" name="Shape 25"/>
          <p:cNvSpPr/>
          <p:nvPr/>
        </p:nvSpPr>
        <p:spPr>
          <a:xfrm>
            <a:off x="2373884" y="4328051"/>
            <a:ext cx="118872" cy="118872"/>
          </a:xfrm>
          <a:prstGeom prst="ellipse">
            <a:avLst/>
          </a:prstGeom>
          <a:solidFill>
            <a:srgbClr val="F5B43C"/>
          </a:solidFill>
          <a:ln/>
        </p:spPr>
      </p:sp>
      <p:sp>
        <p:nvSpPr>
          <p:cNvPr id="28" name="Shape 26"/>
          <p:cNvSpPr/>
          <p:nvPr/>
        </p:nvSpPr>
        <p:spPr>
          <a:xfrm>
            <a:off x="2788751" y="4289679"/>
            <a:ext cx="118872" cy="118872"/>
          </a:xfrm>
          <a:prstGeom prst="ellipse">
            <a:avLst/>
          </a:prstGeom>
          <a:solidFill>
            <a:srgbClr val="F5B43C"/>
          </a:solidFill>
          <a:ln/>
        </p:spPr>
      </p:sp>
      <p:sp>
        <p:nvSpPr>
          <p:cNvPr id="29" name="Shape 27"/>
          <p:cNvSpPr/>
          <p:nvPr/>
        </p:nvSpPr>
        <p:spPr>
          <a:xfrm>
            <a:off x="3203617" y="4235958"/>
            <a:ext cx="118872" cy="118872"/>
          </a:xfrm>
          <a:prstGeom prst="ellipse">
            <a:avLst/>
          </a:prstGeom>
          <a:solidFill>
            <a:srgbClr val="F5B43C"/>
          </a:solidFill>
          <a:ln/>
        </p:spPr>
      </p:sp>
      <p:sp>
        <p:nvSpPr>
          <p:cNvPr id="30" name="Shape 28"/>
          <p:cNvSpPr/>
          <p:nvPr/>
        </p:nvSpPr>
        <p:spPr>
          <a:xfrm>
            <a:off x="3618484" y="4155377"/>
            <a:ext cx="118872" cy="118872"/>
          </a:xfrm>
          <a:prstGeom prst="ellipse">
            <a:avLst/>
          </a:prstGeom>
          <a:solidFill>
            <a:srgbClr val="F5B43C"/>
          </a:solidFill>
          <a:ln/>
        </p:spPr>
      </p:sp>
      <p:sp>
        <p:nvSpPr>
          <p:cNvPr id="31" name="Text 29"/>
          <p:cNvSpPr txBox="1"/>
          <p:nvPr/>
        </p:nvSpPr>
        <p:spPr>
          <a:xfrm>
            <a:off x="3719407" y="2450592"/>
            <a:ext cx="1280160" cy="411480"/>
          </a:xfrm>
          <a:prstGeom prst="rect">
            <a:avLst/>
          </a:prstGeom>
          <a:noFill/>
          <a:ln/>
        </p:spPr>
        <p:txBody>
          <a:bodyPr wrap="square" lIns="0" tIns="0" rIns="0" bIns="0" rtlCol="0" anchor="t"/>
          <a:lstStyle/>
          <a:p>
            <a:pPr algn="r" indent="0" marL="0">
              <a:buNone/>
            </a:pPr>
            <a:r>
              <a:rPr lang="en-US" sz="1100" b="1" dirty="0">
                <a:solidFill>
                  <a:srgbClr val="F5B43C"/>
                </a:solidFill>
                <a:latin typeface="Calibri" pitchFamily="34" charset="0"/>
                <a:ea typeface="Calibri" pitchFamily="34" charset="-122"/>
                <a:cs typeface="Calibri" pitchFamily="34" charset="-120"/>
              </a:rPr>
              <a:t>true w shoots up</a:t>
            </a:r>
            <a:endParaRPr lang="en-US" sz="1100" dirty="0"/>
          </a:p>
          <a:p>
            <a:pPr algn="r" indent="0" marL="0">
              <a:buNone/>
            </a:pPr>
            <a:r>
              <a:rPr lang="en-US" sz="1100" b="1" dirty="0">
                <a:solidFill>
                  <a:srgbClr val="F5B43C"/>
                </a:solidFill>
                <a:latin typeface="Calibri" pitchFamily="34" charset="0"/>
                <a:ea typeface="Calibri" pitchFamily="34" charset="-122"/>
                <a:cs typeface="Calibri" pitchFamily="34" charset="-120"/>
              </a:rPr>
              <a:t>near contact</a:t>
            </a:r>
            <a:endParaRPr lang="en-US" sz="1100" dirty="0"/>
          </a:p>
        </p:txBody>
      </p:sp>
      <p:sp>
        <p:nvSpPr>
          <p:cNvPr id="32" name="Text 30"/>
          <p:cNvSpPr txBox="1"/>
          <p:nvPr/>
        </p:nvSpPr>
        <p:spPr>
          <a:xfrm>
            <a:off x="4134273" y="3811905"/>
            <a:ext cx="1371600" cy="41148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straight fit on w:</a:t>
            </a:r>
            <a:endParaRPr lang="en-US" sz="1100" dirty="0"/>
          </a:p>
          <a:p>
            <a:pPr indent="0" marL="0">
              <a:buNone/>
            </a:pPr>
            <a:r>
              <a:rPr lang="en-US" sz="1100" dirty="0">
                <a:solidFill>
                  <a:srgbClr val="A3ACBA"/>
                </a:solidFill>
                <a:latin typeface="Calibri" pitchFamily="34" charset="0"/>
                <a:ea typeface="Calibri" pitchFamily="34" charset="-122"/>
                <a:cs typeface="Calibri" pitchFamily="34" charset="-120"/>
              </a:rPr>
              <a:t>far too slow</a:t>
            </a:r>
            <a:endParaRPr lang="en-US" sz="1100" dirty="0"/>
          </a:p>
        </p:txBody>
      </p:sp>
      <p:sp>
        <p:nvSpPr>
          <p:cNvPr id="33" name="Text 31"/>
          <p:cNvSpPr txBox="1"/>
          <p:nvPr/>
        </p:nvSpPr>
        <p:spPr>
          <a:xfrm>
            <a:off x="1935480" y="4260418"/>
            <a:ext cx="1463040" cy="228600"/>
          </a:xfrm>
          <a:prstGeom prst="rect">
            <a:avLst/>
          </a:prstGeom>
          <a:noFill/>
          <a:ln/>
        </p:spPr>
        <p:txBody>
          <a:bodyPr wrap="square" lIns="0" tIns="0" rIns="0" bIns="0" rtlCol="0" anchor="t"/>
          <a:lstStyle/>
          <a:p>
            <a:pPr indent="0" marL="0">
              <a:buNone/>
            </a:pPr>
            <a:r>
              <a:rPr lang="en-US" sz="1050" dirty="0">
                <a:solidFill>
                  <a:srgbClr val="F5B43C"/>
                </a:solidFill>
                <a:latin typeface="Calibri" pitchFamily="34" charset="0"/>
                <a:ea typeface="Calibri" pitchFamily="34" charset="-122"/>
                <a:cs typeface="Calibri" pitchFamily="34" charset="-120"/>
              </a:rPr>
              <a:t>measured samples</a:t>
            </a:r>
            <a:endParaRPr lang="en-US" sz="1050" dirty="0"/>
          </a:p>
        </p:txBody>
      </p:sp>
      <p:sp>
        <p:nvSpPr>
          <p:cNvPr id="34" name="Shape 32"/>
          <p:cNvSpPr/>
          <p:nvPr/>
        </p:nvSpPr>
        <p:spPr>
          <a:xfrm>
            <a:off x="6199632" y="1600200"/>
            <a:ext cx="5440680" cy="3611880"/>
          </a:xfrm>
          <a:prstGeom prst="roundRect">
            <a:avLst>
              <a:gd name="adj" fmla="val 2532"/>
            </a:avLst>
          </a:prstGeom>
          <a:solidFill>
            <a:srgbClr val="161B22"/>
          </a:solidFill>
          <a:ln w="9525">
            <a:solidFill>
              <a:srgbClr val="2E3845"/>
            </a:solidFill>
            <a:prstDash val="solid"/>
          </a:ln>
        </p:spPr>
      </p:sp>
      <p:sp>
        <p:nvSpPr>
          <p:cNvPr id="35" name="Text 33"/>
          <p:cNvSpPr txBox="1"/>
          <p:nvPr/>
        </p:nvSpPr>
        <p:spPr>
          <a:xfrm>
            <a:off x="6473952" y="1764792"/>
            <a:ext cx="4937760" cy="320040"/>
          </a:xfrm>
          <a:prstGeom prst="rect">
            <a:avLst/>
          </a:prstGeom>
          <a:noFill/>
          <a:ln/>
        </p:spPr>
        <p:txBody>
          <a:bodyPr wrap="square" lIns="0" tIns="0" rIns="0" bIns="0" rtlCol="0" anchor="t"/>
          <a:lstStyle/>
          <a:p>
            <a:pPr indent="0" marL="0">
              <a:buNone/>
            </a:pPr>
            <a:r>
              <a:rPr lang="en-US" sz="1600" b="1" dirty="0">
                <a:solidFill>
                  <a:srgbClr val="5EC8E5"/>
                </a:solidFill>
                <a:latin typeface="Calibri" pitchFamily="34" charset="0"/>
                <a:ea typeface="Calibri" pitchFamily="34" charset="-122"/>
                <a:cs typeface="Calibri" pitchFamily="34" charset="-120"/>
              </a:rPr>
              <a:t>u = 1/w vs time: a straight line</a:t>
            </a:r>
            <a:endParaRPr lang="en-US" sz="1600" dirty="0"/>
          </a:p>
        </p:txBody>
      </p:sp>
      <p:sp>
        <p:nvSpPr>
          <p:cNvPr id="36" name="Text 34"/>
          <p:cNvSpPr txBox="1"/>
          <p:nvPr/>
        </p:nvSpPr>
        <p:spPr>
          <a:xfrm>
            <a:off x="6473952" y="2075688"/>
            <a:ext cx="4937760" cy="27432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u = D / k falls linearly at constant speed. Extrapolate it to zero.</a:t>
            </a:r>
            <a:endParaRPr lang="en-US" sz="1200" dirty="0"/>
          </a:p>
        </p:txBody>
      </p:sp>
      <p:sp>
        <p:nvSpPr>
          <p:cNvPr id="37" name="Shape 35"/>
          <p:cNvSpPr/>
          <p:nvPr/>
        </p:nvSpPr>
        <p:spPr>
          <a:xfrm>
            <a:off x="6839712" y="4617720"/>
            <a:ext cx="4480560" cy="0"/>
          </a:xfrm>
          <a:prstGeom prst="line">
            <a:avLst/>
          </a:prstGeom>
          <a:noFill/>
          <a:ln w="12700">
            <a:solidFill>
              <a:srgbClr val="667085"/>
            </a:solidFill>
            <a:prstDash val="solid"/>
          </a:ln>
        </p:spPr>
      </p:sp>
      <p:sp>
        <p:nvSpPr>
          <p:cNvPr id="38" name="Shape 36"/>
          <p:cNvSpPr/>
          <p:nvPr/>
        </p:nvSpPr>
        <p:spPr>
          <a:xfrm flipV="1">
            <a:off x="6839712" y="2423160"/>
            <a:ext cx="0" cy="2194560"/>
          </a:xfrm>
          <a:prstGeom prst="line">
            <a:avLst/>
          </a:prstGeom>
          <a:noFill/>
          <a:ln w="12700">
            <a:solidFill>
              <a:srgbClr val="667085"/>
            </a:solidFill>
            <a:prstDash val="solid"/>
          </a:ln>
        </p:spPr>
      </p:sp>
      <p:sp>
        <p:nvSpPr>
          <p:cNvPr id="39" name="Text 37"/>
          <p:cNvSpPr txBox="1"/>
          <p:nvPr/>
        </p:nvSpPr>
        <p:spPr>
          <a:xfrm>
            <a:off x="6428232" y="2377440"/>
            <a:ext cx="320040" cy="274320"/>
          </a:xfrm>
          <a:prstGeom prst="rect">
            <a:avLst/>
          </a:prstGeom>
          <a:noFill/>
          <a:ln/>
        </p:spPr>
        <p:txBody>
          <a:bodyPr wrap="square" lIns="0" tIns="0" rIns="0" bIns="0" rtlCol="0" anchor="t"/>
          <a:lstStyle/>
          <a:p>
            <a:pPr algn="r" indent="0" marL="0">
              <a:buNone/>
            </a:pPr>
            <a:r>
              <a:rPr lang="en-US" sz="1400" b="1" dirty="0">
                <a:solidFill>
                  <a:srgbClr val="5EC8E5"/>
                </a:solidFill>
                <a:latin typeface="Consolas" pitchFamily="34" charset="0"/>
                <a:ea typeface="Consolas" pitchFamily="34" charset="-122"/>
                <a:cs typeface="Consolas" pitchFamily="34" charset="-120"/>
              </a:rPr>
              <a:t>u</a:t>
            </a:r>
            <a:endParaRPr lang="en-US" sz="1400" dirty="0"/>
          </a:p>
        </p:txBody>
      </p:sp>
      <p:sp>
        <p:nvSpPr>
          <p:cNvPr id="40" name="Shape 38"/>
          <p:cNvSpPr/>
          <p:nvPr/>
        </p:nvSpPr>
        <p:spPr>
          <a:xfrm>
            <a:off x="9328912" y="2560320"/>
            <a:ext cx="0" cy="2057400"/>
          </a:xfrm>
          <a:prstGeom prst="line">
            <a:avLst/>
          </a:prstGeom>
          <a:noFill/>
          <a:ln w="12700">
            <a:solidFill>
              <a:srgbClr val="667085"/>
            </a:solidFill>
            <a:prstDash val="dash"/>
          </a:ln>
        </p:spPr>
      </p:sp>
      <p:sp>
        <p:nvSpPr>
          <p:cNvPr id="41" name="Text 39"/>
          <p:cNvSpPr txBox="1"/>
          <p:nvPr/>
        </p:nvSpPr>
        <p:spPr>
          <a:xfrm>
            <a:off x="8963152" y="2331720"/>
            <a:ext cx="731520" cy="22860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now</a:t>
            </a:r>
            <a:endParaRPr lang="en-US" sz="1100" dirty="0"/>
          </a:p>
        </p:txBody>
      </p:sp>
      <p:sp>
        <p:nvSpPr>
          <p:cNvPr id="42" name="Shape 40"/>
          <p:cNvSpPr/>
          <p:nvPr/>
        </p:nvSpPr>
        <p:spPr>
          <a:xfrm>
            <a:off x="7005659" y="2707640"/>
            <a:ext cx="2323253" cy="1114213"/>
          </a:xfrm>
          <a:custGeom>
            <a:avLst/>
            <a:gdLst/>
            <a:ahLst/>
            <a:cxnLst/>
            <a:rect l="l" t="t" r="r" b="b"/>
            <a:pathLst>
              <a:path w="2323253" h="1114213">
                <a:moveTo>
                  <a:pt x="0" y="0"/>
                </a:moveTo>
                <a:lnTo>
                  <a:pt x="2323253" y="1114213"/>
                </a:lnTo>
              </a:path>
            </a:pathLst>
          </a:custGeom>
          <a:noFill/>
          <a:ln w="31750">
            <a:solidFill>
              <a:srgbClr val="5EC8E5"/>
            </a:solidFill>
            <a:prstDash val="solid"/>
          </a:ln>
        </p:spPr>
      </p:sp>
      <p:sp>
        <p:nvSpPr>
          <p:cNvPr id="43" name="Shape 41"/>
          <p:cNvSpPr/>
          <p:nvPr/>
        </p:nvSpPr>
        <p:spPr>
          <a:xfrm>
            <a:off x="9328912" y="3821853"/>
            <a:ext cx="1659467" cy="795867"/>
          </a:xfrm>
          <a:custGeom>
            <a:avLst/>
            <a:gdLst/>
            <a:ahLst/>
            <a:cxnLst/>
            <a:rect l="l" t="t" r="r" b="b"/>
            <a:pathLst>
              <a:path w="1659467" h="795867">
                <a:moveTo>
                  <a:pt x="0" y="0"/>
                </a:moveTo>
                <a:lnTo>
                  <a:pt x="1659467" y="795867"/>
                </a:lnTo>
              </a:path>
            </a:pathLst>
          </a:custGeom>
          <a:noFill/>
          <a:ln w="31750">
            <a:solidFill>
              <a:srgbClr val="5EC8E5"/>
            </a:solidFill>
            <a:prstDash val="dash"/>
          </a:ln>
        </p:spPr>
      </p:sp>
      <p:sp>
        <p:nvSpPr>
          <p:cNvPr id="44" name="Shape 42"/>
          <p:cNvSpPr/>
          <p:nvPr/>
        </p:nvSpPr>
        <p:spPr>
          <a:xfrm>
            <a:off x="7610009" y="2966551"/>
            <a:ext cx="118872" cy="118872"/>
          </a:xfrm>
          <a:prstGeom prst="ellipse">
            <a:avLst/>
          </a:prstGeom>
          <a:solidFill>
            <a:srgbClr val="5EC8E5"/>
          </a:solidFill>
          <a:ln/>
        </p:spPr>
      </p:sp>
      <p:sp>
        <p:nvSpPr>
          <p:cNvPr id="45" name="Shape 43"/>
          <p:cNvSpPr/>
          <p:nvPr/>
        </p:nvSpPr>
        <p:spPr>
          <a:xfrm>
            <a:off x="8024876" y="3165517"/>
            <a:ext cx="118872" cy="118872"/>
          </a:xfrm>
          <a:prstGeom prst="ellipse">
            <a:avLst/>
          </a:prstGeom>
          <a:solidFill>
            <a:srgbClr val="5EC8E5"/>
          </a:solidFill>
          <a:ln/>
        </p:spPr>
      </p:sp>
      <p:sp>
        <p:nvSpPr>
          <p:cNvPr id="46" name="Shape 44"/>
          <p:cNvSpPr/>
          <p:nvPr/>
        </p:nvSpPr>
        <p:spPr>
          <a:xfrm>
            <a:off x="8439743" y="3364484"/>
            <a:ext cx="118872" cy="118872"/>
          </a:xfrm>
          <a:prstGeom prst="ellipse">
            <a:avLst/>
          </a:prstGeom>
          <a:solidFill>
            <a:srgbClr val="5EC8E5"/>
          </a:solidFill>
          <a:ln/>
        </p:spPr>
      </p:sp>
      <p:sp>
        <p:nvSpPr>
          <p:cNvPr id="47" name="Shape 45"/>
          <p:cNvSpPr/>
          <p:nvPr/>
        </p:nvSpPr>
        <p:spPr>
          <a:xfrm>
            <a:off x="8854609" y="3563451"/>
            <a:ext cx="118872" cy="118872"/>
          </a:xfrm>
          <a:prstGeom prst="ellipse">
            <a:avLst/>
          </a:prstGeom>
          <a:solidFill>
            <a:srgbClr val="5EC8E5"/>
          </a:solidFill>
          <a:ln/>
        </p:spPr>
      </p:sp>
      <p:sp>
        <p:nvSpPr>
          <p:cNvPr id="48" name="Shape 46"/>
          <p:cNvSpPr/>
          <p:nvPr/>
        </p:nvSpPr>
        <p:spPr>
          <a:xfrm>
            <a:off x="9269476" y="3762417"/>
            <a:ext cx="118872" cy="118872"/>
          </a:xfrm>
          <a:prstGeom prst="ellipse">
            <a:avLst/>
          </a:prstGeom>
          <a:solidFill>
            <a:srgbClr val="5EC8E5"/>
          </a:solidFill>
          <a:ln/>
        </p:spPr>
      </p:sp>
      <p:sp>
        <p:nvSpPr>
          <p:cNvPr id="49" name="Shape 47"/>
          <p:cNvSpPr/>
          <p:nvPr/>
        </p:nvSpPr>
        <p:spPr>
          <a:xfrm>
            <a:off x="10878651" y="4507992"/>
            <a:ext cx="219456" cy="219456"/>
          </a:xfrm>
          <a:prstGeom prst="ellipse">
            <a:avLst/>
          </a:prstGeom>
          <a:solidFill>
            <a:srgbClr val="F2545B"/>
          </a:solidFill>
          <a:ln/>
        </p:spPr>
      </p:sp>
      <p:sp>
        <p:nvSpPr>
          <p:cNvPr id="50" name="Text 48"/>
          <p:cNvSpPr txBox="1"/>
          <p:nvPr/>
        </p:nvSpPr>
        <p:spPr>
          <a:xfrm>
            <a:off x="10485459" y="4178808"/>
            <a:ext cx="1097280" cy="228600"/>
          </a:xfrm>
          <a:prstGeom prst="rect">
            <a:avLst/>
          </a:prstGeom>
          <a:noFill/>
          <a:ln/>
        </p:spPr>
        <p:txBody>
          <a:bodyPr wrap="square" lIns="0" tIns="0" rIns="0" bIns="0" rtlCol="0" anchor="t"/>
          <a:lstStyle/>
          <a:p>
            <a:pPr algn="ctr" indent="0" marL="0">
              <a:buNone/>
            </a:pPr>
            <a:r>
              <a:rPr lang="en-US" sz="1100" b="1" dirty="0">
                <a:solidFill>
                  <a:srgbClr val="F2545B"/>
                </a:solidFill>
                <a:latin typeface="Calibri" pitchFamily="34" charset="0"/>
                <a:ea typeface="Calibri" pitchFamily="34" charset="-122"/>
                <a:cs typeface="Calibri" pitchFamily="34" charset="-120"/>
              </a:rPr>
              <a:t>contact: u = 0</a:t>
            </a:r>
            <a:endParaRPr lang="en-US" sz="1100" dirty="0"/>
          </a:p>
        </p:txBody>
      </p:sp>
      <p:sp>
        <p:nvSpPr>
          <p:cNvPr id="51" name="Text 49"/>
          <p:cNvSpPr txBox="1"/>
          <p:nvPr/>
        </p:nvSpPr>
        <p:spPr>
          <a:xfrm>
            <a:off x="9785265" y="3649133"/>
            <a:ext cx="1097280" cy="228600"/>
          </a:xfrm>
          <a:prstGeom prst="rect">
            <a:avLst/>
          </a:prstGeom>
          <a:noFill/>
          <a:ln/>
        </p:spPr>
        <p:txBody>
          <a:bodyPr wrap="square" lIns="0" tIns="0" rIns="0" bIns="0" rtlCol="0" anchor="t"/>
          <a:lstStyle/>
          <a:p>
            <a:pPr indent="0" marL="0">
              <a:buNone/>
            </a:pPr>
            <a:r>
              <a:rPr lang="en-US" sz="1100" i="1" dirty="0">
                <a:solidFill>
                  <a:srgbClr val="5EC8E5"/>
                </a:solidFill>
                <a:latin typeface="Calibri" pitchFamily="34" charset="0"/>
                <a:ea typeface="Calibri" pitchFamily="34" charset="-122"/>
                <a:cs typeface="Calibri" pitchFamily="34" charset="-120"/>
              </a:rPr>
              <a:t>extrapolate</a:t>
            </a:r>
            <a:endParaRPr lang="en-US" sz="1100" dirty="0"/>
          </a:p>
        </p:txBody>
      </p:sp>
      <p:sp>
        <p:nvSpPr>
          <p:cNvPr id="52" name="Shape 50"/>
          <p:cNvSpPr/>
          <p:nvPr/>
        </p:nvSpPr>
        <p:spPr>
          <a:xfrm>
            <a:off x="9328912" y="4800600"/>
            <a:ext cx="1659467" cy="0"/>
          </a:xfrm>
          <a:prstGeom prst="line">
            <a:avLst/>
          </a:prstGeom>
          <a:noFill/>
          <a:ln w="22225">
            <a:solidFill>
              <a:srgbClr val="F2545B"/>
            </a:solidFill>
            <a:prstDash val="solid"/>
            <a:headEnd type="triangle"/>
            <a:tailEnd type="triangle"/>
          </a:ln>
        </p:spPr>
      </p:sp>
      <p:sp>
        <p:nvSpPr>
          <p:cNvPr id="53" name="Text 51"/>
          <p:cNvSpPr txBox="1"/>
          <p:nvPr/>
        </p:nvSpPr>
        <p:spPr>
          <a:xfrm>
            <a:off x="9792885" y="4855464"/>
            <a:ext cx="731520" cy="256032"/>
          </a:xfrm>
          <a:prstGeom prst="rect">
            <a:avLst/>
          </a:prstGeom>
          <a:noFill/>
          <a:ln/>
        </p:spPr>
        <p:txBody>
          <a:bodyPr wrap="square" lIns="0" tIns="0" rIns="0" bIns="0" rtlCol="0" anchor="t"/>
          <a:lstStyle/>
          <a:p>
            <a:pPr algn="ctr" indent="0" marL="0">
              <a:buNone/>
            </a:pPr>
            <a:r>
              <a:rPr lang="en-US" sz="1300" b="1" dirty="0">
                <a:solidFill>
                  <a:srgbClr val="F2545B"/>
                </a:solidFill>
                <a:latin typeface="Calibri" pitchFamily="34" charset="0"/>
                <a:ea typeface="Calibri" pitchFamily="34" charset="-122"/>
                <a:cs typeface="Calibri" pitchFamily="34" charset="-120"/>
              </a:rPr>
              <a:t>TTC</a:t>
            </a:r>
            <a:endParaRPr lang="en-US" sz="1300" dirty="0"/>
          </a:p>
        </p:txBody>
      </p:sp>
      <p:sp>
        <p:nvSpPr>
          <p:cNvPr id="54" name="Text 52"/>
          <p:cNvSpPr txBox="1"/>
          <p:nvPr/>
        </p:nvSpPr>
        <p:spPr>
          <a:xfrm>
            <a:off x="10588752" y="4663440"/>
            <a:ext cx="731520" cy="228600"/>
          </a:xfrm>
          <a:prstGeom prst="rect">
            <a:avLst/>
          </a:prstGeom>
          <a:noFill/>
          <a:ln/>
        </p:spPr>
        <p:txBody>
          <a:bodyPr wrap="square" lIns="0" tIns="0" rIns="0" bIns="0" rtlCol="0" anchor="t"/>
          <a:lstStyle/>
          <a:p>
            <a:pPr algn="r" indent="0" marL="0">
              <a:buNone/>
            </a:pPr>
            <a:r>
              <a:rPr lang="en-US" sz="1100" dirty="0">
                <a:solidFill>
                  <a:srgbClr val="A3ACBA"/>
                </a:solidFill>
                <a:latin typeface="Calibri" pitchFamily="34" charset="0"/>
                <a:ea typeface="Calibri" pitchFamily="34" charset="-122"/>
                <a:cs typeface="Calibri" pitchFamily="34" charset="-120"/>
              </a:rPr>
              <a:t>time →</a:t>
            </a:r>
            <a:endParaRPr lang="en-US" sz="1100" dirty="0"/>
          </a:p>
        </p:txBody>
      </p:sp>
      <p:sp>
        <p:nvSpPr>
          <p:cNvPr id="55" name="Text 53"/>
          <p:cNvSpPr txBox="1"/>
          <p:nvPr/>
        </p:nvSpPr>
        <p:spPr>
          <a:xfrm>
            <a:off x="548640" y="5440680"/>
            <a:ext cx="1325880" cy="548640"/>
          </a:xfrm>
          <a:prstGeom prst="roundRect">
            <a:avLst>
              <a:gd name="adj" fmla="val 16667"/>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50" dirty="0">
                <a:solidFill>
                  <a:srgbClr val="F2F4F7"/>
                </a:solidFill>
                <a:latin typeface="Consolas" pitchFamily="34" charset="0"/>
                <a:ea typeface="Consolas" pitchFamily="34" charset="-122"/>
                <a:cs typeface="Consolas" pitchFamily="34" charset="-120"/>
              </a:rPr>
              <a:t>w = k / D</a:t>
            </a:r>
            <a:endParaRPr lang="en-US" sz="1250" dirty="0"/>
          </a:p>
        </p:txBody>
      </p:sp>
      <p:sp>
        <p:nvSpPr>
          <p:cNvPr id="56" name="Shape 54"/>
          <p:cNvSpPr/>
          <p:nvPr/>
        </p:nvSpPr>
        <p:spPr>
          <a:xfrm>
            <a:off x="1883664" y="5715000"/>
            <a:ext cx="33833" cy="0"/>
          </a:xfrm>
          <a:prstGeom prst="line">
            <a:avLst/>
          </a:prstGeom>
          <a:noFill/>
          <a:ln w="12700">
            <a:solidFill>
              <a:srgbClr val="667085"/>
            </a:solidFill>
            <a:prstDash val="solid"/>
            <a:tailEnd type="triangle"/>
          </a:ln>
        </p:spPr>
      </p:sp>
      <p:sp>
        <p:nvSpPr>
          <p:cNvPr id="57" name="Text 55"/>
          <p:cNvSpPr txBox="1"/>
          <p:nvPr/>
        </p:nvSpPr>
        <p:spPr>
          <a:xfrm>
            <a:off x="1929384" y="5440680"/>
            <a:ext cx="1783080" cy="548640"/>
          </a:xfrm>
          <a:prstGeom prst="roundRect">
            <a:avLst>
              <a:gd name="adj" fmla="val 16667"/>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50" dirty="0">
                <a:solidFill>
                  <a:srgbClr val="F2F4F7"/>
                </a:solidFill>
                <a:latin typeface="Consolas" pitchFamily="34" charset="0"/>
                <a:ea typeface="Consolas" pitchFamily="34" charset="-122"/>
                <a:cs typeface="Consolas" pitchFamily="34" charset="-120"/>
              </a:rPr>
              <a:t>u = 1/w = D / k</a:t>
            </a:r>
            <a:endParaRPr lang="en-US" sz="1250" dirty="0"/>
          </a:p>
        </p:txBody>
      </p:sp>
      <p:sp>
        <p:nvSpPr>
          <p:cNvPr id="58" name="Shape 56"/>
          <p:cNvSpPr/>
          <p:nvPr/>
        </p:nvSpPr>
        <p:spPr>
          <a:xfrm>
            <a:off x="3721608" y="5715000"/>
            <a:ext cx="33833" cy="0"/>
          </a:xfrm>
          <a:prstGeom prst="line">
            <a:avLst/>
          </a:prstGeom>
          <a:noFill/>
          <a:ln w="12700">
            <a:solidFill>
              <a:srgbClr val="667085"/>
            </a:solidFill>
            <a:prstDash val="solid"/>
            <a:tailEnd type="triangle"/>
          </a:ln>
        </p:spPr>
      </p:sp>
      <p:sp>
        <p:nvSpPr>
          <p:cNvPr id="59" name="Text 57"/>
          <p:cNvSpPr txBox="1"/>
          <p:nvPr/>
        </p:nvSpPr>
        <p:spPr>
          <a:xfrm>
            <a:off x="3767328" y="5440680"/>
            <a:ext cx="2971800" cy="548640"/>
          </a:xfrm>
          <a:prstGeom prst="roundRect">
            <a:avLst>
              <a:gd name="adj" fmla="val 16667"/>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50" dirty="0">
                <a:solidFill>
                  <a:srgbClr val="F2F4F7"/>
                </a:solidFill>
                <a:latin typeface="Calibri" pitchFamily="34" charset="0"/>
                <a:ea typeface="Calibri" pitchFamily="34" charset="-122"/>
                <a:cs typeface="Calibri" pitchFamily="34" charset="-120"/>
              </a:rPr>
              <a:t>constant speed ⇒ D, and so u, fall linearly</a:t>
            </a:r>
            <a:endParaRPr lang="en-US" sz="1250" dirty="0"/>
          </a:p>
        </p:txBody>
      </p:sp>
      <p:sp>
        <p:nvSpPr>
          <p:cNvPr id="60" name="Shape 58"/>
          <p:cNvSpPr/>
          <p:nvPr/>
        </p:nvSpPr>
        <p:spPr>
          <a:xfrm>
            <a:off x="6748272" y="5715000"/>
            <a:ext cx="33833" cy="0"/>
          </a:xfrm>
          <a:prstGeom prst="line">
            <a:avLst/>
          </a:prstGeom>
          <a:noFill/>
          <a:ln w="12700">
            <a:solidFill>
              <a:srgbClr val="667085"/>
            </a:solidFill>
            <a:prstDash val="solid"/>
            <a:tailEnd type="triangle"/>
          </a:ln>
        </p:spPr>
      </p:sp>
      <p:sp>
        <p:nvSpPr>
          <p:cNvPr id="61" name="Text 59"/>
          <p:cNvSpPr txBox="1"/>
          <p:nvPr/>
        </p:nvSpPr>
        <p:spPr>
          <a:xfrm>
            <a:off x="6793992" y="5440680"/>
            <a:ext cx="2971800" cy="548640"/>
          </a:xfrm>
          <a:prstGeom prst="roundRect">
            <a:avLst>
              <a:gd name="adj" fmla="val 16667"/>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50" dirty="0">
                <a:solidFill>
                  <a:srgbClr val="F2F4F7"/>
                </a:solidFill>
                <a:latin typeface="Calibri" pitchFamily="34" charset="0"/>
                <a:ea typeface="Calibri" pitchFamily="34" charset="-122"/>
                <a:cs typeface="Calibri" pitchFamily="34" charset="-120"/>
              </a:rPr>
              <a:t>fit a line to recent u; TTC = u / (−du/dt)</a:t>
            </a:r>
            <a:endParaRPr lang="en-US" sz="1250" dirty="0"/>
          </a:p>
        </p:txBody>
      </p:sp>
      <p:sp>
        <p:nvSpPr>
          <p:cNvPr id="62" name="Shape 60"/>
          <p:cNvSpPr/>
          <p:nvPr/>
        </p:nvSpPr>
        <p:spPr>
          <a:xfrm>
            <a:off x="9774936" y="5715000"/>
            <a:ext cx="33833" cy="0"/>
          </a:xfrm>
          <a:prstGeom prst="line">
            <a:avLst/>
          </a:prstGeom>
          <a:noFill/>
          <a:ln w="12700">
            <a:solidFill>
              <a:srgbClr val="667085"/>
            </a:solidFill>
            <a:prstDash val="solid"/>
            <a:tailEnd type="triangle"/>
          </a:ln>
        </p:spPr>
      </p:sp>
      <p:sp>
        <p:nvSpPr>
          <p:cNvPr id="63" name="Text 61"/>
          <p:cNvSpPr txBox="1"/>
          <p:nvPr/>
        </p:nvSpPr>
        <p:spPr>
          <a:xfrm>
            <a:off x="9820656" y="5440680"/>
            <a:ext cx="1819656" cy="548640"/>
          </a:xfrm>
          <a:prstGeom prst="roundRect">
            <a:avLst>
              <a:gd name="adj" fmla="val 16667"/>
            </a:avLst>
          </a:prstGeom>
          <a:solidFill>
            <a:srgbClr val="3DD68C">
              <a:alpha val="15000"/>
            </a:srgbClr>
          </a:solidFill>
          <a:ln w="12700">
            <a:solidFill>
              <a:srgbClr val="3DD68C"/>
            </a:solidFill>
          </a:ln>
        </p:spPr>
        <p:txBody>
          <a:bodyPr wrap="square" lIns="50800" tIns="50800" rIns="50800" bIns="50800" rtlCol="0" anchor="ctr"/>
          <a:lstStyle/>
          <a:p>
            <a:pPr algn="ctr" indent="0" marL="0">
              <a:buNone/>
            </a:pPr>
            <a:r>
              <a:rPr lang="en-US" sz="1250" b="1" dirty="0">
                <a:solidFill>
                  <a:srgbClr val="3DD68C"/>
                </a:solidFill>
                <a:latin typeface="Calibri" pitchFamily="34" charset="0"/>
                <a:ea typeface="Calibri" pitchFamily="34" charset="-122"/>
                <a:cs typeface="Calibri" pitchFamily="34" charset="-120"/>
              </a:rPr>
              <a:t>k cancels: no calibration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Measurement limit: box jitter looks like motion</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Even on a parked car, a detector’s box edges wobble by a pixel or two from frame to frame (assumed δ ≈ 1.5 px).</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12</a:t>
            </a:r>
            <a:endParaRPr lang="en-US" sz="1000" dirty="0"/>
          </a:p>
        </p:txBody>
      </p:sp>
      <p:sp>
        <p:nvSpPr>
          <p:cNvPr id="16" name="Shape 14"/>
          <p:cNvSpPr/>
          <p:nvPr/>
        </p:nvSpPr>
        <p:spPr>
          <a:xfrm>
            <a:off x="548640" y="1874520"/>
            <a:ext cx="5440680" cy="2743200"/>
          </a:xfrm>
          <a:prstGeom prst="roundRect">
            <a:avLst>
              <a:gd name="adj" fmla="val 3333"/>
            </a:avLst>
          </a:prstGeom>
          <a:solidFill>
            <a:srgbClr val="161B22"/>
          </a:solidFill>
          <a:ln w="9525">
            <a:solidFill>
              <a:srgbClr val="2E3845"/>
            </a:solidFill>
            <a:prstDash val="solid"/>
          </a:ln>
        </p:spPr>
      </p:sp>
      <p:sp>
        <p:nvSpPr>
          <p:cNvPr id="17" name="Text 15"/>
          <p:cNvSpPr txBox="1"/>
          <p:nvPr/>
        </p:nvSpPr>
        <p:spPr>
          <a:xfrm>
            <a:off x="777240" y="2011680"/>
            <a:ext cx="5029200" cy="320040"/>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Same jitter, very different meaning</a:t>
            </a:r>
            <a:endParaRPr lang="en-US" sz="1500" dirty="0"/>
          </a:p>
        </p:txBody>
      </p:sp>
      <p:sp>
        <p:nvSpPr>
          <p:cNvPr id="18" name="Shape 16"/>
          <p:cNvSpPr/>
          <p:nvPr/>
        </p:nvSpPr>
        <p:spPr>
          <a:xfrm>
            <a:off x="1033272" y="3207715"/>
            <a:ext cx="541325" cy="407091"/>
          </a:xfrm>
          <a:prstGeom prst="rect">
            <a:avLst/>
          </a:prstGeom>
          <a:noFill/>
          <a:ln w="12700">
            <a:solidFill>
              <a:srgbClr val="F5B43C"/>
            </a:solidFill>
            <a:prstDash val="sysDot"/>
          </a:ln>
        </p:spPr>
      </p:sp>
      <p:sp>
        <p:nvSpPr>
          <p:cNvPr id="19" name="Shape 17"/>
          <p:cNvSpPr/>
          <p:nvPr/>
        </p:nvSpPr>
        <p:spPr>
          <a:xfrm>
            <a:off x="1148486" y="3271723"/>
            <a:ext cx="472196" cy="368686"/>
          </a:xfrm>
          <a:prstGeom prst="rect">
            <a:avLst/>
          </a:prstGeom>
          <a:noFill/>
          <a:ln w="12700">
            <a:solidFill>
              <a:srgbClr val="F5B43C"/>
            </a:solidFill>
            <a:prstDash val="sysDot"/>
          </a:ln>
        </p:spPr>
      </p:sp>
      <p:sp>
        <p:nvSpPr>
          <p:cNvPr id="20" name="Shape 18"/>
          <p:cNvSpPr/>
          <p:nvPr/>
        </p:nvSpPr>
        <p:spPr>
          <a:xfrm>
            <a:off x="1097280" y="3246120"/>
            <a:ext cx="502920" cy="384048"/>
          </a:xfrm>
          <a:prstGeom prst="rect">
            <a:avLst/>
          </a:prstGeom>
          <a:noFill/>
          <a:ln w="22225">
            <a:solidFill>
              <a:srgbClr val="F5B43C"/>
            </a:solidFill>
            <a:prstDash val="solid"/>
          </a:ln>
        </p:spPr>
      </p:sp>
      <p:sp>
        <p:nvSpPr>
          <p:cNvPr id="21" name="Text 19"/>
          <p:cNvSpPr txBox="1"/>
          <p:nvPr/>
        </p:nvSpPr>
        <p:spPr>
          <a:xfrm>
            <a:off x="777240" y="3840480"/>
            <a:ext cx="1188720" cy="457200"/>
          </a:xfrm>
          <a:prstGeom prst="rect">
            <a:avLst/>
          </a:prstGeom>
          <a:noFill/>
          <a:ln/>
        </p:spPr>
        <p:txBody>
          <a:bodyPr wrap="square" lIns="0" tIns="0" rIns="0" bIns="0" rtlCol="0" anchor="t"/>
          <a:lstStyle/>
          <a:p>
            <a:pPr algn="ctr" indent="0" marL="0">
              <a:buNone/>
            </a:pPr>
            <a:r>
              <a:rPr lang="en-US" sz="1150" dirty="0">
                <a:solidFill>
                  <a:srgbClr val="A3ACBA"/>
                </a:solidFill>
                <a:latin typeface="Calibri" pitchFamily="34" charset="0"/>
                <a:ea typeface="Calibri" pitchFamily="34" charset="-122"/>
                <a:cs typeface="Calibri" pitchFamily="34" charset="-120"/>
              </a:rPr>
              <a:t>distant box</a:t>
            </a:r>
            <a:endParaRPr lang="en-US" sz="1150" dirty="0"/>
          </a:p>
          <a:p>
            <a:pPr algn="ctr" indent="0" marL="0">
              <a:buNone/>
            </a:pPr>
            <a:r>
              <a:rPr lang="en-US" sz="1150" dirty="0">
                <a:solidFill>
                  <a:srgbClr val="A3ACBA"/>
                </a:solidFill>
                <a:latin typeface="Calibri" pitchFamily="34" charset="0"/>
                <a:ea typeface="Calibri" pitchFamily="34" charset="-122"/>
                <a:cs typeface="Calibri" pitchFamily="34" charset="-120"/>
              </a:rPr>
              <a:t>w ≈ 20 px</a:t>
            </a:r>
            <a:endParaRPr lang="en-US" sz="1150" dirty="0"/>
          </a:p>
        </p:txBody>
      </p:sp>
      <p:sp>
        <p:nvSpPr>
          <p:cNvPr id="22" name="Text 20"/>
          <p:cNvSpPr txBox="1"/>
          <p:nvPr/>
        </p:nvSpPr>
        <p:spPr>
          <a:xfrm>
            <a:off x="685800" y="4261104"/>
            <a:ext cx="1463040" cy="256032"/>
          </a:xfrm>
          <a:prstGeom prst="rect">
            <a:avLst/>
          </a:prstGeom>
          <a:noFill/>
          <a:ln/>
        </p:spPr>
        <p:txBody>
          <a:bodyPr wrap="square" lIns="0" tIns="0" rIns="0" bIns="0" rtlCol="0" anchor="t"/>
          <a:lstStyle/>
          <a:p>
            <a:pPr algn="ctr" indent="0" marL="0">
              <a:buNone/>
            </a:pPr>
            <a:r>
              <a:rPr lang="en-US" sz="1200" b="1" dirty="0">
                <a:solidFill>
                  <a:srgbClr val="F5B43C"/>
                </a:solidFill>
                <a:latin typeface="Calibri" pitchFamily="34" charset="0"/>
                <a:ea typeface="Calibri" pitchFamily="34" charset="-122"/>
                <a:cs typeface="Calibri" pitchFamily="34" charset="-120"/>
              </a:rPr>
              <a:t>jitter = 7.5 % of w</a:t>
            </a:r>
            <a:endParaRPr lang="en-US" sz="1200" dirty="0"/>
          </a:p>
        </p:txBody>
      </p:sp>
      <p:sp>
        <p:nvSpPr>
          <p:cNvPr id="23" name="Shape 21"/>
          <p:cNvSpPr/>
          <p:nvPr/>
        </p:nvSpPr>
        <p:spPr>
          <a:xfrm>
            <a:off x="2720340" y="2473452"/>
            <a:ext cx="2391156" cy="1334110"/>
          </a:xfrm>
          <a:prstGeom prst="rect">
            <a:avLst/>
          </a:prstGeom>
          <a:noFill/>
          <a:ln w="12700">
            <a:solidFill>
              <a:srgbClr val="5EC8E5"/>
            </a:solidFill>
            <a:prstDash val="sysDot"/>
          </a:ln>
        </p:spPr>
      </p:sp>
      <p:sp>
        <p:nvSpPr>
          <p:cNvPr id="24" name="Shape 22"/>
          <p:cNvSpPr/>
          <p:nvPr/>
        </p:nvSpPr>
        <p:spPr>
          <a:xfrm>
            <a:off x="2761488" y="2496312"/>
            <a:ext cx="2366467" cy="1320394"/>
          </a:xfrm>
          <a:prstGeom prst="rect">
            <a:avLst/>
          </a:prstGeom>
          <a:noFill/>
          <a:ln w="12700">
            <a:solidFill>
              <a:srgbClr val="5EC8E5"/>
            </a:solidFill>
            <a:prstDash val="sysDot"/>
          </a:ln>
        </p:spPr>
      </p:sp>
      <p:sp>
        <p:nvSpPr>
          <p:cNvPr id="25" name="Shape 23"/>
          <p:cNvSpPr/>
          <p:nvPr/>
        </p:nvSpPr>
        <p:spPr>
          <a:xfrm>
            <a:off x="2743200" y="2487168"/>
            <a:ext cx="2377440" cy="1325880"/>
          </a:xfrm>
          <a:prstGeom prst="rect">
            <a:avLst/>
          </a:prstGeom>
          <a:noFill/>
          <a:ln w="22225">
            <a:solidFill>
              <a:srgbClr val="5EC8E5"/>
            </a:solidFill>
            <a:prstDash val="solid"/>
          </a:ln>
        </p:spPr>
      </p:sp>
      <p:pic>
        <p:nvPicPr>
          <p:cNvPr id="26" name="Image 0" descr="preencoded.png">    </p:cNvPr>
          <p:cNvPicPr>
            <a:picLocks noChangeAspect="1"/>
          </p:cNvPicPr>
          <p:nvPr/>
        </p:nvPicPr>
        <p:blipFill>
          <a:blip r:embed="rId1"/>
          <a:stretch>
            <a:fillRect/>
          </a:stretch>
        </p:blipFill>
        <p:spPr>
          <a:xfrm>
            <a:off x="3429000" y="2560320"/>
            <a:ext cx="1143000" cy="1143000"/>
          </a:xfrm>
          <a:prstGeom prst="rect">
            <a:avLst/>
          </a:prstGeom>
        </p:spPr>
      </p:pic>
      <p:sp>
        <p:nvSpPr>
          <p:cNvPr id="27" name="Text 24"/>
          <p:cNvSpPr txBox="1"/>
          <p:nvPr/>
        </p:nvSpPr>
        <p:spPr>
          <a:xfrm>
            <a:off x="2743200" y="3886200"/>
            <a:ext cx="2377440" cy="256032"/>
          </a:xfrm>
          <a:prstGeom prst="rect">
            <a:avLst/>
          </a:prstGeom>
          <a:noFill/>
          <a:ln/>
        </p:spPr>
        <p:txBody>
          <a:bodyPr wrap="square" lIns="0" tIns="0" rIns="0" bIns="0" rtlCol="0" anchor="t"/>
          <a:lstStyle/>
          <a:p>
            <a:pPr algn="ctr" indent="0" marL="0">
              <a:buNone/>
            </a:pPr>
            <a:r>
              <a:rPr lang="en-US" sz="1150" dirty="0">
                <a:solidFill>
                  <a:srgbClr val="A3ACBA"/>
                </a:solidFill>
                <a:latin typeface="Calibri" pitchFamily="34" charset="0"/>
                <a:ea typeface="Calibri" pitchFamily="34" charset="-122"/>
                <a:cs typeface="Calibri" pitchFamily="34" charset="-120"/>
              </a:rPr>
              <a:t>near box · w ≈ 200 px</a:t>
            </a:r>
            <a:endParaRPr lang="en-US" sz="1150" dirty="0"/>
          </a:p>
        </p:txBody>
      </p:sp>
      <p:sp>
        <p:nvSpPr>
          <p:cNvPr id="28" name="Text 25"/>
          <p:cNvSpPr txBox="1"/>
          <p:nvPr/>
        </p:nvSpPr>
        <p:spPr>
          <a:xfrm>
            <a:off x="2743200" y="4224528"/>
            <a:ext cx="2377440" cy="274320"/>
          </a:xfrm>
          <a:prstGeom prst="rect">
            <a:avLst/>
          </a:prstGeom>
          <a:noFill/>
          <a:ln/>
        </p:spPr>
        <p:txBody>
          <a:bodyPr wrap="square" lIns="0" tIns="0" rIns="0" bIns="0" rtlCol="0" anchor="t"/>
          <a:lstStyle/>
          <a:p>
            <a:pPr algn="ctr" indent="0" marL="0">
              <a:buNone/>
            </a:pPr>
            <a:r>
              <a:rPr lang="en-US" sz="1200" b="1" dirty="0">
                <a:solidFill>
                  <a:srgbClr val="5EC8E5"/>
                </a:solidFill>
                <a:latin typeface="Calibri" pitchFamily="34" charset="0"/>
                <a:ea typeface="Calibri" pitchFamily="34" charset="-122"/>
                <a:cs typeface="Calibri" pitchFamily="34" charset="-120"/>
              </a:rPr>
              <a:t>jitter = 0.75 % of w</a:t>
            </a:r>
            <a:endParaRPr lang="en-US" sz="1200" dirty="0"/>
          </a:p>
        </p:txBody>
      </p:sp>
      <p:sp>
        <p:nvSpPr>
          <p:cNvPr id="29" name="Shape 26"/>
          <p:cNvSpPr/>
          <p:nvPr/>
        </p:nvSpPr>
        <p:spPr>
          <a:xfrm>
            <a:off x="6199632" y="1874520"/>
            <a:ext cx="5440680" cy="2743200"/>
          </a:xfrm>
          <a:prstGeom prst="roundRect">
            <a:avLst>
              <a:gd name="adj" fmla="val 3333"/>
            </a:avLst>
          </a:prstGeom>
          <a:solidFill>
            <a:srgbClr val="161B22"/>
          </a:solidFill>
          <a:ln w="9525">
            <a:solidFill>
              <a:srgbClr val="2E3845"/>
            </a:solidFill>
            <a:prstDash val="solid"/>
          </a:ln>
        </p:spPr>
      </p:sp>
      <p:sp>
        <p:nvSpPr>
          <p:cNvPr id="30" name="Text 27"/>
          <p:cNvSpPr txBox="1"/>
          <p:nvPr/>
        </p:nvSpPr>
        <p:spPr>
          <a:xfrm>
            <a:off x="6428232" y="2011680"/>
            <a:ext cx="5029200" cy="320040"/>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Fake “approach” from jitter shrinks fast with size</a:t>
            </a:r>
            <a:endParaRPr lang="en-US" sz="1500" dirty="0"/>
          </a:p>
        </p:txBody>
      </p:sp>
      <p:sp>
        <p:nvSpPr>
          <p:cNvPr id="31" name="Text 28"/>
          <p:cNvSpPr txBox="1"/>
          <p:nvPr/>
        </p:nvSpPr>
        <p:spPr>
          <a:xfrm>
            <a:off x="6428232" y="2331720"/>
            <a:ext cx="5029200" cy="274320"/>
          </a:xfrm>
          <a:prstGeom prst="rect">
            <a:avLst/>
          </a:prstGeom>
          <a:noFill/>
          <a:ln/>
        </p:spPr>
        <p:txBody>
          <a:bodyPr wrap="square" lIns="0" tIns="0" rIns="0" bIns="0" rtlCol="0" anchor="t"/>
          <a:lstStyle/>
          <a:p>
            <a:pPr indent="0" marL="0">
              <a:buNone/>
            </a:pPr>
            <a:r>
              <a:rPr lang="en-US" sz="1300" dirty="0">
                <a:solidFill>
                  <a:srgbClr val="F5B43C"/>
                </a:solidFill>
                <a:latin typeface="Consolas" pitchFamily="34" charset="0"/>
                <a:ea typeface="Consolas" pitchFamily="34" charset="-122"/>
                <a:cs typeface="Consolas" pitchFamily="34" charset="-120"/>
              </a:rPr>
              <a:t>noise rate ≈ δ / (w² · T)</a:t>
            </a:r>
            <a:endParaRPr lang="en-US" sz="1300" dirty="0"/>
          </a:p>
        </p:txBody>
      </p:sp>
      <p:sp>
        <p:nvSpPr>
          <p:cNvPr id="32" name="Shape 29"/>
          <p:cNvSpPr/>
          <p:nvPr/>
        </p:nvSpPr>
        <p:spPr>
          <a:xfrm>
            <a:off x="6766560" y="4206240"/>
            <a:ext cx="4480560" cy="0"/>
          </a:xfrm>
          <a:prstGeom prst="line">
            <a:avLst/>
          </a:prstGeom>
          <a:noFill/>
          <a:ln w="12700">
            <a:solidFill>
              <a:srgbClr val="667085"/>
            </a:solidFill>
            <a:prstDash val="solid"/>
          </a:ln>
        </p:spPr>
      </p:sp>
      <p:sp>
        <p:nvSpPr>
          <p:cNvPr id="33" name="Shape 30"/>
          <p:cNvSpPr/>
          <p:nvPr/>
        </p:nvSpPr>
        <p:spPr>
          <a:xfrm flipV="1">
            <a:off x="6766560" y="2697480"/>
            <a:ext cx="0" cy="1508760"/>
          </a:xfrm>
          <a:prstGeom prst="line">
            <a:avLst/>
          </a:prstGeom>
          <a:noFill/>
          <a:ln w="12700">
            <a:solidFill>
              <a:srgbClr val="667085"/>
            </a:solidFill>
            <a:prstDash val="solid"/>
          </a:ln>
        </p:spPr>
      </p:sp>
      <p:sp>
        <p:nvSpPr>
          <p:cNvPr id="34" name="Text 31"/>
          <p:cNvSpPr txBox="1"/>
          <p:nvPr/>
        </p:nvSpPr>
        <p:spPr>
          <a:xfrm>
            <a:off x="9784080" y="4242816"/>
            <a:ext cx="1463040" cy="228600"/>
          </a:xfrm>
          <a:prstGeom prst="rect">
            <a:avLst/>
          </a:prstGeom>
          <a:noFill/>
          <a:ln/>
        </p:spPr>
        <p:txBody>
          <a:bodyPr wrap="square" lIns="0" tIns="0" rIns="0" bIns="0" rtlCol="0" anchor="t"/>
          <a:lstStyle/>
          <a:p>
            <a:pPr algn="r" indent="0" marL="0">
              <a:buNone/>
            </a:pPr>
            <a:r>
              <a:rPr lang="en-US" sz="1050" dirty="0">
                <a:solidFill>
                  <a:srgbClr val="A3ACBA"/>
                </a:solidFill>
                <a:latin typeface="Calibri" pitchFamily="34" charset="0"/>
                <a:ea typeface="Calibri" pitchFamily="34" charset="-122"/>
                <a:cs typeface="Calibri" pitchFamily="34" charset="-120"/>
              </a:rPr>
              <a:t>box width w →</a:t>
            </a:r>
            <a:endParaRPr lang="en-US" sz="1050" dirty="0"/>
          </a:p>
        </p:txBody>
      </p:sp>
      <p:sp>
        <p:nvSpPr>
          <p:cNvPr id="35" name="Shape 32"/>
          <p:cNvSpPr/>
          <p:nvPr/>
        </p:nvSpPr>
        <p:spPr>
          <a:xfrm>
            <a:off x="6860888" y="2772461"/>
            <a:ext cx="4386232" cy="1426754"/>
          </a:xfrm>
          <a:custGeom>
            <a:avLst/>
            <a:gdLst/>
            <a:ahLst/>
            <a:cxnLst/>
            <a:rect l="l" t="t" r="r" b="b"/>
            <a:pathLst>
              <a:path w="4386232" h="1426754">
                <a:moveTo>
                  <a:pt x="0" y="0"/>
                </a:moveTo>
                <a:lnTo>
                  <a:pt x="70746" y="461389"/>
                </a:lnTo>
                <a:lnTo>
                  <a:pt x="141491" y="731227"/>
                </a:lnTo>
                <a:lnTo>
                  <a:pt x="212237" y="902549"/>
                </a:lnTo>
                <a:lnTo>
                  <a:pt x="282983" y="1018068"/>
                </a:lnTo>
                <a:lnTo>
                  <a:pt x="353728" y="1099629"/>
                </a:lnTo>
                <a:lnTo>
                  <a:pt x="424474" y="1159345"/>
                </a:lnTo>
                <a:lnTo>
                  <a:pt x="495220" y="1204375"/>
                </a:lnTo>
                <a:lnTo>
                  <a:pt x="565965" y="1239167"/>
                </a:lnTo>
                <a:lnTo>
                  <a:pt x="636711" y="1266604"/>
                </a:lnTo>
                <a:lnTo>
                  <a:pt x="707457" y="1288624"/>
                </a:lnTo>
                <a:lnTo>
                  <a:pt x="778203" y="1306563"/>
                </a:lnTo>
                <a:lnTo>
                  <a:pt x="848948" y="1321371"/>
                </a:lnTo>
                <a:lnTo>
                  <a:pt x="919694" y="1333736"/>
                </a:lnTo>
                <a:lnTo>
                  <a:pt x="990440" y="1344168"/>
                </a:lnTo>
                <a:lnTo>
                  <a:pt x="1061185" y="1353049"/>
                </a:lnTo>
                <a:lnTo>
                  <a:pt x="1131931" y="1360673"/>
                </a:lnTo>
                <a:lnTo>
                  <a:pt x="1202677" y="1367265"/>
                </a:lnTo>
                <a:lnTo>
                  <a:pt x="1273422" y="1373005"/>
                </a:lnTo>
                <a:lnTo>
                  <a:pt x="1344168" y="1378032"/>
                </a:lnTo>
                <a:lnTo>
                  <a:pt x="1414914" y="1382461"/>
                </a:lnTo>
                <a:lnTo>
                  <a:pt x="1485659" y="1386382"/>
                </a:lnTo>
                <a:lnTo>
                  <a:pt x="1556405" y="1389870"/>
                </a:lnTo>
                <a:lnTo>
                  <a:pt x="1627151" y="1392987"/>
                </a:lnTo>
                <a:lnTo>
                  <a:pt x="1697896" y="1395783"/>
                </a:lnTo>
                <a:lnTo>
                  <a:pt x="1768642" y="1398301"/>
                </a:lnTo>
                <a:lnTo>
                  <a:pt x="1839388" y="1400577"/>
                </a:lnTo>
                <a:lnTo>
                  <a:pt x="1910133" y="1402641"/>
                </a:lnTo>
                <a:lnTo>
                  <a:pt x="1980879" y="1404518"/>
                </a:lnTo>
                <a:lnTo>
                  <a:pt x="2051625" y="1406231"/>
                </a:lnTo>
                <a:lnTo>
                  <a:pt x="2122371" y="1407797"/>
                </a:lnTo>
                <a:lnTo>
                  <a:pt x="2193116" y="1409234"/>
                </a:lnTo>
                <a:lnTo>
                  <a:pt x="2263862" y="1410554"/>
                </a:lnTo>
                <a:lnTo>
                  <a:pt x="2334608" y="1411771"/>
                </a:lnTo>
                <a:lnTo>
                  <a:pt x="2405353" y="1412895"/>
                </a:lnTo>
                <a:lnTo>
                  <a:pt x="2476099" y="1413935"/>
                </a:lnTo>
                <a:lnTo>
                  <a:pt x="2546845" y="1414898"/>
                </a:lnTo>
                <a:lnTo>
                  <a:pt x="2617590" y="1415794"/>
                </a:lnTo>
                <a:lnTo>
                  <a:pt x="2688336" y="1416627"/>
                </a:lnTo>
                <a:lnTo>
                  <a:pt x="2759082" y="1417404"/>
                </a:lnTo>
                <a:lnTo>
                  <a:pt x="2829827" y="1418129"/>
                </a:lnTo>
                <a:lnTo>
                  <a:pt x="2900573" y="1418807"/>
                </a:lnTo>
                <a:lnTo>
                  <a:pt x="2971319" y="1419441"/>
                </a:lnTo>
                <a:lnTo>
                  <a:pt x="3042064" y="1420037"/>
                </a:lnTo>
                <a:lnTo>
                  <a:pt x="3112810" y="1420596"/>
                </a:lnTo>
                <a:lnTo>
                  <a:pt x="3183556" y="1421121"/>
                </a:lnTo>
                <a:lnTo>
                  <a:pt x="3254301" y="1421616"/>
                </a:lnTo>
                <a:lnTo>
                  <a:pt x="3325047" y="1422082"/>
                </a:lnTo>
                <a:lnTo>
                  <a:pt x="3395793" y="1422522"/>
                </a:lnTo>
                <a:lnTo>
                  <a:pt x="3466539" y="1422938"/>
                </a:lnTo>
                <a:lnTo>
                  <a:pt x="3537284" y="1423331"/>
                </a:lnTo>
                <a:lnTo>
                  <a:pt x="3608030" y="1423703"/>
                </a:lnTo>
                <a:lnTo>
                  <a:pt x="3678776" y="1424055"/>
                </a:lnTo>
                <a:lnTo>
                  <a:pt x="3749521" y="1424390"/>
                </a:lnTo>
                <a:lnTo>
                  <a:pt x="3820267" y="1424707"/>
                </a:lnTo>
                <a:lnTo>
                  <a:pt x="3891013" y="1425009"/>
                </a:lnTo>
                <a:lnTo>
                  <a:pt x="3961758" y="1425295"/>
                </a:lnTo>
                <a:lnTo>
                  <a:pt x="4032504" y="1425568"/>
                </a:lnTo>
                <a:lnTo>
                  <a:pt x="4103250" y="1425828"/>
                </a:lnTo>
                <a:lnTo>
                  <a:pt x="4173995" y="1426076"/>
                </a:lnTo>
                <a:lnTo>
                  <a:pt x="4244741" y="1426312"/>
                </a:lnTo>
                <a:lnTo>
                  <a:pt x="4315487" y="1426538"/>
                </a:lnTo>
                <a:lnTo>
                  <a:pt x="4386232" y="1426754"/>
                </a:lnTo>
              </a:path>
            </a:pathLst>
          </a:custGeom>
          <a:noFill/>
          <a:ln w="31750">
            <a:solidFill>
              <a:srgbClr val="F5B43C"/>
            </a:solidFill>
            <a:prstDash val="solid"/>
          </a:ln>
        </p:spPr>
      </p:sp>
      <p:sp>
        <p:nvSpPr>
          <p:cNvPr id="36" name="Shape 33"/>
          <p:cNvSpPr/>
          <p:nvPr/>
        </p:nvSpPr>
        <p:spPr>
          <a:xfrm>
            <a:off x="6766560" y="3884371"/>
            <a:ext cx="4480560" cy="0"/>
          </a:xfrm>
          <a:prstGeom prst="line">
            <a:avLst/>
          </a:prstGeom>
          <a:noFill/>
          <a:ln w="15875">
            <a:solidFill>
              <a:srgbClr val="F2F4F7"/>
            </a:solidFill>
            <a:prstDash val="dash"/>
          </a:ln>
        </p:spPr>
      </p:sp>
      <p:sp>
        <p:nvSpPr>
          <p:cNvPr id="37" name="Text 34"/>
          <p:cNvSpPr txBox="1"/>
          <p:nvPr/>
        </p:nvSpPr>
        <p:spPr>
          <a:xfrm>
            <a:off x="9144000" y="3610051"/>
            <a:ext cx="2103120" cy="228600"/>
          </a:xfrm>
          <a:prstGeom prst="rect">
            <a:avLst/>
          </a:prstGeom>
          <a:noFill/>
          <a:ln/>
        </p:spPr>
        <p:txBody>
          <a:bodyPr wrap="square" lIns="0" tIns="0" rIns="0" bIns="0" rtlCol="0" anchor="t"/>
          <a:lstStyle/>
          <a:p>
            <a:pPr algn="r" indent="0" marL="0">
              <a:buNone/>
            </a:pPr>
            <a:r>
              <a:rPr lang="en-US" sz="1050" dirty="0">
                <a:solidFill>
                  <a:srgbClr val="F2F4F7"/>
                </a:solidFill>
                <a:latin typeface="Calibri" pitchFamily="34" charset="0"/>
                <a:ea typeface="Calibri" pitchFamily="34" charset="-122"/>
                <a:cs typeface="Calibri" pitchFamily="34" charset="-120"/>
              </a:rPr>
              <a:t>any single fixed threshold</a:t>
            </a:r>
            <a:endParaRPr lang="en-US" sz="1050" dirty="0"/>
          </a:p>
        </p:txBody>
      </p:sp>
      <p:sp>
        <p:nvSpPr>
          <p:cNvPr id="38" name="Text 35"/>
          <p:cNvSpPr txBox="1"/>
          <p:nvPr/>
        </p:nvSpPr>
        <p:spPr>
          <a:xfrm>
            <a:off x="7680960" y="2724912"/>
            <a:ext cx="1737360" cy="411480"/>
          </a:xfrm>
          <a:prstGeom prst="rect">
            <a:avLst/>
          </a:prstGeom>
          <a:noFill/>
          <a:ln/>
        </p:spPr>
        <p:txBody>
          <a:bodyPr wrap="square" lIns="0" tIns="0" rIns="0" bIns="0" rtlCol="0" anchor="t"/>
          <a:lstStyle/>
          <a:p>
            <a:pPr indent="0" marL="0">
              <a:buNone/>
            </a:pPr>
            <a:r>
              <a:rPr lang="en-US" sz="1050" b="1" dirty="0">
                <a:solidFill>
                  <a:srgbClr val="F5B43C"/>
                </a:solidFill>
                <a:latin typeface="Calibri" pitchFamily="34" charset="0"/>
                <a:ea typeface="Calibri" pitchFamily="34" charset="-122"/>
                <a:cs typeface="Calibri" pitchFamily="34" charset="-120"/>
              </a:rPr>
              <a:t>too loose here:</a:t>
            </a:r>
            <a:endParaRPr lang="en-US" sz="1050" dirty="0"/>
          </a:p>
          <a:p>
            <a:pPr indent="0" marL="0">
              <a:buNone/>
            </a:pPr>
            <a:r>
              <a:rPr lang="en-US" sz="1050" b="1" dirty="0">
                <a:solidFill>
                  <a:srgbClr val="F5B43C"/>
                </a:solidFill>
                <a:latin typeface="Calibri" pitchFamily="34" charset="0"/>
                <a:ea typeface="Calibri" pitchFamily="34" charset="-122"/>
                <a:cs typeface="Calibri" pitchFamily="34" charset="-120"/>
              </a:rPr>
              <a:t>jitter passes as motion</a:t>
            </a:r>
            <a:endParaRPr lang="en-US" sz="1050" dirty="0"/>
          </a:p>
        </p:txBody>
      </p:sp>
      <p:sp>
        <p:nvSpPr>
          <p:cNvPr id="39" name="Text 36"/>
          <p:cNvSpPr txBox="1"/>
          <p:nvPr/>
        </p:nvSpPr>
        <p:spPr>
          <a:xfrm>
            <a:off x="9144000" y="3957523"/>
            <a:ext cx="2103120" cy="411480"/>
          </a:xfrm>
          <a:prstGeom prst="rect">
            <a:avLst/>
          </a:prstGeom>
          <a:noFill/>
          <a:ln/>
        </p:spPr>
        <p:txBody>
          <a:bodyPr wrap="square" lIns="0" tIns="0" rIns="0" bIns="0" rtlCol="0" anchor="t"/>
          <a:lstStyle/>
          <a:p>
            <a:pPr algn="r" indent="0" marL="0">
              <a:buNone/>
            </a:pPr>
            <a:r>
              <a:rPr lang="en-US" sz="1050" b="1" dirty="0">
                <a:solidFill>
                  <a:srgbClr val="F2545B"/>
                </a:solidFill>
                <a:latin typeface="Calibri" pitchFamily="34" charset="0"/>
                <a:ea typeface="Calibri" pitchFamily="34" charset="-122"/>
                <a:cs typeface="Calibri" pitchFamily="34" charset="-120"/>
              </a:rPr>
              <a:t>too strict here: slow real</a:t>
            </a:r>
            <a:endParaRPr lang="en-US" sz="1050" dirty="0"/>
          </a:p>
          <a:p>
            <a:pPr algn="r" indent="0" marL="0">
              <a:buNone/>
            </a:pPr>
            <a:r>
              <a:rPr lang="en-US" sz="1050" b="1" dirty="0">
                <a:solidFill>
                  <a:srgbClr val="F2545B"/>
                </a:solidFill>
                <a:latin typeface="Calibri" pitchFamily="34" charset="0"/>
                <a:ea typeface="Calibri" pitchFamily="34" charset="-122"/>
                <a:cs typeface="Calibri" pitchFamily="34" charset="-120"/>
              </a:rPr>
              <a:t>approaches hide below it</a:t>
            </a:r>
            <a:endParaRPr lang="en-US" sz="1050" dirty="0"/>
          </a:p>
        </p:txBody>
      </p:sp>
      <p:sp>
        <p:nvSpPr>
          <p:cNvPr id="40" name="Shape 37"/>
          <p:cNvSpPr/>
          <p:nvPr/>
        </p:nvSpPr>
        <p:spPr>
          <a:xfrm>
            <a:off x="548640" y="4800600"/>
            <a:ext cx="11091672" cy="1371600"/>
          </a:xfrm>
          <a:prstGeom prst="roundRect">
            <a:avLst>
              <a:gd name="adj" fmla="val 6667"/>
            </a:avLst>
          </a:prstGeom>
          <a:solidFill>
            <a:srgbClr val="161B22"/>
          </a:solidFill>
          <a:ln w="9525">
            <a:solidFill>
              <a:srgbClr val="2E3845"/>
            </a:solidFill>
            <a:prstDash val="solid"/>
          </a:ln>
        </p:spPr>
      </p:sp>
      <p:sp>
        <p:nvSpPr>
          <p:cNvPr id="41" name="Text 38"/>
          <p:cNvSpPr txBox="1"/>
          <p:nvPr/>
        </p:nvSpPr>
        <p:spPr>
          <a:xfrm>
            <a:off x="777240" y="4937760"/>
            <a:ext cx="3108960" cy="274320"/>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So the limit scales with the box</a:t>
            </a:r>
            <a:endParaRPr lang="en-US" sz="1400" dirty="0"/>
          </a:p>
        </p:txBody>
      </p:sp>
      <p:sp>
        <p:nvSpPr>
          <p:cNvPr id="42" name="Text 39"/>
          <p:cNvSpPr txBox="1"/>
          <p:nvPr/>
        </p:nvSpPr>
        <p:spPr>
          <a:xfrm>
            <a:off x="777240" y="5257800"/>
            <a:ext cx="3108960" cy="320040"/>
          </a:xfrm>
          <a:prstGeom prst="rect">
            <a:avLst/>
          </a:prstGeom>
          <a:noFill/>
          <a:ln/>
        </p:spPr>
        <p:txBody>
          <a:bodyPr wrap="square" lIns="0" tIns="0" rIns="0" bIns="0" rtlCol="0" anchor="t"/>
          <a:lstStyle/>
          <a:p>
            <a:pPr indent="0" marL="0">
              <a:buNone/>
            </a:pPr>
            <a:r>
              <a:rPr lang="en-US" sz="1500" b="1" dirty="0">
                <a:solidFill>
                  <a:srgbClr val="5EC8E5"/>
                </a:solidFill>
                <a:latin typeface="Consolas" pitchFamily="34" charset="0"/>
                <a:ea typeface="Consolas" pitchFamily="34" charset="-122"/>
                <a:cs typeface="Consolas" pitchFamily="34" charset="-120"/>
              </a:rPr>
              <a:t>TTC_horizon = w·T / δ</a:t>
            </a:r>
            <a:endParaRPr lang="en-US" sz="1500" dirty="0"/>
          </a:p>
        </p:txBody>
      </p:sp>
      <p:sp>
        <p:nvSpPr>
          <p:cNvPr id="43" name="Text 40"/>
          <p:cNvSpPr txBox="1"/>
          <p:nvPr/>
        </p:nvSpPr>
        <p:spPr>
          <a:xfrm>
            <a:off x="777240" y="5596128"/>
            <a:ext cx="3108960" cy="45720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beyond it, a TTC is indistinguishable from jitter</a:t>
            </a:r>
            <a:endParaRPr lang="en-US" sz="1100" dirty="0"/>
          </a:p>
        </p:txBody>
      </p:sp>
      <p:sp>
        <p:nvSpPr>
          <p:cNvPr id="44" name="Shape 41"/>
          <p:cNvSpPr/>
          <p:nvPr/>
        </p:nvSpPr>
        <p:spPr>
          <a:xfrm>
            <a:off x="4069080" y="4983480"/>
            <a:ext cx="2423160" cy="1005840"/>
          </a:xfrm>
          <a:prstGeom prst="roundRect">
            <a:avLst>
              <a:gd name="adj" fmla="val 7273"/>
            </a:avLst>
          </a:prstGeom>
          <a:solidFill>
            <a:srgbClr val="F2545B">
              <a:alpha val="14000"/>
            </a:srgbClr>
          </a:solidFill>
          <a:ln w="12700">
            <a:solidFill>
              <a:srgbClr val="F2545B"/>
            </a:solidFill>
            <a:prstDash val="solid"/>
          </a:ln>
        </p:spPr>
      </p:sp>
      <p:sp>
        <p:nvSpPr>
          <p:cNvPr id="45" name="Text 42"/>
          <p:cNvSpPr txBox="1"/>
          <p:nvPr/>
        </p:nvSpPr>
        <p:spPr>
          <a:xfrm>
            <a:off x="4206240" y="5074920"/>
            <a:ext cx="2194560" cy="292608"/>
          </a:xfrm>
          <a:prstGeom prst="rect">
            <a:avLst/>
          </a:prstGeom>
          <a:noFill/>
          <a:ln/>
        </p:spPr>
        <p:txBody>
          <a:bodyPr wrap="square" lIns="0" tIns="0" rIns="0" bIns="0" rtlCol="0" anchor="t"/>
          <a:lstStyle/>
          <a:p>
            <a:pPr indent="0" marL="0">
              <a:buNone/>
            </a:pPr>
            <a:r>
              <a:rPr lang="en-US" sz="1300" b="1" dirty="0">
                <a:solidFill>
                  <a:srgbClr val="F2545B"/>
                </a:solidFill>
                <a:latin typeface="Calibri" pitchFamily="34" charset="0"/>
                <a:ea typeface="Calibri" pitchFamily="34" charset="-122"/>
                <a:cs typeface="Calibri" pitchFamily="34" charset="-120"/>
              </a:rPr>
              <a:t>APPROACHING</a:t>
            </a:r>
            <a:endParaRPr lang="en-US" sz="1300" dirty="0"/>
          </a:p>
        </p:txBody>
      </p:sp>
      <p:sp>
        <p:nvSpPr>
          <p:cNvPr id="46" name="Text 43"/>
          <p:cNvSpPr txBox="1"/>
          <p:nvPr/>
        </p:nvSpPr>
        <p:spPr>
          <a:xfrm>
            <a:off x="4206240" y="5394960"/>
            <a:ext cx="2194560" cy="54864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TTC inside the horizon: real motion, trusted</a:t>
            </a:r>
            <a:endParaRPr lang="en-US" sz="1150" dirty="0"/>
          </a:p>
        </p:txBody>
      </p:sp>
      <p:sp>
        <p:nvSpPr>
          <p:cNvPr id="47" name="Shape 44"/>
          <p:cNvSpPr/>
          <p:nvPr/>
        </p:nvSpPr>
        <p:spPr>
          <a:xfrm>
            <a:off x="6629400" y="4983480"/>
            <a:ext cx="2423160" cy="1005840"/>
          </a:xfrm>
          <a:prstGeom prst="roundRect">
            <a:avLst>
              <a:gd name="adj" fmla="val 7273"/>
            </a:avLst>
          </a:prstGeom>
          <a:solidFill>
            <a:srgbClr val="3DD68C">
              <a:alpha val="14000"/>
            </a:srgbClr>
          </a:solidFill>
          <a:ln w="12700">
            <a:solidFill>
              <a:srgbClr val="3DD68C"/>
            </a:solidFill>
            <a:prstDash val="solid"/>
          </a:ln>
        </p:spPr>
      </p:sp>
      <p:sp>
        <p:nvSpPr>
          <p:cNvPr id="48" name="Text 45"/>
          <p:cNvSpPr txBox="1"/>
          <p:nvPr/>
        </p:nvSpPr>
        <p:spPr>
          <a:xfrm>
            <a:off x="6766560" y="5074920"/>
            <a:ext cx="2194560" cy="292608"/>
          </a:xfrm>
          <a:prstGeom prst="rect">
            <a:avLst/>
          </a:prstGeom>
          <a:noFill/>
          <a:ln/>
        </p:spPr>
        <p:txBody>
          <a:bodyPr wrap="square" lIns="0" tIns="0" rIns="0" bIns="0" rtlCol="0" anchor="t"/>
          <a:lstStyle/>
          <a:p>
            <a:pPr indent="0" marL="0">
              <a:buNone/>
            </a:pPr>
            <a:r>
              <a:rPr lang="en-US" sz="1300" b="1" dirty="0">
                <a:solidFill>
                  <a:srgbClr val="3DD68C"/>
                </a:solidFill>
                <a:latin typeface="Calibri" pitchFamily="34" charset="0"/>
                <a:ea typeface="Calibri" pitchFamily="34" charset="-122"/>
                <a:cs typeface="Calibri" pitchFamily="34" charset="-120"/>
              </a:rPr>
              <a:t>NOT APPROACHING</a:t>
            </a:r>
            <a:endParaRPr lang="en-US" sz="1300" dirty="0"/>
          </a:p>
        </p:txBody>
      </p:sp>
      <p:sp>
        <p:nvSpPr>
          <p:cNvPr id="49" name="Text 46"/>
          <p:cNvSpPr txBox="1"/>
          <p:nvPr/>
        </p:nvSpPr>
        <p:spPr>
          <a:xfrm>
            <a:off x="6766560" y="5394960"/>
            <a:ext cx="2194560" cy="54864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beyond the horizon, and horizon ≥ 2 × 5 s</a:t>
            </a:r>
            <a:endParaRPr lang="en-US" sz="1150" dirty="0"/>
          </a:p>
        </p:txBody>
      </p:sp>
      <p:sp>
        <p:nvSpPr>
          <p:cNvPr id="50" name="Shape 47"/>
          <p:cNvSpPr/>
          <p:nvPr/>
        </p:nvSpPr>
        <p:spPr>
          <a:xfrm>
            <a:off x="9189720" y="4983480"/>
            <a:ext cx="2423160" cy="1005840"/>
          </a:xfrm>
          <a:prstGeom prst="roundRect">
            <a:avLst>
              <a:gd name="adj" fmla="val 7273"/>
            </a:avLst>
          </a:prstGeom>
          <a:solidFill>
            <a:srgbClr val="F5B43C">
              <a:alpha val="14000"/>
            </a:srgbClr>
          </a:solidFill>
          <a:ln w="12700">
            <a:solidFill>
              <a:srgbClr val="F5B43C"/>
            </a:solidFill>
            <a:prstDash val="solid"/>
          </a:ln>
        </p:spPr>
      </p:sp>
      <p:sp>
        <p:nvSpPr>
          <p:cNvPr id="51" name="Text 48"/>
          <p:cNvSpPr txBox="1"/>
          <p:nvPr/>
        </p:nvSpPr>
        <p:spPr>
          <a:xfrm>
            <a:off x="9326880" y="5074920"/>
            <a:ext cx="2194560" cy="292608"/>
          </a:xfrm>
          <a:prstGeom prst="rect">
            <a:avLst/>
          </a:prstGeom>
          <a:noFill/>
          <a:ln/>
        </p:spPr>
        <p:txBody>
          <a:bodyPr wrap="square" lIns="0" tIns="0" rIns="0" bIns="0" rtlCol="0" anchor="t"/>
          <a:lstStyle/>
          <a:p>
            <a:pPr indent="0" marL="0">
              <a:buNone/>
            </a:pPr>
            <a:r>
              <a:rPr lang="en-US" sz="1300" b="1" dirty="0">
                <a:solidFill>
                  <a:srgbClr val="F5B43C"/>
                </a:solidFill>
                <a:latin typeface="Calibri" pitchFamily="34" charset="0"/>
                <a:ea typeface="Calibri" pitchFamily="34" charset="-122"/>
                <a:cs typeface="Calibri" pitchFamily="34" charset="-120"/>
              </a:rPr>
              <a:t>UNKNOWN → blocks SAFE</a:t>
            </a:r>
            <a:endParaRPr lang="en-US" sz="1300" dirty="0"/>
          </a:p>
        </p:txBody>
      </p:sp>
      <p:sp>
        <p:nvSpPr>
          <p:cNvPr id="52" name="Text 49"/>
          <p:cNvSpPr txBox="1"/>
          <p:nvPr/>
        </p:nvSpPr>
        <p:spPr>
          <a:xfrm>
            <a:off x="9326880" y="5394960"/>
            <a:ext cx="2194560" cy="54864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horizon too short to tell: never read as safe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METHODOLOGY</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F2F4F7"/>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Evidence of danger is cheap; evidence of safety must be strong</a:t>
            </a:r>
            <a:endParaRPr lang="en-US" sz="3000" dirty="0"/>
          </a:p>
        </p:txBody>
      </p:sp>
      <p:sp>
        <p:nvSpPr>
          <p:cNvPr id="13" name="Text 11"/>
          <p:cNvSpPr txBox="1"/>
          <p:nvPr/>
        </p:nvSpPr>
        <p:spPr>
          <a:xfrm>
            <a:off x="548640" y="1307592"/>
            <a:ext cx="11091672" cy="384048"/>
          </a:xfrm>
          <a:prstGeom prst="rect">
            <a:avLst/>
          </a:prstGeom>
          <a:noFill/>
          <a:ln/>
        </p:spPr>
        <p:txBody>
          <a:bodyPr wrap="square" lIns="0" tIns="0" rIns="0" bIns="0" rtlCol="0" anchor="t"/>
          <a:lstStyle/>
          <a:p>
            <a:pPr indent="0" marL="0">
              <a:buNone/>
            </a:pPr>
            <a:r>
              <a:rPr lang="en-US" sz="1500" dirty="0">
                <a:solidFill>
                  <a:srgbClr val="A3ACBA"/>
                </a:solidFill>
                <a:latin typeface="Calibri" pitchFamily="34" charset="0"/>
                <a:ea typeface="Calibri" pitchFamily="34" charset="-122"/>
                <a:cs typeface="Calibri" pitchFamily="34" charset="-120"/>
              </a:rPr>
              <a:t>The same detector confidence is treated differently depending on which way the evidence pushes.</a:t>
            </a:r>
            <a:endParaRPr lang="en-US" sz="1500" dirty="0"/>
          </a:p>
        </p:txBody>
      </p:sp>
      <p:sp>
        <p:nvSpPr>
          <p:cNvPr id="14" name="Text 12"/>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5" name="Text 13"/>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13</a:t>
            </a:r>
            <a:endParaRPr lang="en-US" sz="1000" dirty="0"/>
          </a:p>
        </p:txBody>
      </p:sp>
      <p:sp>
        <p:nvSpPr>
          <p:cNvPr id="16" name="Text 14"/>
          <p:cNvSpPr txBox="1"/>
          <p:nvPr/>
        </p:nvSpPr>
        <p:spPr>
          <a:xfrm>
            <a:off x="3017520"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0.0</a:t>
            </a:r>
            <a:endParaRPr lang="en-US" sz="1100" dirty="0"/>
          </a:p>
        </p:txBody>
      </p:sp>
      <p:sp>
        <p:nvSpPr>
          <p:cNvPr id="17" name="Text 15"/>
          <p:cNvSpPr txBox="1"/>
          <p:nvPr/>
        </p:nvSpPr>
        <p:spPr>
          <a:xfrm>
            <a:off x="4645152"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0.2</a:t>
            </a:r>
            <a:endParaRPr lang="en-US" sz="1100" dirty="0"/>
          </a:p>
        </p:txBody>
      </p:sp>
      <p:sp>
        <p:nvSpPr>
          <p:cNvPr id="18" name="Text 16"/>
          <p:cNvSpPr txBox="1"/>
          <p:nvPr/>
        </p:nvSpPr>
        <p:spPr>
          <a:xfrm>
            <a:off x="6272784"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0.4</a:t>
            </a:r>
            <a:endParaRPr lang="en-US" sz="1100" dirty="0"/>
          </a:p>
        </p:txBody>
      </p:sp>
      <p:sp>
        <p:nvSpPr>
          <p:cNvPr id="19" name="Text 17"/>
          <p:cNvSpPr txBox="1"/>
          <p:nvPr/>
        </p:nvSpPr>
        <p:spPr>
          <a:xfrm>
            <a:off x="7900416"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0.6</a:t>
            </a:r>
            <a:endParaRPr lang="en-US" sz="1100" dirty="0"/>
          </a:p>
        </p:txBody>
      </p:sp>
      <p:sp>
        <p:nvSpPr>
          <p:cNvPr id="20" name="Text 18"/>
          <p:cNvSpPr txBox="1"/>
          <p:nvPr/>
        </p:nvSpPr>
        <p:spPr>
          <a:xfrm>
            <a:off x="9528048"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0.8</a:t>
            </a:r>
            <a:endParaRPr lang="en-US" sz="1100" dirty="0"/>
          </a:p>
        </p:txBody>
      </p:sp>
      <p:sp>
        <p:nvSpPr>
          <p:cNvPr id="21" name="Text 19"/>
          <p:cNvSpPr txBox="1"/>
          <p:nvPr/>
        </p:nvSpPr>
        <p:spPr>
          <a:xfrm>
            <a:off x="11155680" y="1874520"/>
            <a:ext cx="548640" cy="228600"/>
          </a:xfrm>
          <a:prstGeom prst="rect">
            <a:avLst/>
          </a:prstGeom>
          <a:noFill/>
          <a:ln/>
        </p:spPr>
        <p:txBody>
          <a:bodyPr wrap="square" lIns="0" tIns="0" rIns="0" bIns="0" rtlCol="0" anchor="t"/>
          <a:lstStyle/>
          <a:p>
            <a:pPr algn="ctr" indent="0" marL="0">
              <a:buNone/>
            </a:pPr>
            <a:r>
              <a:rPr lang="en-US" sz="1100" dirty="0">
                <a:solidFill>
                  <a:srgbClr val="667085"/>
                </a:solidFill>
                <a:latin typeface="Calibri" pitchFamily="34" charset="0"/>
                <a:ea typeface="Calibri" pitchFamily="34" charset="-122"/>
                <a:cs typeface="Calibri" pitchFamily="34" charset="-120"/>
              </a:rPr>
              <a:t>1.0</a:t>
            </a:r>
            <a:endParaRPr lang="en-US" sz="1100" dirty="0"/>
          </a:p>
        </p:txBody>
      </p:sp>
      <p:sp>
        <p:nvSpPr>
          <p:cNvPr id="22" name="Text 20"/>
          <p:cNvSpPr txBox="1"/>
          <p:nvPr/>
        </p:nvSpPr>
        <p:spPr>
          <a:xfrm>
            <a:off x="548640" y="1874520"/>
            <a:ext cx="2560320" cy="228600"/>
          </a:xfrm>
          <a:prstGeom prst="rect">
            <a:avLst/>
          </a:prstGeom>
          <a:noFill/>
          <a:ln/>
        </p:spPr>
        <p:txBody>
          <a:bodyPr wrap="square" lIns="0" tIns="0" rIns="0" bIns="0" rtlCol="0" anchor="t"/>
          <a:lstStyle/>
          <a:p>
            <a:pPr indent="0" marL="0">
              <a:buNone/>
            </a:pPr>
            <a:r>
              <a:rPr lang="en-US" sz="1100" dirty="0">
                <a:solidFill>
                  <a:srgbClr val="667085"/>
                </a:solidFill>
                <a:latin typeface="Calibri" pitchFamily="34" charset="0"/>
                <a:ea typeface="Calibri" pitchFamily="34" charset="-122"/>
                <a:cs typeface="Calibri" pitchFamily="34" charset="-120"/>
              </a:rPr>
              <a:t>detector confidence →</a:t>
            </a:r>
            <a:endParaRPr lang="en-US" sz="1100" dirty="0"/>
          </a:p>
        </p:txBody>
      </p:sp>
      <p:sp>
        <p:nvSpPr>
          <p:cNvPr id="23" name="Shape 21"/>
          <p:cNvSpPr/>
          <p:nvPr/>
        </p:nvSpPr>
        <p:spPr>
          <a:xfrm>
            <a:off x="548640" y="2359152"/>
            <a:ext cx="566928" cy="566928"/>
          </a:xfrm>
          <a:prstGeom prst="ellipse">
            <a:avLst/>
          </a:prstGeom>
          <a:solidFill>
            <a:srgbClr val="F2545B">
              <a:alpha val="18000"/>
            </a:srgbClr>
          </a:solidFill>
          <a:ln/>
        </p:spPr>
      </p:sp>
      <p:pic>
        <p:nvPicPr>
          <p:cNvPr id="24" name="Image 0" descr="preencoded.png">    </p:cNvPr>
          <p:cNvPicPr>
            <a:picLocks noChangeAspect="1"/>
          </p:cNvPicPr>
          <p:nvPr/>
        </p:nvPicPr>
        <p:blipFill>
          <a:blip r:embed="rId1"/>
          <a:stretch>
            <a:fillRect/>
          </a:stretch>
        </p:blipFill>
        <p:spPr>
          <a:xfrm>
            <a:off x="684703" y="2495215"/>
            <a:ext cx="294803" cy="294803"/>
          </a:xfrm>
          <a:prstGeom prst="rect">
            <a:avLst/>
          </a:prstGeom>
        </p:spPr>
      </p:pic>
      <p:sp>
        <p:nvSpPr>
          <p:cNvPr id="25" name="Text 22"/>
          <p:cNvSpPr txBox="1"/>
          <p:nvPr/>
        </p:nvSpPr>
        <p:spPr>
          <a:xfrm>
            <a:off x="1280160" y="2322576"/>
            <a:ext cx="1920240" cy="329184"/>
          </a:xfrm>
          <a:prstGeom prst="rect">
            <a:avLst/>
          </a:prstGeom>
          <a:noFill/>
          <a:ln/>
        </p:spPr>
        <p:txBody>
          <a:bodyPr wrap="square" lIns="0" tIns="0" rIns="0" bIns="0" rtlCol="0" anchor="t"/>
          <a:lstStyle/>
          <a:p>
            <a:pPr indent="0" marL="0">
              <a:buNone/>
            </a:pPr>
            <a:r>
              <a:rPr lang="en-US" sz="1500" b="1" dirty="0">
                <a:solidFill>
                  <a:srgbClr val="F2F4F7"/>
                </a:solidFill>
                <a:latin typeface="Consolas" pitchFamily="34" charset="0"/>
                <a:ea typeface="Consolas" pitchFamily="34" charset="-122"/>
                <a:cs typeface="Consolas" pitchFamily="34" charset="-120"/>
              </a:rPr>
              <a:t>signal_red</a:t>
            </a:r>
            <a:endParaRPr lang="en-US" sz="1500" dirty="0"/>
          </a:p>
        </p:txBody>
      </p:sp>
      <p:sp>
        <p:nvSpPr>
          <p:cNvPr id="26" name="Text 23"/>
          <p:cNvSpPr txBox="1"/>
          <p:nvPr/>
        </p:nvSpPr>
        <p:spPr>
          <a:xfrm>
            <a:off x="1280160" y="2670048"/>
            <a:ext cx="1920240" cy="274320"/>
          </a:xfrm>
          <a:prstGeom prst="rect">
            <a:avLst/>
          </a:prstGeom>
          <a:noFill/>
          <a:ln/>
        </p:spPr>
        <p:txBody>
          <a:bodyPr wrap="square" lIns="0" tIns="0" rIns="0" bIns="0" rtlCol="0" anchor="t"/>
          <a:lstStyle/>
          <a:p>
            <a:pPr indent="0" marL="0">
              <a:buNone/>
            </a:pPr>
            <a:r>
              <a:rPr lang="en-US" sz="1200" b="1" dirty="0">
                <a:solidFill>
                  <a:srgbClr val="F2545B"/>
                </a:solidFill>
                <a:latin typeface="Calibri" pitchFamily="34" charset="0"/>
                <a:ea typeface="Calibri" pitchFamily="34" charset="-122"/>
                <a:cs typeface="Calibri" pitchFamily="34" charset="-120"/>
              </a:rPr>
              <a:t>danger evidence</a:t>
            </a:r>
            <a:endParaRPr lang="en-US" sz="1200" dirty="0"/>
          </a:p>
        </p:txBody>
      </p:sp>
      <p:sp>
        <p:nvSpPr>
          <p:cNvPr id="27" name="Shape 24"/>
          <p:cNvSpPr/>
          <p:nvPr/>
        </p:nvSpPr>
        <p:spPr>
          <a:xfrm>
            <a:off x="3291840" y="2286000"/>
            <a:ext cx="3255264" cy="713232"/>
          </a:xfrm>
          <a:prstGeom prst="rect">
            <a:avLst/>
          </a:prstGeom>
          <a:solidFill>
            <a:srgbClr val="161B22"/>
          </a:solidFill>
          <a:ln/>
        </p:spPr>
      </p:sp>
      <p:sp>
        <p:nvSpPr>
          <p:cNvPr id="28" name="Text 25"/>
          <p:cNvSpPr txBox="1"/>
          <p:nvPr/>
        </p:nvSpPr>
        <p:spPr>
          <a:xfrm>
            <a:off x="3429000" y="2286000"/>
            <a:ext cx="2926080" cy="713232"/>
          </a:xfrm>
          <a:prstGeom prst="rect">
            <a:avLst/>
          </a:prstGeom>
          <a:noFill/>
          <a:ln/>
        </p:spPr>
        <p:txBody>
          <a:bodyPr wrap="square" lIns="0" tIns="0" rIns="0" bIns="0" rtlCol="0" anchor="ctr"/>
          <a:lstStyle/>
          <a:p>
            <a:pPr indent="0" marL="0">
              <a:buNone/>
            </a:pPr>
            <a:r>
              <a:rPr lang="en-US" sz="1100" dirty="0">
                <a:solidFill>
                  <a:srgbClr val="667085"/>
                </a:solidFill>
                <a:latin typeface="Calibri" pitchFamily="34" charset="0"/>
                <a:ea typeface="Calibri" pitchFamily="34" charset="-122"/>
                <a:cs typeface="Calibri" pitchFamily="34" charset="-120"/>
              </a:rPr>
              <a:t>below detector floor</a:t>
            </a:r>
            <a:endParaRPr lang="en-US" sz="1100" dirty="0"/>
          </a:p>
        </p:txBody>
      </p:sp>
      <p:sp>
        <p:nvSpPr>
          <p:cNvPr id="29" name="Text 26"/>
          <p:cNvSpPr txBox="1"/>
          <p:nvPr/>
        </p:nvSpPr>
        <p:spPr>
          <a:xfrm>
            <a:off x="6547104" y="2286000"/>
            <a:ext cx="4882896" cy="713232"/>
          </a:xfrm>
          <a:prstGeom prst="rect">
            <a:avLst/>
          </a:prstGeom>
          <a:solidFill>
            <a:srgbClr val="F2545B"/>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ACCEPTED at any confidence → WAIT</a:t>
            </a:r>
            <a:endParaRPr lang="en-US" sz="1400" dirty="0"/>
          </a:p>
        </p:txBody>
      </p:sp>
      <p:sp>
        <p:nvSpPr>
          <p:cNvPr id="30" name="Shape 27"/>
          <p:cNvSpPr/>
          <p:nvPr/>
        </p:nvSpPr>
        <p:spPr>
          <a:xfrm>
            <a:off x="548640" y="3291840"/>
            <a:ext cx="566928" cy="566928"/>
          </a:xfrm>
          <a:prstGeom prst="ellipse">
            <a:avLst/>
          </a:prstGeom>
          <a:solidFill>
            <a:srgbClr val="3DD68C">
              <a:alpha val="18000"/>
            </a:srgbClr>
          </a:solidFill>
          <a:ln/>
        </p:spPr>
      </p:sp>
      <p:pic>
        <p:nvPicPr>
          <p:cNvPr id="31" name="Image 1" descr="preencoded.png">    </p:cNvPr>
          <p:cNvPicPr>
            <a:picLocks noChangeAspect="1"/>
          </p:cNvPicPr>
          <p:nvPr/>
        </p:nvPicPr>
        <p:blipFill>
          <a:blip r:embed="rId2"/>
          <a:stretch>
            <a:fillRect/>
          </a:stretch>
        </p:blipFill>
        <p:spPr>
          <a:xfrm>
            <a:off x="684703" y="3427903"/>
            <a:ext cx="294803" cy="294803"/>
          </a:xfrm>
          <a:prstGeom prst="rect">
            <a:avLst/>
          </a:prstGeom>
        </p:spPr>
      </p:pic>
      <p:sp>
        <p:nvSpPr>
          <p:cNvPr id="32" name="Text 28"/>
          <p:cNvSpPr txBox="1"/>
          <p:nvPr/>
        </p:nvSpPr>
        <p:spPr>
          <a:xfrm>
            <a:off x="1280160" y="3255264"/>
            <a:ext cx="1920240" cy="329184"/>
          </a:xfrm>
          <a:prstGeom prst="rect">
            <a:avLst/>
          </a:prstGeom>
          <a:noFill/>
          <a:ln/>
        </p:spPr>
        <p:txBody>
          <a:bodyPr wrap="square" lIns="0" tIns="0" rIns="0" bIns="0" rtlCol="0" anchor="t"/>
          <a:lstStyle/>
          <a:p>
            <a:pPr indent="0" marL="0">
              <a:buNone/>
            </a:pPr>
            <a:r>
              <a:rPr lang="en-US" sz="1500" b="1" dirty="0">
                <a:solidFill>
                  <a:srgbClr val="F2F4F7"/>
                </a:solidFill>
                <a:latin typeface="Consolas" pitchFamily="34" charset="0"/>
                <a:ea typeface="Consolas" pitchFamily="34" charset="-122"/>
                <a:cs typeface="Consolas" pitchFamily="34" charset="-120"/>
              </a:rPr>
              <a:t>signal_green</a:t>
            </a:r>
            <a:endParaRPr lang="en-US" sz="1500" dirty="0"/>
          </a:p>
        </p:txBody>
      </p:sp>
      <p:sp>
        <p:nvSpPr>
          <p:cNvPr id="33" name="Text 29"/>
          <p:cNvSpPr txBox="1"/>
          <p:nvPr/>
        </p:nvSpPr>
        <p:spPr>
          <a:xfrm>
            <a:off x="1280160" y="3602736"/>
            <a:ext cx="1920240" cy="274320"/>
          </a:xfrm>
          <a:prstGeom prst="rect">
            <a:avLst/>
          </a:prstGeom>
          <a:noFill/>
          <a:ln/>
        </p:spPr>
        <p:txBody>
          <a:bodyPr wrap="square" lIns="0" tIns="0" rIns="0" bIns="0" rtlCol="0" anchor="t"/>
          <a:lstStyle/>
          <a:p>
            <a:pPr indent="0" marL="0">
              <a:buNone/>
            </a:pPr>
            <a:r>
              <a:rPr lang="en-US" sz="1200" b="1" dirty="0">
                <a:solidFill>
                  <a:srgbClr val="3DD68C"/>
                </a:solidFill>
                <a:latin typeface="Calibri" pitchFamily="34" charset="0"/>
                <a:ea typeface="Calibri" pitchFamily="34" charset="-122"/>
                <a:cs typeface="Calibri" pitchFamily="34" charset="-120"/>
              </a:rPr>
              <a:t>safety evidence</a:t>
            </a:r>
            <a:endParaRPr lang="en-US" sz="1200" dirty="0"/>
          </a:p>
        </p:txBody>
      </p:sp>
      <p:sp>
        <p:nvSpPr>
          <p:cNvPr id="34" name="Shape 30"/>
          <p:cNvSpPr/>
          <p:nvPr/>
        </p:nvSpPr>
        <p:spPr>
          <a:xfrm>
            <a:off x="3291840" y="3218688"/>
            <a:ext cx="3255264" cy="713232"/>
          </a:xfrm>
          <a:prstGeom prst="rect">
            <a:avLst/>
          </a:prstGeom>
          <a:solidFill>
            <a:srgbClr val="161B22"/>
          </a:solidFill>
          <a:ln/>
        </p:spPr>
      </p:sp>
      <p:sp>
        <p:nvSpPr>
          <p:cNvPr id="35" name="Text 31"/>
          <p:cNvSpPr txBox="1"/>
          <p:nvPr/>
        </p:nvSpPr>
        <p:spPr>
          <a:xfrm>
            <a:off x="3429000" y="3218688"/>
            <a:ext cx="2926080" cy="713232"/>
          </a:xfrm>
          <a:prstGeom prst="rect">
            <a:avLst/>
          </a:prstGeom>
          <a:noFill/>
          <a:ln/>
        </p:spPr>
        <p:txBody>
          <a:bodyPr wrap="square" lIns="0" tIns="0" rIns="0" bIns="0" rtlCol="0" anchor="ctr"/>
          <a:lstStyle/>
          <a:p>
            <a:pPr indent="0" marL="0">
              <a:buNone/>
            </a:pPr>
            <a:r>
              <a:rPr lang="en-US" sz="1100" dirty="0">
                <a:solidFill>
                  <a:srgbClr val="667085"/>
                </a:solidFill>
                <a:latin typeface="Calibri" pitchFamily="34" charset="0"/>
                <a:ea typeface="Calibri" pitchFamily="34" charset="-122"/>
                <a:cs typeface="Calibri" pitchFamily="34" charset="-120"/>
              </a:rPr>
              <a:t>below detector floor</a:t>
            </a:r>
            <a:endParaRPr lang="en-US" sz="1100" dirty="0"/>
          </a:p>
        </p:txBody>
      </p:sp>
      <p:sp>
        <p:nvSpPr>
          <p:cNvPr id="36" name="Text 32"/>
          <p:cNvSpPr txBox="1"/>
          <p:nvPr/>
        </p:nvSpPr>
        <p:spPr>
          <a:xfrm>
            <a:off x="6547104" y="3218688"/>
            <a:ext cx="1627632" cy="713232"/>
          </a:xfrm>
          <a:prstGeom prst="rect">
            <a:avLst/>
          </a:prstGeom>
          <a:solidFill>
            <a:srgbClr val="4A5463"/>
          </a:solidFill>
          <a:ln/>
        </p:spPr>
        <p:txBody>
          <a:bodyPr wrap="square" lIns="50800" tIns="50800" rIns="50800" bIns="5080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ignored → treated as absent</a:t>
            </a:r>
            <a:endParaRPr lang="en-US" sz="1100" dirty="0"/>
          </a:p>
        </p:txBody>
      </p:sp>
      <p:sp>
        <p:nvSpPr>
          <p:cNvPr id="37" name="Text 33"/>
          <p:cNvSpPr txBox="1"/>
          <p:nvPr/>
        </p:nvSpPr>
        <p:spPr>
          <a:xfrm>
            <a:off x="8174736" y="3218688"/>
            <a:ext cx="3255264" cy="713232"/>
          </a:xfrm>
          <a:prstGeom prst="rect">
            <a:avLst/>
          </a:prstGeom>
          <a:solidFill>
            <a:srgbClr val="3DD68C"/>
          </a:solidFill>
          <a:ln/>
        </p:spPr>
        <p:txBody>
          <a:bodyPr wrap="square" lIns="50800" tIns="50800" rIns="50800" bIns="50800" rtlCol="0" anchor="ctr"/>
          <a:lstStyle/>
          <a:p>
            <a:pPr algn="ctr" indent="0" marL="0">
              <a:buNone/>
            </a:pPr>
            <a:r>
              <a:rPr lang="en-US" sz="1400" b="1" dirty="0">
                <a:solidFill>
                  <a:srgbClr val="0E1116"/>
                </a:solidFill>
                <a:latin typeface="Calibri" pitchFamily="34" charset="0"/>
                <a:ea typeface="Calibri" pitchFamily="34" charset="-122"/>
                <a:cs typeface="Calibri" pitchFamily="34" charset="-120"/>
              </a:rPr>
              <a:t>ACCEPTED</a:t>
            </a:r>
            <a:endParaRPr lang="en-US" sz="1400" dirty="0"/>
          </a:p>
        </p:txBody>
      </p:sp>
      <p:sp>
        <p:nvSpPr>
          <p:cNvPr id="38" name="Shape 34"/>
          <p:cNvSpPr/>
          <p:nvPr/>
        </p:nvSpPr>
        <p:spPr>
          <a:xfrm>
            <a:off x="548640" y="4224528"/>
            <a:ext cx="566928" cy="566928"/>
          </a:xfrm>
          <a:prstGeom prst="ellipse">
            <a:avLst/>
          </a:prstGeom>
          <a:solidFill>
            <a:srgbClr val="3DD68C">
              <a:alpha val="18000"/>
            </a:srgbClr>
          </a:solidFill>
          <a:ln/>
        </p:spPr>
      </p:sp>
      <p:pic>
        <p:nvPicPr>
          <p:cNvPr id="39" name="Image 2" descr="preencoded.png">    </p:cNvPr>
          <p:cNvPicPr>
            <a:picLocks noChangeAspect="1"/>
          </p:cNvPicPr>
          <p:nvPr/>
        </p:nvPicPr>
        <p:blipFill>
          <a:blip r:embed="rId3"/>
          <a:stretch>
            <a:fillRect/>
          </a:stretch>
        </p:blipFill>
        <p:spPr>
          <a:xfrm>
            <a:off x="684703" y="4360591"/>
            <a:ext cx="294803" cy="294803"/>
          </a:xfrm>
          <a:prstGeom prst="rect">
            <a:avLst/>
          </a:prstGeom>
        </p:spPr>
      </p:pic>
      <p:sp>
        <p:nvSpPr>
          <p:cNvPr id="40" name="Text 35"/>
          <p:cNvSpPr txBox="1"/>
          <p:nvPr/>
        </p:nvSpPr>
        <p:spPr>
          <a:xfrm>
            <a:off x="1280160" y="4187952"/>
            <a:ext cx="1920240" cy="329184"/>
          </a:xfrm>
          <a:prstGeom prst="rect">
            <a:avLst/>
          </a:prstGeom>
          <a:noFill/>
          <a:ln/>
        </p:spPr>
        <p:txBody>
          <a:bodyPr wrap="square" lIns="0" tIns="0" rIns="0" bIns="0" rtlCol="0" anchor="t"/>
          <a:lstStyle/>
          <a:p>
            <a:pPr indent="0" marL="0">
              <a:buNone/>
            </a:pPr>
            <a:r>
              <a:rPr lang="en-US" sz="1500" b="1" dirty="0">
                <a:solidFill>
                  <a:srgbClr val="F2F4F7"/>
                </a:solidFill>
                <a:latin typeface="Consolas" pitchFamily="34" charset="0"/>
                <a:ea typeface="Consolas" pitchFamily="34" charset="-122"/>
                <a:cs typeface="Consolas" pitchFamily="34" charset="-120"/>
              </a:rPr>
              <a:t>crosswalk</a:t>
            </a:r>
            <a:endParaRPr lang="en-US" sz="1500" dirty="0"/>
          </a:p>
        </p:txBody>
      </p:sp>
      <p:sp>
        <p:nvSpPr>
          <p:cNvPr id="41" name="Text 36"/>
          <p:cNvSpPr txBox="1"/>
          <p:nvPr/>
        </p:nvSpPr>
        <p:spPr>
          <a:xfrm>
            <a:off x="1280160" y="4535424"/>
            <a:ext cx="1920240" cy="274320"/>
          </a:xfrm>
          <a:prstGeom prst="rect">
            <a:avLst/>
          </a:prstGeom>
          <a:noFill/>
          <a:ln/>
        </p:spPr>
        <p:txBody>
          <a:bodyPr wrap="square" lIns="0" tIns="0" rIns="0" bIns="0" rtlCol="0" anchor="t"/>
          <a:lstStyle/>
          <a:p>
            <a:pPr indent="0" marL="0">
              <a:buNone/>
            </a:pPr>
            <a:r>
              <a:rPr lang="en-US" sz="1200" b="1" dirty="0">
                <a:solidFill>
                  <a:srgbClr val="3DD68C"/>
                </a:solidFill>
                <a:latin typeface="Calibri" pitchFamily="34" charset="0"/>
                <a:ea typeface="Calibri" pitchFamily="34" charset="-122"/>
                <a:cs typeface="Calibri" pitchFamily="34" charset="-120"/>
              </a:rPr>
              <a:t>safety evidence</a:t>
            </a:r>
            <a:endParaRPr lang="en-US" sz="1200" dirty="0"/>
          </a:p>
        </p:txBody>
      </p:sp>
      <p:sp>
        <p:nvSpPr>
          <p:cNvPr id="42" name="Shape 37"/>
          <p:cNvSpPr/>
          <p:nvPr/>
        </p:nvSpPr>
        <p:spPr>
          <a:xfrm>
            <a:off x="3291840" y="4151376"/>
            <a:ext cx="3255264" cy="713232"/>
          </a:xfrm>
          <a:prstGeom prst="rect">
            <a:avLst/>
          </a:prstGeom>
          <a:solidFill>
            <a:srgbClr val="161B22"/>
          </a:solidFill>
          <a:ln/>
        </p:spPr>
      </p:sp>
      <p:sp>
        <p:nvSpPr>
          <p:cNvPr id="43" name="Text 38"/>
          <p:cNvSpPr txBox="1"/>
          <p:nvPr/>
        </p:nvSpPr>
        <p:spPr>
          <a:xfrm>
            <a:off x="3429000" y="4151376"/>
            <a:ext cx="2926080" cy="713232"/>
          </a:xfrm>
          <a:prstGeom prst="rect">
            <a:avLst/>
          </a:prstGeom>
          <a:noFill/>
          <a:ln/>
        </p:spPr>
        <p:txBody>
          <a:bodyPr wrap="square" lIns="0" tIns="0" rIns="0" bIns="0" rtlCol="0" anchor="ctr"/>
          <a:lstStyle/>
          <a:p>
            <a:pPr indent="0" marL="0">
              <a:buNone/>
            </a:pPr>
            <a:r>
              <a:rPr lang="en-US" sz="1100" dirty="0">
                <a:solidFill>
                  <a:srgbClr val="667085"/>
                </a:solidFill>
                <a:latin typeface="Calibri" pitchFamily="34" charset="0"/>
                <a:ea typeface="Calibri" pitchFamily="34" charset="-122"/>
                <a:cs typeface="Calibri" pitchFamily="34" charset="-120"/>
              </a:rPr>
              <a:t>below detector floor</a:t>
            </a:r>
            <a:endParaRPr lang="en-US" sz="1100" dirty="0"/>
          </a:p>
        </p:txBody>
      </p:sp>
      <p:sp>
        <p:nvSpPr>
          <p:cNvPr id="44" name="Text 39"/>
          <p:cNvSpPr txBox="1"/>
          <p:nvPr/>
        </p:nvSpPr>
        <p:spPr>
          <a:xfrm>
            <a:off x="6547104" y="4151376"/>
            <a:ext cx="1627632" cy="713232"/>
          </a:xfrm>
          <a:prstGeom prst="rect">
            <a:avLst/>
          </a:prstGeom>
          <a:solidFill>
            <a:srgbClr val="4A5463"/>
          </a:solidFill>
          <a:ln/>
        </p:spPr>
        <p:txBody>
          <a:bodyPr wrap="square" lIns="50800" tIns="50800" rIns="50800" bIns="5080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ignored → treated as absent</a:t>
            </a:r>
            <a:endParaRPr lang="en-US" sz="1100" dirty="0"/>
          </a:p>
        </p:txBody>
      </p:sp>
      <p:sp>
        <p:nvSpPr>
          <p:cNvPr id="45" name="Text 40"/>
          <p:cNvSpPr txBox="1"/>
          <p:nvPr/>
        </p:nvSpPr>
        <p:spPr>
          <a:xfrm>
            <a:off x="8174736" y="4151376"/>
            <a:ext cx="3255264" cy="713232"/>
          </a:xfrm>
          <a:prstGeom prst="rect">
            <a:avLst/>
          </a:prstGeom>
          <a:solidFill>
            <a:srgbClr val="3DD68C"/>
          </a:solidFill>
          <a:ln/>
        </p:spPr>
        <p:txBody>
          <a:bodyPr wrap="square" lIns="50800" tIns="50800" rIns="50800" bIns="50800" rtlCol="0" anchor="ctr"/>
          <a:lstStyle/>
          <a:p>
            <a:pPr algn="ctr" indent="0" marL="0">
              <a:buNone/>
            </a:pPr>
            <a:r>
              <a:rPr lang="en-US" sz="1400" b="1" dirty="0">
                <a:solidFill>
                  <a:srgbClr val="0E1116"/>
                </a:solidFill>
                <a:latin typeface="Calibri" pitchFamily="34" charset="0"/>
                <a:ea typeface="Calibri" pitchFamily="34" charset="-122"/>
                <a:cs typeface="Calibri" pitchFamily="34" charset="-120"/>
              </a:rPr>
              <a:t>ACCEPTED</a:t>
            </a:r>
            <a:endParaRPr lang="en-US" sz="1400" dirty="0"/>
          </a:p>
        </p:txBody>
      </p:sp>
      <p:sp>
        <p:nvSpPr>
          <p:cNvPr id="46" name="Shape 41"/>
          <p:cNvSpPr/>
          <p:nvPr/>
        </p:nvSpPr>
        <p:spPr>
          <a:xfrm>
            <a:off x="6547104" y="2148840"/>
            <a:ext cx="0" cy="2880360"/>
          </a:xfrm>
          <a:prstGeom prst="line">
            <a:avLst/>
          </a:prstGeom>
          <a:noFill/>
          <a:ln w="15875">
            <a:solidFill>
              <a:srgbClr val="A3ACBA"/>
            </a:solidFill>
            <a:prstDash val="dash"/>
          </a:ln>
        </p:spPr>
      </p:sp>
      <p:sp>
        <p:nvSpPr>
          <p:cNvPr id="47" name="Text 42"/>
          <p:cNvSpPr txBox="1"/>
          <p:nvPr/>
        </p:nvSpPr>
        <p:spPr>
          <a:xfrm>
            <a:off x="5632704" y="5074920"/>
            <a:ext cx="1828800" cy="256032"/>
          </a:xfrm>
          <a:prstGeom prst="rect">
            <a:avLst/>
          </a:prstGeom>
          <a:noFill/>
          <a:ln/>
        </p:spPr>
        <p:txBody>
          <a:bodyPr wrap="square" lIns="0" tIns="0" rIns="0" bIns="0" rtlCol="0" anchor="t"/>
          <a:lstStyle/>
          <a:p>
            <a:pPr algn="ctr" indent="0" marL="0">
              <a:buNone/>
            </a:pPr>
            <a:r>
              <a:rPr lang="en-US" sz="1150" b="1" dirty="0">
                <a:solidFill>
                  <a:srgbClr val="A3ACBA"/>
                </a:solidFill>
                <a:latin typeface="Calibri" pitchFamily="34" charset="0"/>
                <a:ea typeface="Calibri" pitchFamily="34" charset="-122"/>
                <a:cs typeface="Calibri" pitchFamily="34" charset="-120"/>
              </a:rPr>
              <a:t>detector floor 0.40</a:t>
            </a:r>
            <a:endParaRPr lang="en-US" sz="1150" dirty="0"/>
          </a:p>
        </p:txBody>
      </p:sp>
      <p:sp>
        <p:nvSpPr>
          <p:cNvPr id="48" name="Shape 43"/>
          <p:cNvSpPr/>
          <p:nvPr/>
        </p:nvSpPr>
        <p:spPr>
          <a:xfrm>
            <a:off x="8174736" y="2148840"/>
            <a:ext cx="0" cy="2880360"/>
          </a:xfrm>
          <a:prstGeom prst="line">
            <a:avLst/>
          </a:prstGeom>
          <a:noFill/>
          <a:ln w="15875">
            <a:solidFill>
              <a:srgbClr val="3DD68C"/>
            </a:solidFill>
            <a:prstDash val="dash"/>
          </a:ln>
        </p:spPr>
      </p:sp>
      <p:sp>
        <p:nvSpPr>
          <p:cNvPr id="49" name="Text 44"/>
          <p:cNvSpPr txBox="1"/>
          <p:nvPr/>
        </p:nvSpPr>
        <p:spPr>
          <a:xfrm>
            <a:off x="7260336" y="5074920"/>
            <a:ext cx="1828800" cy="256032"/>
          </a:xfrm>
          <a:prstGeom prst="rect">
            <a:avLst/>
          </a:prstGeom>
          <a:noFill/>
          <a:ln/>
        </p:spPr>
        <p:txBody>
          <a:bodyPr wrap="square" lIns="0" tIns="0" rIns="0" bIns="0" rtlCol="0" anchor="t"/>
          <a:lstStyle/>
          <a:p>
            <a:pPr algn="ctr" indent="0" marL="0">
              <a:buNone/>
            </a:pPr>
            <a:r>
              <a:rPr lang="en-US" sz="1150" b="1" dirty="0">
                <a:solidFill>
                  <a:srgbClr val="3DD68C"/>
                </a:solidFill>
                <a:latin typeface="Calibri" pitchFamily="34" charset="0"/>
                <a:ea typeface="Calibri" pitchFamily="34" charset="-122"/>
                <a:cs typeface="Calibri" pitchFamily="34" charset="-120"/>
              </a:rPr>
              <a:t>safety gate 0.60</a:t>
            </a:r>
            <a:endParaRPr lang="en-US" sz="1150" dirty="0"/>
          </a:p>
        </p:txBody>
      </p:sp>
      <p:sp>
        <p:nvSpPr>
          <p:cNvPr id="50" name="Shape 45"/>
          <p:cNvSpPr/>
          <p:nvPr/>
        </p:nvSpPr>
        <p:spPr>
          <a:xfrm>
            <a:off x="548640" y="5468112"/>
            <a:ext cx="5440680" cy="713232"/>
          </a:xfrm>
          <a:prstGeom prst="roundRect">
            <a:avLst>
              <a:gd name="adj" fmla="val 12821"/>
            </a:avLst>
          </a:prstGeom>
          <a:solidFill>
            <a:srgbClr val="161B22"/>
          </a:solidFill>
          <a:ln w="9525">
            <a:solidFill>
              <a:srgbClr val="2E3845"/>
            </a:solidFill>
            <a:prstDash val="solid"/>
          </a:ln>
        </p:spPr>
      </p:sp>
      <p:sp>
        <p:nvSpPr>
          <p:cNvPr id="51" name="Text 46"/>
          <p:cNvSpPr txBox="1"/>
          <p:nvPr/>
        </p:nvSpPr>
        <p:spPr>
          <a:xfrm>
            <a:off x="777240" y="5468112"/>
            <a:ext cx="5029200" cy="713232"/>
          </a:xfrm>
          <a:prstGeom prst="rect">
            <a:avLst/>
          </a:prstGeom>
          <a:noFill/>
          <a:ln/>
        </p:spPr>
        <p:txBody>
          <a:bodyPr wrap="square" lIns="0" tIns="0" rIns="0" bIns="0" rtlCol="0" anchor="ctr"/>
          <a:lstStyle/>
          <a:p>
            <a:pPr indent="0" marL="0">
              <a:buNone/>
            </a:pPr>
            <a:r>
              <a:rPr lang="en-US" sz="1500" b="1" dirty="0">
                <a:solidFill>
                  <a:srgbClr val="F2F4F7"/>
                </a:solidFill>
                <a:latin typeface="Calibri" pitchFamily="34" charset="0"/>
                <a:ea typeface="Calibri" pitchFamily="34" charset="-122"/>
                <a:cs typeface="Calibri" pitchFamily="34" charset="-120"/>
              </a:rPr>
              <a:t>Red light seen at 0.45  →  </a:t>
            </a:r>
            <a:pPr indent="0" marL="0">
              <a:buNone/>
            </a:pPr>
            <a:r>
              <a:rPr lang="en-US" sz="1500" dirty="0">
                <a:solidFill>
                  <a:srgbClr val="A3ACBA"/>
                </a:solidFill>
                <a:latin typeface="Calibri" pitchFamily="34" charset="0"/>
                <a:ea typeface="Calibri" pitchFamily="34" charset="-122"/>
                <a:cs typeface="Calibri" pitchFamily="34" charset="-120"/>
              </a:rPr>
              <a:t>trusted  →  </a:t>
            </a:r>
            <a:pPr indent="0" marL="0">
              <a:buNone/>
            </a:pPr>
            <a:r>
              <a:rPr lang="en-US" sz="1500" b="1" dirty="0">
                <a:solidFill>
                  <a:srgbClr val="F2545B"/>
                </a:solidFill>
                <a:latin typeface="Calibri" pitchFamily="34" charset="0"/>
                <a:ea typeface="Calibri" pitchFamily="34" charset="-122"/>
                <a:cs typeface="Calibri" pitchFamily="34" charset="-120"/>
              </a:rPr>
              <a:t>WAIT</a:t>
            </a:r>
            <a:endParaRPr lang="en-US" sz="1500" dirty="0"/>
          </a:p>
        </p:txBody>
      </p:sp>
      <p:sp>
        <p:nvSpPr>
          <p:cNvPr id="52" name="Shape 47"/>
          <p:cNvSpPr/>
          <p:nvPr/>
        </p:nvSpPr>
        <p:spPr>
          <a:xfrm>
            <a:off x="6199632" y="5468112"/>
            <a:ext cx="5440680" cy="713232"/>
          </a:xfrm>
          <a:prstGeom prst="roundRect">
            <a:avLst>
              <a:gd name="adj" fmla="val 12821"/>
            </a:avLst>
          </a:prstGeom>
          <a:solidFill>
            <a:srgbClr val="161B22"/>
          </a:solidFill>
          <a:ln w="9525">
            <a:solidFill>
              <a:srgbClr val="2E3845"/>
            </a:solidFill>
            <a:prstDash val="solid"/>
          </a:ln>
        </p:spPr>
      </p:sp>
      <p:sp>
        <p:nvSpPr>
          <p:cNvPr id="53" name="Text 48"/>
          <p:cNvSpPr txBox="1"/>
          <p:nvPr/>
        </p:nvSpPr>
        <p:spPr>
          <a:xfrm>
            <a:off x="6428232" y="5468112"/>
            <a:ext cx="5029200" cy="713232"/>
          </a:xfrm>
          <a:prstGeom prst="rect">
            <a:avLst/>
          </a:prstGeom>
          <a:noFill/>
          <a:ln/>
        </p:spPr>
        <p:txBody>
          <a:bodyPr wrap="square" lIns="0" tIns="0" rIns="0" bIns="0" rtlCol="0" anchor="ctr"/>
          <a:lstStyle/>
          <a:p>
            <a:pPr indent="0" marL="0">
              <a:buNone/>
            </a:pPr>
            <a:r>
              <a:rPr lang="en-US" sz="1500" b="1" dirty="0">
                <a:solidFill>
                  <a:srgbClr val="F2F4F7"/>
                </a:solidFill>
                <a:latin typeface="Calibri" pitchFamily="34" charset="0"/>
                <a:ea typeface="Calibri" pitchFamily="34" charset="-122"/>
                <a:cs typeface="Calibri" pitchFamily="34" charset="-120"/>
              </a:rPr>
              <a:t>Green light seen at 0.45  →  </a:t>
            </a:r>
            <a:pPr indent="0" marL="0">
              <a:buNone/>
            </a:pPr>
            <a:r>
              <a:rPr lang="en-US" sz="1500" dirty="0">
                <a:solidFill>
                  <a:srgbClr val="A3ACBA"/>
                </a:solidFill>
                <a:latin typeface="Calibri" pitchFamily="34" charset="0"/>
                <a:ea typeface="Calibri" pitchFamily="34" charset="-122"/>
                <a:cs typeface="Calibri" pitchFamily="34" charset="-120"/>
              </a:rPr>
              <a:t>ignored, falls through  →  </a:t>
            </a:r>
            <a:pPr indent="0" marL="0">
              <a:buNone/>
            </a:pPr>
            <a:r>
              <a:rPr lang="en-US" sz="1500" b="1" dirty="0">
                <a:solidFill>
                  <a:srgbClr val="F2545B"/>
                </a:solidFill>
                <a:latin typeface="Calibri" pitchFamily="34" charset="0"/>
                <a:ea typeface="Calibri" pitchFamily="34" charset="-122"/>
                <a:cs typeface="Calibri" pitchFamily="34" charset="-120"/>
              </a:rPr>
              <a:t>WAIT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SYSTEM ARCHITECTURE</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F2F4F7"/>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End-to-end pipeline: one frame’s path from camera to voice</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14</a:t>
            </a:r>
            <a:endParaRPr lang="en-US" sz="1000" dirty="0"/>
          </a:p>
        </p:txBody>
      </p:sp>
      <p:sp>
        <p:nvSpPr>
          <p:cNvPr id="15" name="Text 13"/>
          <p:cNvSpPr txBox="1"/>
          <p:nvPr/>
        </p:nvSpPr>
        <p:spPr>
          <a:xfrm>
            <a:off x="548640" y="1645920"/>
            <a:ext cx="4581144" cy="256032"/>
          </a:xfrm>
          <a:prstGeom prst="rect">
            <a:avLst/>
          </a:prstGeom>
          <a:noFill/>
          <a:ln/>
        </p:spPr>
        <p:txBody>
          <a:bodyPr wrap="square" lIns="0" tIns="0" rIns="0" bIns="0" rtlCol="0" anchor="t"/>
          <a:lstStyle/>
          <a:p>
            <a:pPr algn="ctr" indent="0" marL="0">
              <a:buNone/>
            </a:pPr>
            <a:r>
              <a:rPr lang="en-US" sz="1100" b="1" spc="200" kern="0" dirty="0">
                <a:solidFill>
                  <a:srgbClr val="A3ACBA"/>
                </a:solidFill>
                <a:latin typeface="Calibri" pitchFamily="34" charset="0"/>
                <a:ea typeface="Calibri" pitchFamily="34" charset="-122"/>
                <a:cs typeface="Calibri" pitchFamily="34" charset="-120"/>
              </a:rPr>
              <a:t>PERCEPTION</a:t>
            </a:r>
            <a:endParaRPr lang="en-US" sz="1100" dirty="0"/>
          </a:p>
        </p:txBody>
      </p:sp>
      <p:sp>
        <p:nvSpPr>
          <p:cNvPr id="16" name="Shape 14"/>
          <p:cNvSpPr/>
          <p:nvPr/>
        </p:nvSpPr>
        <p:spPr>
          <a:xfrm>
            <a:off x="594360" y="1993392"/>
            <a:ext cx="4489704" cy="0"/>
          </a:xfrm>
          <a:prstGeom prst="line">
            <a:avLst/>
          </a:prstGeom>
          <a:noFill/>
          <a:ln w="15875">
            <a:solidFill>
              <a:srgbClr val="2E3845"/>
            </a:solidFill>
            <a:prstDash val="solid"/>
          </a:ln>
        </p:spPr>
      </p:sp>
      <p:sp>
        <p:nvSpPr>
          <p:cNvPr id="17" name="Text 15"/>
          <p:cNvSpPr txBox="1"/>
          <p:nvPr/>
        </p:nvSpPr>
        <p:spPr>
          <a:xfrm>
            <a:off x="5362956" y="1645920"/>
            <a:ext cx="1371600" cy="256032"/>
          </a:xfrm>
          <a:prstGeom prst="rect">
            <a:avLst/>
          </a:prstGeom>
          <a:noFill/>
          <a:ln/>
        </p:spPr>
        <p:txBody>
          <a:bodyPr wrap="square" lIns="0" tIns="0" rIns="0" bIns="0" rtlCol="0" anchor="t"/>
          <a:lstStyle/>
          <a:p>
            <a:pPr algn="ctr" indent="0" marL="0">
              <a:buNone/>
            </a:pPr>
            <a:r>
              <a:rPr lang="en-US" sz="1100" b="1" spc="200" kern="0" dirty="0">
                <a:solidFill>
                  <a:srgbClr val="A3ACBA"/>
                </a:solidFill>
                <a:latin typeface="Calibri" pitchFamily="34" charset="0"/>
                <a:ea typeface="Calibri" pitchFamily="34" charset="-122"/>
                <a:cs typeface="Calibri" pitchFamily="34" charset="-120"/>
              </a:rPr>
              <a:t>MEASUREMENT</a:t>
            </a:r>
            <a:endParaRPr lang="en-US" sz="1100" dirty="0"/>
          </a:p>
        </p:txBody>
      </p:sp>
      <p:sp>
        <p:nvSpPr>
          <p:cNvPr id="18" name="Shape 16"/>
          <p:cNvSpPr/>
          <p:nvPr/>
        </p:nvSpPr>
        <p:spPr>
          <a:xfrm>
            <a:off x="5408676" y="1993392"/>
            <a:ext cx="1280160" cy="0"/>
          </a:xfrm>
          <a:prstGeom prst="line">
            <a:avLst/>
          </a:prstGeom>
          <a:noFill/>
          <a:ln w="15875">
            <a:solidFill>
              <a:srgbClr val="2E3845"/>
            </a:solidFill>
            <a:prstDash val="solid"/>
          </a:ln>
        </p:spPr>
      </p:sp>
      <p:sp>
        <p:nvSpPr>
          <p:cNvPr id="19" name="Text 17"/>
          <p:cNvSpPr txBox="1"/>
          <p:nvPr/>
        </p:nvSpPr>
        <p:spPr>
          <a:xfrm>
            <a:off x="6967728" y="1645920"/>
            <a:ext cx="2976372" cy="256032"/>
          </a:xfrm>
          <a:prstGeom prst="rect">
            <a:avLst/>
          </a:prstGeom>
          <a:noFill/>
          <a:ln/>
        </p:spPr>
        <p:txBody>
          <a:bodyPr wrap="square" lIns="0" tIns="0" rIns="0" bIns="0" rtlCol="0" anchor="t"/>
          <a:lstStyle/>
          <a:p>
            <a:pPr algn="ctr" indent="0" marL="0">
              <a:buNone/>
            </a:pPr>
            <a:r>
              <a:rPr lang="en-US" sz="1100" b="1" spc="200" kern="0" dirty="0">
                <a:solidFill>
                  <a:srgbClr val="F2545B"/>
                </a:solidFill>
                <a:latin typeface="Calibri" pitchFamily="34" charset="0"/>
                <a:ea typeface="Calibri" pitchFamily="34" charset="-122"/>
                <a:cs typeface="Calibri" pitchFamily="34" charset="-120"/>
              </a:rPr>
              <a:t>SAFETY LOGIC</a:t>
            </a:r>
            <a:endParaRPr lang="en-US" sz="1100" dirty="0"/>
          </a:p>
        </p:txBody>
      </p:sp>
      <p:sp>
        <p:nvSpPr>
          <p:cNvPr id="20" name="Shape 18"/>
          <p:cNvSpPr/>
          <p:nvPr/>
        </p:nvSpPr>
        <p:spPr>
          <a:xfrm>
            <a:off x="7013448" y="1993392"/>
            <a:ext cx="2884932" cy="0"/>
          </a:xfrm>
          <a:prstGeom prst="line">
            <a:avLst/>
          </a:prstGeom>
          <a:noFill/>
          <a:ln w="15875">
            <a:solidFill>
              <a:srgbClr val="F2545B"/>
            </a:solidFill>
            <a:prstDash val="solid"/>
          </a:ln>
        </p:spPr>
      </p:sp>
      <p:sp>
        <p:nvSpPr>
          <p:cNvPr id="21" name="Text 19"/>
          <p:cNvSpPr txBox="1"/>
          <p:nvPr/>
        </p:nvSpPr>
        <p:spPr>
          <a:xfrm>
            <a:off x="10177272" y="1645920"/>
            <a:ext cx="1371600" cy="256032"/>
          </a:xfrm>
          <a:prstGeom prst="rect">
            <a:avLst/>
          </a:prstGeom>
          <a:noFill/>
          <a:ln/>
        </p:spPr>
        <p:txBody>
          <a:bodyPr wrap="square" lIns="0" tIns="0" rIns="0" bIns="0" rtlCol="0" anchor="t"/>
          <a:lstStyle/>
          <a:p>
            <a:pPr algn="ctr" indent="0" marL="0">
              <a:buNone/>
            </a:pPr>
            <a:r>
              <a:rPr lang="en-US" sz="1100" b="1" spc="200" kern="0" dirty="0">
                <a:solidFill>
                  <a:srgbClr val="A3ACBA"/>
                </a:solidFill>
                <a:latin typeface="Calibri" pitchFamily="34" charset="0"/>
                <a:ea typeface="Calibri" pitchFamily="34" charset="-122"/>
                <a:cs typeface="Calibri" pitchFamily="34" charset="-120"/>
              </a:rPr>
              <a:t>OUTPUT</a:t>
            </a:r>
            <a:endParaRPr lang="en-US" sz="1100" dirty="0"/>
          </a:p>
        </p:txBody>
      </p:sp>
      <p:sp>
        <p:nvSpPr>
          <p:cNvPr id="22" name="Shape 20"/>
          <p:cNvSpPr/>
          <p:nvPr/>
        </p:nvSpPr>
        <p:spPr>
          <a:xfrm>
            <a:off x="10222992" y="1993392"/>
            <a:ext cx="1280160" cy="0"/>
          </a:xfrm>
          <a:prstGeom prst="line">
            <a:avLst/>
          </a:prstGeom>
          <a:noFill/>
          <a:ln w="15875">
            <a:solidFill>
              <a:srgbClr val="2E3845"/>
            </a:solidFill>
            <a:prstDash val="solid"/>
          </a:ln>
        </p:spPr>
      </p:sp>
      <p:sp>
        <p:nvSpPr>
          <p:cNvPr id="23" name="Shape 21"/>
          <p:cNvSpPr/>
          <p:nvPr/>
        </p:nvSpPr>
        <p:spPr>
          <a:xfrm>
            <a:off x="548640" y="2331720"/>
            <a:ext cx="1371600" cy="1645920"/>
          </a:xfrm>
          <a:prstGeom prst="roundRect">
            <a:avLst>
              <a:gd name="adj" fmla="val 6667"/>
            </a:avLst>
          </a:prstGeom>
          <a:solidFill>
            <a:srgbClr val="161B22"/>
          </a:solidFill>
          <a:ln w="9525">
            <a:solidFill>
              <a:srgbClr val="2E3845"/>
            </a:solidFill>
            <a:prstDash val="solid"/>
          </a:ln>
        </p:spPr>
      </p:sp>
      <p:sp>
        <p:nvSpPr>
          <p:cNvPr id="24" name="Shape 22"/>
          <p:cNvSpPr/>
          <p:nvPr/>
        </p:nvSpPr>
        <p:spPr>
          <a:xfrm>
            <a:off x="950976" y="2514600"/>
            <a:ext cx="566928" cy="566928"/>
          </a:xfrm>
          <a:prstGeom prst="ellipse">
            <a:avLst/>
          </a:prstGeom>
          <a:solidFill>
            <a:srgbClr val="5EC8E5">
              <a:alpha val="18000"/>
            </a:srgbClr>
          </a:solidFill>
          <a:ln/>
        </p:spPr>
      </p:sp>
      <p:pic>
        <p:nvPicPr>
          <p:cNvPr id="25" name="Image 0" descr="preencoded.png">    </p:cNvPr>
          <p:cNvPicPr>
            <a:picLocks noChangeAspect="1"/>
          </p:cNvPicPr>
          <p:nvPr/>
        </p:nvPicPr>
        <p:blipFill>
          <a:blip r:embed="rId1"/>
          <a:stretch>
            <a:fillRect/>
          </a:stretch>
        </p:blipFill>
        <p:spPr>
          <a:xfrm>
            <a:off x="1087039" y="2650663"/>
            <a:ext cx="294803" cy="294803"/>
          </a:xfrm>
          <a:prstGeom prst="rect">
            <a:avLst/>
          </a:prstGeom>
        </p:spPr>
      </p:pic>
      <p:sp>
        <p:nvSpPr>
          <p:cNvPr id="26" name="Text 23"/>
          <p:cNvSpPr txBox="1"/>
          <p:nvPr/>
        </p:nvSpPr>
        <p:spPr>
          <a:xfrm>
            <a:off x="548640"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Camera</a:t>
            </a:r>
            <a:endParaRPr lang="en-US" sz="1500" dirty="0"/>
          </a:p>
        </p:txBody>
      </p:sp>
      <p:sp>
        <p:nvSpPr>
          <p:cNvPr id="27" name="Text 24"/>
          <p:cNvSpPr txBox="1"/>
          <p:nvPr/>
        </p:nvSpPr>
        <p:spPr>
          <a:xfrm>
            <a:off x="621792"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live video</a:t>
            </a:r>
            <a:endParaRPr lang="en-US" sz="1050" dirty="0"/>
          </a:p>
        </p:txBody>
      </p:sp>
      <p:sp>
        <p:nvSpPr>
          <p:cNvPr id="28" name="Text 25"/>
          <p:cNvSpPr txBox="1"/>
          <p:nvPr/>
        </p:nvSpPr>
        <p:spPr>
          <a:xfrm>
            <a:off x="502920"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frames</a:t>
            </a:r>
            <a:endParaRPr lang="en-US" sz="1050" dirty="0"/>
          </a:p>
        </p:txBody>
      </p:sp>
      <p:sp>
        <p:nvSpPr>
          <p:cNvPr id="29" name="Shape 26"/>
          <p:cNvSpPr/>
          <p:nvPr/>
        </p:nvSpPr>
        <p:spPr>
          <a:xfrm>
            <a:off x="1938528" y="3154680"/>
            <a:ext cx="196596" cy="0"/>
          </a:xfrm>
          <a:prstGeom prst="line">
            <a:avLst/>
          </a:prstGeom>
          <a:noFill/>
          <a:ln w="22225">
            <a:solidFill>
              <a:srgbClr val="A3ACBA"/>
            </a:solidFill>
            <a:prstDash val="solid"/>
            <a:tailEnd type="triangle"/>
          </a:ln>
        </p:spPr>
      </p:sp>
      <p:sp>
        <p:nvSpPr>
          <p:cNvPr id="30" name="Shape 27"/>
          <p:cNvSpPr/>
          <p:nvPr/>
        </p:nvSpPr>
        <p:spPr>
          <a:xfrm>
            <a:off x="2153412" y="2331720"/>
            <a:ext cx="1371600" cy="1645920"/>
          </a:xfrm>
          <a:prstGeom prst="roundRect">
            <a:avLst>
              <a:gd name="adj" fmla="val 6667"/>
            </a:avLst>
          </a:prstGeom>
          <a:solidFill>
            <a:srgbClr val="161B22"/>
          </a:solidFill>
          <a:ln w="9525">
            <a:solidFill>
              <a:srgbClr val="2E3845"/>
            </a:solidFill>
            <a:prstDash val="solid"/>
          </a:ln>
        </p:spPr>
      </p:sp>
      <p:sp>
        <p:nvSpPr>
          <p:cNvPr id="31" name="Shape 28"/>
          <p:cNvSpPr/>
          <p:nvPr/>
        </p:nvSpPr>
        <p:spPr>
          <a:xfrm>
            <a:off x="2555748" y="2514600"/>
            <a:ext cx="566928" cy="566928"/>
          </a:xfrm>
          <a:prstGeom prst="ellipse">
            <a:avLst/>
          </a:prstGeom>
          <a:solidFill>
            <a:srgbClr val="5EC8E5">
              <a:alpha val="18000"/>
            </a:srgbClr>
          </a:solidFill>
          <a:ln/>
        </p:spPr>
      </p:sp>
      <p:pic>
        <p:nvPicPr>
          <p:cNvPr id="32" name="Image 1" descr="preencoded.png">    </p:cNvPr>
          <p:cNvPicPr>
            <a:picLocks noChangeAspect="1"/>
          </p:cNvPicPr>
          <p:nvPr/>
        </p:nvPicPr>
        <p:blipFill>
          <a:blip r:embed="rId2"/>
          <a:stretch>
            <a:fillRect/>
          </a:stretch>
        </p:blipFill>
        <p:spPr>
          <a:xfrm>
            <a:off x="2691811" y="2650663"/>
            <a:ext cx="294803" cy="294803"/>
          </a:xfrm>
          <a:prstGeom prst="rect">
            <a:avLst/>
          </a:prstGeom>
        </p:spPr>
      </p:pic>
      <p:sp>
        <p:nvSpPr>
          <p:cNvPr id="33" name="Text 29"/>
          <p:cNvSpPr txBox="1"/>
          <p:nvPr/>
        </p:nvSpPr>
        <p:spPr>
          <a:xfrm>
            <a:off x="2153412"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YOLOv8</a:t>
            </a:r>
            <a:endParaRPr lang="en-US" sz="1500" dirty="0"/>
          </a:p>
        </p:txBody>
      </p:sp>
      <p:sp>
        <p:nvSpPr>
          <p:cNvPr id="34" name="Text 30"/>
          <p:cNvSpPr txBox="1"/>
          <p:nvPr/>
        </p:nvSpPr>
        <p:spPr>
          <a:xfrm>
            <a:off x="2226564"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detector · 10 classes</a:t>
            </a:r>
            <a:endParaRPr lang="en-US" sz="1050" dirty="0"/>
          </a:p>
        </p:txBody>
      </p:sp>
      <p:sp>
        <p:nvSpPr>
          <p:cNvPr id="35" name="Text 31"/>
          <p:cNvSpPr txBox="1"/>
          <p:nvPr/>
        </p:nvSpPr>
        <p:spPr>
          <a:xfrm>
            <a:off x="2107692"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boxes · class · conf</a:t>
            </a:r>
            <a:endParaRPr lang="en-US" sz="1050" dirty="0"/>
          </a:p>
        </p:txBody>
      </p:sp>
      <p:sp>
        <p:nvSpPr>
          <p:cNvPr id="36" name="Shape 32"/>
          <p:cNvSpPr/>
          <p:nvPr/>
        </p:nvSpPr>
        <p:spPr>
          <a:xfrm>
            <a:off x="3543300" y="3154680"/>
            <a:ext cx="196596" cy="0"/>
          </a:xfrm>
          <a:prstGeom prst="line">
            <a:avLst/>
          </a:prstGeom>
          <a:noFill/>
          <a:ln w="22225">
            <a:solidFill>
              <a:srgbClr val="A3ACBA"/>
            </a:solidFill>
            <a:prstDash val="solid"/>
            <a:tailEnd type="triangle"/>
          </a:ln>
        </p:spPr>
      </p:sp>
      <p:sp>
        <p:nvSpPr>
          <p:cNvPr id="37" name="Shape 33"/>
          <p:cNvSpPr/>
          <p:nvPr/>
        </p:nvSpPr>
        <p:spPr>
          <a:xfrm>
            <a:off x="3758184" y="2331720"/>
            <a:ext cx="1371600" cy="1645920"/>
          </a:xfrm>
          <a:prstGeom prst="roundRect">
            <a:avLst>
              <a:gd name="adj" fmla="val 6667"/>
            </a:avLst>
          </a:prstGeom>
          <a:solidFill>
            <a:srgbClr val="161B22"/>
          </a:solidFill>
          <a:ln w="9525">
            <a:solidFill>
              <a:srgbClr val="2E3845"/>
            </a:solidFill>
            <a:prstDash val="solid"/>
          </a:ln>
        </p:spPr>
      </p:sp>
      <p:sp>
        <p:nvSpPr>
          <p:cNvPr id="38" name="Shape 34"/>
          <p:cNvSpPr/>
          <p:nvPr/>
        </p:nvSpPr>
        <p:spPr>
          <a:xfrm>
            <a:off x="4160520" y="2514600"/>
            <a:ext cx="566928" cy="566928"/>
          </a:xfrm>
          <a:prstGeom prst="ellipse">
            <a:avLst/>
          </a:prstGeom>
          <a:solidFill>
            <a:srgbClr val="5EC8E5">
              <a:alpha val="18000"/>
            </a:srgbClr>
          </a:solidFill>
          <a:ln/>
        </p:spPr>
      </p:sp>
      <p:pic>
        <p:nvPicPr>
          <p:cNvPr id="39" name="Image 2" descr="preencoded.png">    </p:cNvPr>
          <p:cNvPicPr>
            <a:picLocks noChangeAspect="1"/>
          </p:cNvPicPr>
          <p:nvPr/>
        </p:nvPicPr>
        <p:blipFill>
          <a:blip r:embed="rId3"/>
          <a:stretch>
            <a:fillRect/>
          </a:stretch>
        </p:blipFill>
        <p:spPr>
          <a:xfrm>
            <a:off x="4296583" y="2650663"/>
            <a:ext cx="294803" cy="294803"/>
          </a:xfrm>
          <a:prstGeom prst="rect">
            <a:avLst/>
          </a:prstGeom>
        </p:spPr>
      </p:pic>
      <p:sp>
        <p:nvSpPr>
          <p:cNvPr id="40" name="Text 35"/>
          <p:cNvSpPr txBox="1"/>
          <p:nvPr/>
        </p:nvSpPr>
        <p:spPr>
          <a:xfrm>
            <a:off x="3758184"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ByteTrack</a:t>
            </a:r>
            <a:endParaRPr lang="en-US" sz="1500" dirty="0"/>
          </a:p>
        </p:txBody>
      </p:sp>
      <p:sp>
        <p:nvSpPr>
          <p:cNvPr id="41" name="Text 36"/>
          <p:cNvSpPr txBox="1"/>
          <p:nvPr/>
        </p:nvSpPr>
        <p:spPr>
          <a:xfrm>
            <a:off x="3831336"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tracker · stable IDs</a:t>
            </a:r>
            <a:endParaRPr lang="en-US" sz="1050" dirty="0"/>
          </a:p>
        </p:txBody>
      </p:sp>
      <p:sp>
        <p:nvSpPr>
          <p:cNvPr id="42" name="Text 37"/>
          <p:cNvSpPr txBox="1"/>
          <p:nvPr/>
        </p:nvSpPr>
        <p:spPr>
          <a:xfrm>
            <a:off x="3712464"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IDs · width history</a:t>
            </a:r>
            <a:endParaRPr lang="en-US" sz="1050" dirty="0"/>
          </a:p>
        </p:txBody>
      </p:sp>
      <p:sp>
        <p:nvSpPr>
          <p:cNvPr id="43" name="Shape 38"/>
          <p:cNvSpPr/>
          <p:nvPr/>
        </p:nvSpPr>
        <p:spPr>
          <a:xfrm>
            <a:off x="5148072" y="3154680"/>
            <a:ext cx="196596" cy="0"/>
          </a:xfrm>
          <a:prstGeom prst="line">
            <a:avLst/>
          </a:prstGeom>
          <a:noFill/>
          <a:ln w="22225">
            <a:solidFill>
              <a:srgbClr val="A3ACBA"/>
            </a:solidFill>
            <a:prstDash val="solid"/>
            <a:tailEnd type="triangle"/>
          </a:ln>
        </p:spPr>
      </p:sp>
      <p:sp>
        <p:nvSpPr>
          <p:cNvPr id="44" name="Shape 39"/>
          <p:cNvSpPr/>
          <p:nvPr/>
        </p:nvSpPr>
        <p:spPr>
          <a:xfrm>
            <a:off x="5362956" y="2331720"/>
            <a:ext cx="1371600" cy="1645920"/>
          </a:xfrm>
          <a:prstGeom prst="roundRect">
            <a:avLst>
              <a:gd name="adj" fmla="val 6667"/>
            </a:avLst>
          </a:prstGeom>
          <a:solidFill>
            <a:srgbClr val="161B22"/>
          </a:solidFill>
          <a:ln w="9525">
            <a:solidFill>
              <a:srgbClr val="2E3845"/>
            </a:solidFill>
            <a:prstDash val="solid"/>
          </a:ln>
        </p:spPr>
      </p:sp>
      <p:sp>
        <p:nvSpPr>
          <p:cNvPr id="45" name="Shape 40"/>
          <p:cNvSpPr/>
          <p:nvPr/>
        </p:nvSpPr>
        <p:spPr>
          <a:xfrm>
            <a:off x="5765292" y="2514600"/>
            <a:ext cx="566928" cy="566928"/>
          </a:xfrm>
          <a:prstGeom prst="ellipse">
            <a:avLst/>
          </a:prstGeom>
          <a:solidFill>
            <a:srgbClr val="5EC8E5">
              <a:alpha val="18000"/>
            </a:srgbClr>
          </a:solidFill>
          <a:ln/>
        </p:spPr>
      </p:sp>
      <p:pic>
        <p:nvPicPr>
          <p:cNvPr id="46" name="Image 3" descr="preencoded.png">    </p:cNvPr>
          <p:cNvPicPr>
            <a:picLocks noChangeAspect="1"/>
          </p:cNvPicPr>
          <p:nvPr/>
        </p:nvPicPr>
        <p:blipFill>
          <a:blip r:embed="rId4"/>
          <a:stretch>
            <a:fillRect/>
          </a:stretch>
        </p:blipFill>
        <p:spPr>
          <a:xfrm>
            <a:off x="5901355" y="2650663"/>
            <a:ext cx="294803" cy="294803"/>
          </a:xfrm>
          <a:prstGeom prst="rect">
            <a:avLst/>
          </a:prstGeom>
        </p:spPr>
      </p:pic>
      <p:sp>
        <p:nvSpPr>
          <p:cNvPr id="47" name="Text 41"/>
          <p:cNvSpPr txBox="1"/>
          <p:nvPr/>
        </p:nvSpPr>
        <p:spPr>
          <a:xfrm>
            <a:off x="5362956"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TTC</a:t>
            </a:r>
            <a:endParaRPr lang="en-US" sz="1500" dirty="0"/>
          </a:p>
        </p:txBody>
      </p:sp>
      <p:sp>
        <p:nvSpPr>
          <p:cNvPr id="48" name="Text 42"/>
          <p:cNvSpPr txBox="1"/>
          <p:nvPr/>
        </p:nvSpPr>
        <p:spPr>
          <a:xfrm>
            <a:off x="5436108"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1/w regression · noise horizon</a:t>
            </a:r>
            <a:endParaRPr lang="en-US" sz="1050" dirty="0"/>
          </a:p>
        </p:txBody>
      </p:sp>
      <p:sp>
        <p:nvSpPr>
          <p:cNvPr id="49" name="Text 43"/>
          <p:cNvSpPr txBox="1"/>
          <p:nvPr/>
        </p:nvSpPr>
        <p:spPr>
          <a:xfrm>
            <a:off x="5317236"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TTC + status per vehicle</a:t>
            </a:r>
            <a:endParaRPr lang="en-US" sz="1050" dirty="0"/>
          </a:p>
        </p:txBody>
      </p:sp>
      <p:sp>
        <p:nvSpPr>
          <p:cNvPr id="50" name="Shape 44"/>
          <p:cNvSpPr/>
          <p:nvPr/>
        </p:nvSpPr>
        <p:spPr>
          <a:xfrm>
            <a:off x="6752844" y="3154680"/>
            <a:ext cx="196596" cy="0"/>
          </a:xfrm>
          <a:prstGeom prst="line">
            <a:avLst/>
          </a:prstGeom>
          <a:noFill/>
          <a:ln w="22225">
            <a:solidFill>
              <a:srgbClr val="A3ACBA"/>
            </a:solidFill>
            <a:prstDash val="solid"/>
            <a:tailEnd type="triangle"/>
          </a:ln>
        </p:spPr>
      </p:sp>
      <p:sp>
        <p:nvSpPr>
          <p:cNvPr id="51" name="Shape 45"/>
          <p:cNvSpPr/>
          <p:nvPr/>
        </p:nvSpPr>
        <p:spPr>
          <a:xfrm>
            <a:off x="6967728" y="2331720"/>
            <a:ext cx="1371600" cy="1645920"/>
          </a:xfrm>
          <a:prstGeom prst="roundRect">
            <a:avLst>
              <a:gd name="adj" fmla="val 6667"/>
            </a:avLst>
          </a:prstGeom>
          <a:solidFill>
            <a:srgbClr val="161B22"/>
          </a:solidFill>
          <a:ln w="19050">
            <a:solidFill>
              <a:srgbClr val="F2545B"/>
            </a:solidFill>
            <a:prstDash val="solid"/>
          </a:ln>
        </p:spPr>
      </p:sp>
      <p:sp>
        <p:nvSpPr>
          <p:cNvPr id="52" name="Shape 46"/>
          <p:cNvSpPr/>
          <p:nvPr/>
        </p:nvSpPr>
        <p:spPr>
          <a:xfrm>
            <a:off x="7370064" y="2514600"/>
            <a:ext cx="566928" cy="566928"/>
          </a:xfrm>
          <a:prstGeom prst="ellipse">
            <a:avLst/>
          </a:prstGeom>
          <a:solidFill>
            <a:srgbClr val="F2545B">
              <a:alpha val="18000"/>
            </a:srgbClr>
          </a:solidFill>
          <a:ln/>
        </p:spPr>
      </p:sp>
      <p:pic>
        <p:nvPicPr>
          <p:cNvPr id="53" name="Image 4" descr="preencoded.png">    </p:cNvPr>
          <p:cNvPicPr>
            <a:picLocks noChangeAspect="1"/>
          </p:cNvPicPr>
          <p:nvPr/>
        </p:nvPicPr>
        <p:blipFill>
          <a:blip r:embed="rId5"/>
          <a:stretch>
            <a:fillRect/>
          </a:stretch>
        </p:blipFill>
        <p:spPr>
          <a:xfrm>
            <a:off x="7506127" y="2650663"/>
            <a:ext cx="294803" cy="294803"/>
          </a:xfrm>
          <a:prstGeom prst="rect">
            <a:avLst/>
          </a:prstGeom>
        </p:spPr>
      </p:pic>
      <p:sp>
        <p:nvSpPr>
          <p:cNvPr id="54" name="Text 47"/>
          <p:cNvSpPr txBox="1"/>
          <p:nvPr/>
        </p:nvSpPr>
        <p:spPr>
          <a:xfrm>
            <a:off x="6967728"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Rules</a:t>
            </a:r>
            <a:endParaRPr lang="en-US" sz="1500" dirty="0"/>
          </a:p>
        </p:txBody>
      </p:sp>
      <p:sp>
        <p:nvSpPr>
          <p:cNvPr id="55" name="Text 48"/>
          <p:cNvSpPr txBox="1"/>
          <p:nvPr/>
        </p:nvSpPr>
        <p:spPr>
          <a:xfrm>
            <a:off x="7040880"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6 ordered rules</a:t>
            </a:r>
            <a:endParaRPr lang="en-US" sz="1050" dirty="0"/>
          </a:p>
        </p:txBody>
      </p:sp>
      <p:sp>
        <p:nvSpPr>
          <p:cNvPr id="56" name="Text 49"/>
          <p:cNvSpPr txBox="1"/>
          <p:nvPr/>
        </p:nvSpPr>
        <p:spPr>
          <a:xfrm>
            <a:off x="6922008"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raw verdict + reason</a:t>
            </a:r>
            <a:endParaRPr lang="en-US" sz="1050" dirty="0"/>
          </a:p>
        </p:txBody>
      </p:sp>
      <p:sp>
        <p:nvSpPr>
          <p:cNvPr id="57" name="Shape 50"/>
          <p:cNvSpPr/>
          <p:nvPr/>
        </p:nvSpPr>
        <p:spPr>
          <a:xfrm>
            <a:off x="8357616" y="3154680"/>
            <a:ext cx="196596" cy="0"/>
          </a:xfrm>
          <a:prstGeom prst="line">
            <a:avLst/>
          </a:prstGeom>
          <a:noFill/>
          <a:ln w="22225">
            <a:solidFill>
              <a:srgbClr val="A3ACBA"/>
            </a:solidFill>
            <a:prstDash val="solid"/>
            <a:tailEnd type="triangle"/>
          </a:ln>
        </p:spPr>
      </p:sp>
      <p:sp>
        <p:nvSpPr>
          <p:cNvPr id="58" name="Shape 51"/>
          <p:cNvSpPr/>
          <p:nvPr/>
        </p:nvSpPr>
        <p:spPr>
          <a:xfrm>
            <a:off x="8572500" y="2331720"/>
            <a:ext cx="1371600" cy="1645920"/>
          </a:xfrm>
          <a:prstGeom prst="roundRect">
            <a:avLst>
              <a:gd name="adj" fmla="val 6667"/>
            </a:avLst>
          </a:prstGeom>
          <a:solidFill>
            <a:srgbClr val="161B22"/>
          </a:solidFill>
          <a:ln w="19050">
            <a:solidFill>
              <a:srgbClr val="F2545B"/>
            </a:solidFill>
            <a:prstDash val="solid"/>
          </a:ln>
        </p:spPr>
      </p:sp>
      <p:sp>
        <p:nvSpPr>
          <p:cNvPr id="59" name="Shape 52"/>
          <p:cNvSpPr/>
          <p:nvPr/>
        </p:nvSpPr>
        <p:spPr>
          <a:xfrm>
            <a:off x="8974836" y="2514600"/>
            <a:ext cx="566928" cy="566928"/>
          </a:xfrm>
          <a:prstGeom prst="ellipse">
            <a:avLst/>
          </a:prstGeom>
          <a:solidFill>
            <a:srgbClr val="F2545B">
              <a:alpha val="18000"/>
            </a:srgbClr>
          </a:solidFill>
          <a:ln/>
        </p:spPr>
      </p:sp>
      <p:pic>
        <p:nvPicPr>
          <p:cNvPr id="60" name="Image 5" descr="preencoded.png">    </p:cNvPr>
          <p:cNvPicPr>
            <a:picLocks noChangeAspect="1"/>
          </p:cNvPicPr>
          <p:nvPr/>
        </p:nvPicPr>
        <p:blipFill>
          <a:blip r:embed="rId6"/>
          <a:stretch>
            <a:fillRect/>
          </a:stretch>
        </p:blipFill>
        <p:spPr>
          <a:xfrm>
            <a:off x="9110899" y="2650663"/>
            <a:ext cx="294803" cy="294803"/>
          </a:xfrm>
          <a:prstGeom prst="rect">
            <a:avLst/>
          </a:prstGeom>
        </p:spPr>
      </p:pic>
      <p:sp>
        <p:nvSpPr>
          <p:cNvPr id="61" name="Text 53"/>
          <p:cNvSpPr txBox="1"/>
          <p:nvPr/>
        </p:nvSpPr>
        <p:spPr>
          <a:xfrm>
            <a:off x="8572500"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Hysteresis</a:t>
            </a:r>
            <a:endParaRPr lang="en-US" sz="1500" dirty="0"/>
          </a:p>
        </p:txBody>
      </p:sp>
      <p:sp>
        <p:nvSpPr>
          <p:cNvPr id="62" name="Text 54"/>
          <p:cNvSpPr txBox="1"/>
          <p:nvPr/>
        </p:nvSpPr>
        <p:spPr>
          <a:xfrm>
            <a:off x="8645652"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8 frames in, instant out</a:t>
            </a:r>
            <a:endParaRPr lang="en-US" sz="1050" dirty="0"/>
          </a:p>
        </p:txBody>
      </p:sp>
      <p:sp>
        <p:nvSpPr>
          <p:cNvPr id="63" name="Text 55"/>
          <p:cNvSpPr txBox="1"/>
          <p:nvPr/>
        </p:nvSpPr>
        <p:spPr>
          <a:xfrm>
            <a:off x="8526780"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stable state</a:t>
            </a:r>
            <a:endParaRPr lang="en-US" sz="1050" dirty="0"/>
          </a:p>
        </p:txBody>
      </p:sp>
      <p:sp>
        <p:nvSpPr>
          <p:cNvPr id="64" name="Shape 56"/>
          <p:cNvSpPr/>
          <p:nvPr/>
        </p:nvSpPr>
        <p:spPr>
          <a:xfrm>
            <a:off x="9962388" y="3154680"/>
            <a:ext cx="196596" cy="0"/>
          </a:xfrm>
          <a:prstGeom prst="line">
            <a:avLst/>
          </a:prstGeom>
          <a:noFill/>
          <a:ln w="22225">
            <a:solidFill>
              <a:srgbClr val="A3ACBA"/>
            </a:solidFill>
            <a:prstDash val="solid"/>
            <a:tailEnd type="triangle"/>
          </a:ln>
        </p:spPr>
      </p:sp>
      <p:sp>
        <p:nvSpPr>
          <p:cNvPr id="65" name="Shape 57"/>
          <p:cNvSpPr/>
          <p:nvPr/>
        </p:nvSpPr>
        <p:spPr>
          <a:xfrm>
            <a:off x="10177272" y="2331720"/>
            <a:ext cx="1371600" cy="1645920"/>
          </a:xfrm>
          <a:prstGeom prst="roundRect">
            <a:avLst>
              <a:gd name="adj" fmla="val 6667"/>
            </a:avLst>
          </a:prstGeom>
          <a:solidFill>
            <a:srgbClr val="161B22"/>
          </a:solidFill>
          <a:ln w="9525">
            <a:solidFill>
              <a:srgbClr val="2E3845"/>
            </a:solidFill>
            <a:prstDash val="solid"/>
          </a:ln>
        </p:spPr>
      </p:sp>
      <p:sp>
        <p:nvSpPr>
          <p:cNvPr id="66" name="Shape 58"/>
          <p:cNvSpPr/>
          <p:nvPr/>
        </p:nvSpPr>
        <p:spPr>
          <a:xfrm>
            <a:off x="10579608" y="2514600"/>
            <a:ext cx="566928" cy="566928"/>
          </a:xfrm>
          <a:prstGeom prst="ellipse">
            <a:avLst/>
          </a:prstGeom>
          <a:solidFill>
            <a:srgbClr val="5EC8E5">
              <a:alpha val="18000"/>
            </a:srgbClr>
          </a:solidFill>
          <a:ln/>
        </p:spPr>
      </p:sp>
      <p:pic>
        <p:nvPicPr>
          <p:cNvPr id="67" name="Image 6" descr="preencoded.png">    </p:cNvPr>
          <p:cNvPicPr>
            <a:picLocks noChangeAspect="1"/>
          </p:cNvPicPr>
          <p:nvPr/>
        </p:nvPicPr>
        <p:blipFill>
          <a:blip r:embed="rId7"/>
          <a:stretch>
            <a:fillRect/>
          </a:stretch>
        </p:blipFill>
        <p:spPr>
          <a:xfrm>
            <a:off x="10715671" y="2650663"/>
            <a:ext cx="294803" cy="294803"/>
          </a:xfrm>
          <a:prstGeom prst="rect">
            <a:avLst/>
          </a:prstGeom>
        </p:spPr>
      </p:pic>
      <p:sp>
        <p:nvSpPr>
          <p:cNvPr id="68" name="Text 59"/>
          <p:cNvSpPr txBox="1"/>
          <p:nvPr/>
        </p:nvSpPr>
        <p:spPr>
          <a:xfrm>
            <a:off x="10177272" y="3154680"/>
            <a:ext cx="1371600" cy="320040"/>
          </a:xfrm>
          <a:prstGeom prst="rect">
            <a:avLst/>
          </a:prstGeom>
          <a:noFill/>
          <a:ln/>
        </p:spPr>
        <p:txBody>
          <a:bodyPr wrap="square" lIns="0" tIns="0" rIns="0" bIns="0" rtlCol="0" anchor="t"/>
          <a:lstStyle/>
          <a:p>
            <a:pPr algn="ctr" indent="0" marL="0">
              <a:buNone/>
            </a:pPr>
            <a:r>
              <a:rPr lang="en-US" sz="1500" b="1" dirty="0">
                <a:solidFill>
                  <a:srgbClr val="F2F4F7"/>
                </a:solidFill>
                <a:latin typeface="Calibri" pitchFamily="34" charset="0"/>
                <a:ea typeface="Calibri" pitchFamily="34" charset="-122"/>
                <a:cs typeface="Calibri" pitchFamily="34" charset="-120"/>
              </a:rPr>
              <a:t>Audio</a:t>
            </a:r>
            <a:endParaRPr lang="en-US" sz="1500" dirty="0"/>
          </a:p>
        </p:txBody>
      </p:sp>
      <p:sp>
        <p:nvSpPr>
          <p:cNvPr id="69" name="Text 60"/>
          <p:cNvSpPr txBox="1"/>
          <p:nvPr/>
        </p:nvSpPr>
        <p:spPr>
          <a:xfrm>
            <a:off x="10250424" y="3474720"/>
            <a:ext cx="1225296" cy="438912"/>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speech + earcons</a:t>
            </a:r>
            <a:endParaRPr lang="en-US" sz="1050" dirty="0"/>
          </a:p>
        </p:txBody>
      </p:sp>
      <p:sp>
        <p:nvSpPr>
          <p:cNvPr id="70" name="Text 61"/>
          <p:cNvSpPr txBox="1"/>
          <p:nvPr/>
        </p:nvSpPr>
        <p:spPr>
          <a:xfrm>
            <a:off x="10131552" y="4087368"/>
            <a:ext cx="1463040" cy="411480"/>
          </a:xfrm>
          <a:prstGeom prst="rect">
            <a:avLst/>
          </a:prstGeom>
          <a:noFill/>
          <a:ln/>
        </p:spPr>
        <p:txBody>
          <a:bodyPr wrap="square" lIns="0" tIns="0" rIns="0" bIns="0" rtlCol="0" anchor="t"/>
          <a:lstStyle/>
          <a:p>
            <a:pPr algn="ctr" indent="0" marL="0">
              <a:buNone/>
            </a:pPr>
            <a:r>
              <a:rPr lang="en-US" sz="1050" dirty="0">
                <a:solidFill>
                  <a:srgbClr val="5EC8E5"/>
                </a:solidFill>
                <a:latin typeface="Consolas" pitchFamily="34" charset="0"/>
                <a:ea typeface="Consolas" pitchFamily="34" charset="-122"/>
                <a:cs typeface="Consolas" pitchFamily="34" charset="-120"/>
              </a:rPr>
              <a:t>spoken guidance</a:t>
            </a:r>
            <a:endParaRPr lang="en-US" sz="1050" dirty="0"/>
          </a:p>
        </p:txBody>
      </p:sp>
      <p:sp>
        <p:nvSpPr>
          <p:cNvPr id="71" name="Shape 62"/>
          <p:cNvSpPr/>
          <p:nvPr/>
        </p:nvSpPr>
        <p:spPr>
          <a:xfrm>
            <a:off x="2153412" y="4526280"/>
            <a:ext cx="0" cy="91440"/>
          </a:xfrm>
          <a:prstGeom prst="line">
            <a:avLst/>
          </a:prstGeom>
          <a:noFill/>
          <a:ln w="15875">
            <a:solidFill>
              <a:srgbClr val="F5B43C"/>
            </a:solidFill>
            <a:prstDash val="solid"/>
          </a:ln>
        </p:spPr>
      </p:sp>
      <p:sp>
        <p:nvSpPr>
          <p:cNvPr id="72" name="Shape 63"/>
          <p:cNvSpPr/>
          <p:nvPr/>
        </p:nvSpPr>
        <p:spPr>
          <a:xfrm>
            <a:off x="9944100" y="4526280"/>
            <a:ext cx="0" cy="91440"/>
          </a:xfrm>
          <a:prstGeom prst="line">
            <a:avLst/>
          </a:prstGeom>
          <a:noFill/>
          <a:ln w="15875">
            <a:solidFill>
              <a:srgbClr val="F5B43C"/>
            </a:solidFill>
            <a:prstDash val="solid"/>
          </a:ln>
        </p:spPr>
      </p:sp>
      <p:sp>
        <p:nvSpPr>
          <p:cNvPr id="73" name="Shape 64"/>
          <p:cNvSpPr/>
          <p:nvPr/>
        </p:nvSpPr>
        <p:spPr>
          <a:xfrm>
            <a:off x="2153412" y="4617720"/>
            <a:ext cx="7790688" cy="0"/>
          </a:xfrm>
          <a:prstGeom prst="line">
            <a:avLst/>
          </a:prstGeom>
          <a:noFill/>
          <a:ln w="15875">
            <a:solidFill>
              <a:srgbClr val="F5B43C"/>
            </a:solidFill>
            <a:prstDash val="solid"/>
          </a:ln>
        </p:spPr>
      </p:sp>
      <p:sp>
        <p:nvSpPr>
          <p:cNvPr id="74" name="Text 65"/>
          <p:cNvSpPr txBox="1"/>
          <p:nvPr/>
        </p:nvSpPr>
        <p:spPr>
          <a:xfrm>
            <a:off x="2153412" y="4690872"/>
            <a:ext cx="6400800" cy="256032"/>
          </a:xfrm>
          <a:prstGeom prst="rect">
            <a:avLst/>
          </a:prstGeom>
          <a:noFill/>
          <a:ln/>
        </p:spPr>
        <p:txBody>
          <a:bodyPr wrap="square" lIns="0" tIns="0" rIns="0" bIns="0" rtlCol="0" anchor="t"/>
          <a:lstStyle/>
          <a:p>
            <a:pPr indent="0" marL="0">
              <a:buNone/>
            </a:pPr>
            <a:r>
              <a:rPr lang="en-US" sz="1150" b="1" dirty="0">
                <a:solidFill>
                  <a:srgbClr val="F5B43C"/>
                </a:solidFill>
                <a:latin typeface="Calibri" pitchFamily="34" charset="0"/>
                <a:ea typeface="Calibri" pitchFamily="34" charset="-122"/>
                <a:cs typeface="Calibri" pitchFamily="34" charset="-120"/>
              </a:rPr>
              <a:t>runs only on every Nth frame (detect → track → estimate → decide → vote)</a:t>
            </a:r>
            <a:endParaRPr lang="en-US" sz="1150" dirty="0"/>
          </a:p>
        </p:txBody>
      </p:sp>
      <p:sp>
        <p:nvSpPr>
          <p:cNvPr id="75" name="Shape 66"/>
          <p:cNvSpPr/>
          <p:nvPr/>
        </p:nvSpPr>
        <p:spPr>
          <a:xfrm>
            <a:off x="8455914" y="3154680"/>
            <a:ext cx="0" cy="2194560"/>
          </a:xfrm>
          <a:prstGeom prst="line">
            <a:avLst/>
          </a:prstGeom>
          <a:noFill/>
          <a:ln w="19050">
            <a:solidFill>
              <a:srgbClr val="A3ACBA"/>
            </a:solidFill>
            <a:prstDash val="dash"/>
          </a:ln>
        </p:spPr>
      </p:sp>
      <p:sp>
        <p:nvSpPr>
          <p:cNvPr id="76" name="Shape 67"/>
          <p:cNvSpPr/>
          <p:nvPr/>
        </p:nvSpPr>
        <p:spPr>
          <a:xfrm flipH="1">
            <a:off x="8229600" y="5669280"/>
            <a:ext cx="226314" cy="0"/>
          </a:xfrm>
          <a:prstGeom prst="line">
            <a:avLst/>
          </a:prstGeom>
          <a:noFill/>
          <a:ln w="19050">
            <a:solidFill>
              <a:srgbClr val="A3ACBA"/>
            </a:solidFill>
            <a:prstDash val="dash"/>
            <a:tailEnd type="triangle"/>
          </a:ln>
        </p:spPr>
      </p:sp>
      <p:sp>
        <p:nvSpPr>
          <p:cNvPr id="77" name="Shape 68"/>
          <p:cNvSpPr/>
          <p:nvPr/>
        </p:nvSpPr>
        <p:spPr>
          <a:xfrm>
            <a:off x="8455914" y="5349240"/>
            <a:ext cx="0" cy="320040"/>
          </a:xfrm>
          <a:prstGeom prst="line">
            <a:avLst/>
          </a:prstGeom>
          <a:noFill/>
          <a:ln w="19050">
            <a:solidFill>
              <a:srgbClr val="A3ACBA"/>
            </a:solidFill>
            <a:prstDash val="dash"/>
          </a:ln>
        </p:spPr>
      </p:sp>
      <p:sp>
        <p:nvSpPr>
          <p:cNvPr id="78" name="Shape 69"/>
          <p:cNvSpPr/>
          <p:nvPr/>
        </p:nvSpPr>
        <p:spPr>
          <a:xfrm>
            <a:off x="8275320" y="5212080"/>
            <a:ext cx="3364992" cy="914400"/>
          </a:xfrm>
          <a:prstGeom prst="roundRect">
            <a:avLst>
              <a:gd name="adj" fmla="val 10000"/>
            </a:avLst>
          </a:prstGeom>
          <a:solidFill>
            <a:srgbClr val="161B22"/>
          </a:solidFill>
          <a:ln w="9525">
            <a:solidFill>
              <a:srgbClr val="2E3845"/>
            </a:solidFill>
            <a:prstDash val="solid"/>
          </a:ln>
        </p:spPr>
      </p:sp>
      <p:sp>
        <p:nvSpPr>
          <p:cNvPr id="79" name="Shape 70"/>
          <p:cNvSpPr/>
          <p:nvPr/>
        </p:nvSpPr>
        <p:spPr>
          <a:xfrm>
            <a:off x="8430768" y="5385816"/>
            <a:ext cx="566928" cy="566928"/>
          </a:xfrm>
          <a:prstGeom prst="ellipse">
            <a:avLst/>
          </a:prstGeom>
          <a:solidFill>
            <a:srgbClr val="5EC8E5">
              <a:alpha val="18000"/>
            </a:srgbClr>
          </a:solidFill>
          <a:ln/>
        </p:spPr>
      </p:sp>
      <p:pic>
        <p:nvPicPr>
          <p:cNvPr id="80" name="Image 7" descr="preencoded.png">    </p:cNvPr>
          <p:cNvPicPr>
            <a:picLocks noChangeAspect="1"/>
          </p:cNvPicPr>
          <p:nvPr/>
        </p:nvPicPr>
        <p:blipFill>
          <a:blip r:embed="rId8"/>
          <a:stretch>
            <a:fillRect/>
          </a:stretch>
        </p:blipFill>
        <p:spPr>
          <a:xfrm>
            <a:off x="8566831" y="5521879"/>
            <a:ext cx="294803" cy="294803"/>
          </a:xfrm>
          <a:prstGeom prst="rect">
            <a:avLst/>
          </a:prstGeom>
        </p:spPr>
      </p:pic>
      <p:sp>
        <p:nvSpPr>
          <p:cNvPr id="81" name="Text 71"/>
          <p:cNvSpPr txBox="1"/>
          <p:nvPr/>
        </p:nvSpPr>
        <p:spPr>
          <a:xfrm>
            <a:off x="9144000" y="5303520"/>
            <a:ext cx="242316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Decision log · SQLite</a:t>
            </a:r>
            <a:endParaRPr lang="en-US" sz="1400" dirty="0"/>
          </a:p>
        </p:txBody>
      </p:sp>
      <p:sp>
        <p:nvSpPr>
          <p:cNvPr id="82" name="Text 72"/>
          <p:cNvSpPr txBox="1"/>
          <p:nvPr/>
        </p:nvSpPr>
        <p:spPr>
          <a:xfrm>
            <a:off x="9144000" y="5596128"/>
            <a:ext cx="2423160" cy="457200"/>
          </a:xfrm>
          <a:prstGeom prst="rect">
            <a:avLst/>
          </a:prstGeom>
          <a:noFill/>
          <a:ln/>
        </p:spPr>
        <p:txBody>
          <a:bodyPr wrap="square" lIns="0" tIns="0" rIns="0" bIns="0" rtlCol="0" anchor="t"/>
          <a:lstStyle/>
          <a:p>
            <a:pPr indent="0" marL="0">
              <a:buNone/>
            </a:pPr>
            <a:r>
              <a:rPr lang="en-US" sz="1050" dirty="0">
                <a:solidFill>
                  <a:srgbClr val="A3ACBA"/>
                </a:solidFill>
                <a:latin typeface="Calibri" pitchFamily="34" charset="0"/>
                <a:ea typeface="Calibri" pitchFamily="34" charset="-122"/>
                <a:cs typeface="Calibri" pitchFamily="34" charset="-120"/>
              </a:rPr>
              <a:t>every frame’s state, reason and inputs, for offline evaluation</a:t>
            </a:r>
            <a:endParaRPr lang="en-US" sz="1050" dirty="0"/>
          </a:p>
        </p:txBody>
      </p:sp>
      <p:pic>
        <p:nvPicPr>
          <p:cNvPr id="83" name="Image 8" descr="preencoded.png">    </p:cNvPr>
          <p:cNvPicPr>
            <a:picLocks noChangeAspect="1"/>
          </p:cNvPicPr>
          <p:nvPr/>
        </p:nvPicPr>
        <p:blipFill>
          <a:blip r:embed="rId9"/>
          <a:stretch>
            <a:fillRect/>
          </a:stretch>
        </p:blipFill>
        <p:spPr>
          <a:xfrm>
            <a:off x="548640" y="5440680"/>
            <a:ext cx="329184" cy="329184"/>
          </a:xfrm>
          <a:prstGeom prst="rect">
            <a:avLst/>
          </a:prstGeom>
        </p:spPr>
      </p:pic>
      <p:sp>
        <p:nvSpPr>
          <p:cNvPr id="84" name="Text 73"/>
          <p:cNvSpPr txBox="1"/>
          <p:nvPr/>
        </p:nvSpPr>
        <p:spPr>
          <a:xfrm>
            <a:off x="1005840" y="5440680"/>
            <a:ext cx="6309360" cy="329184"/>
          </a:xfrm>
          <a:prstGeom prst="rect">
            <a:avLst/>
          </a:prstGeom>
          <a:noFill/>
          <a:ln/>
        </p:spPr>
        <p:txBody>
          <a:bodyPr wrap="square" lIns="0" tIns="0" rIns="0" bIns="0" rtlCol="0" anchor="ctr"/>
          <a:lstStyle/>
          <a:p>
            <a:pPr indent="0" marL="0">
              <a:buNone/>
            </a:pPr>
            <a:r>
              <a:rPr lang="en-US" sz="1250" dirty="0">
                <a:solidFill>
                  <a:srgbClr val="A3ACBA"/>
                </a:solidFill>
                <a:latin typeface="Calibri" pitchFamily="34" charset="0"/>
                <a:ea typeface="Calibri" pitchFamily="34" charset="-122"/>
                <a:cs typeface="Calibri" pitchFamily="34" charset="-120"/>
              </a:rPr>
              <a:t>One standard PC · CPU inference · no camera calibration · no special hardware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SYSTEM ARCHITECTURE</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F2F4F7"/>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Speed-up: detect every Nth frame, and never fake the gaps</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15</a:t>
            </a:r>
            <a:endParaRPr lang="en-US" sz="1000" dirty="0"/>
          </a:p>
        </p:txBody>
      </p:sp>
      <p:sp>
        <p:nvSpPr>
          <p:cNvPr id="15" name="Text 13"/>
          <p:cNvSpPr txBox="1"/>
          <p:nvPr/>
        </p:nvSpPr>
        <p:spPr>
          <a:xfrm>
            <a:off x="3017520"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1</a:t>
            </a:r>
            <a:endParaRPr lang="en-US" sz="1100" dirty="0"/>
          </a:p>
        </p:txBody>
      </p:sp>
      <p:sp>
        <p:nvSpPr>
          <p:cNvPr id="16" name="Text 14"/>
          <p:cNvSpPr txBox="1"/>
          <p:nvPr/>
        </p:nvSpPr>
        <p:spPr>
          <a:xfrm>
            <a:off x="3730752"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2</a:t>
            </a:r>
            <a:endParaRPr lang="en-US" sz="1100" dirty="0"/>
          </a:p>
        </p:txBody>
      </p:sp>
      <p:sp>
        <p:nvSpPr>
          <p:cNvPr id="17" name="Text 15"/>
          <p:cNvSpPr txBox="1"/>
          <p:nvPr/>
        </p:nvSpPr>
        <p:spPr>
          <a:xfrm>
            <a:off x="4443984"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3</a:t>
            </a:r>
            <a:endParaRPr lang="en-US" sz="1100" dirty="0"/>
          </a:p>
        </p:txBody>
      </p:sp>
      <p:sp>
        <p:nvSpPr>
          <p:cNvPr id="18" name="Text 16"/>
          <p:cNvSpPr txBox="1"/>
          <p:nvPr/>
        </p:nvSpPr>
        <p:spPr>
          <a:xfrm>
            <a:off x="5157216"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4</a:t>
            </a:r>
            <a:endParaRPr lang="en-US" sz="1100" dirty="0"/>
          </a:p>
        </p:txBody>
      </p:sp>
      <p:sp>
        <p:nvSpPr>
          <p:cNvPr id="19" name="Text 17"/>
          <p:cNvSpPr txBox="1"/>
          <p:nvPr/>
        </p:nvSpPr>
        <p:spPr>
          <a:xfrm>
            <a:off x="5870448"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5</a:t>
            </a:r>
            <a:endParaRPr lang="en-US" sz="1100" dirty="0"/>
          </a:p>
        </p:txBody>
      </p:sp>
      <p:sp>
        <p:nvSpPr>
          <p:cNvPr id="20" name="Text 18"/>
          <p:cNvSpPr txBox="1"/>
          <p:nvPr/>
        </p:nvSpPr>
        <p:spPr>
          <a:xfrm>
            <a:off x="6583680"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6</a:t>
            </a:r>
            <a:endParaRPr lang="en-US" sz="1100" dirty="0"/>
          </a:p>
        </p:txBody>
      </p:sp>
      <p:sp>
        <p:nvSpPr>
          <p:cNvPr id="21" name="Text 19"/>
          <p:cNvSpPr txBox="1"/>
          <p:nvPr/>
        </p:nvSpPr>
        <p:spPr>
          <a:xfrm>
            <a:off x="7296912"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7</a:t>
            </a:r>
            <a:endParaRPr lang="en-US" sz="1100" dirty="0"/>
          </a:p>
        </p:txBody>
      </p:sp>
      <p:sp>
        <p:nvSpPr>
          <p:cNvPr id="22" name="Text 20"/>
          <p:cNvSpPr txBox="1"/>
          <p:nvPr/>
        </p:nvSpPr>
        <p:spPr>
          <a:xfrm>
            <a:off x="8010144"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8</a:t>
            </a:r>
            <a:endParaRPr lang="en-US" sz="1100" dirty="0"/>
          </a:p>
        </p:txBody>
      </p:sp>
      <p:sp>
        <p:nvSpPr>
          <p:cNvPr id="23" name="Text 21"/>
          <p:cNvSpPr txBox="1"/>
          <p:nvPr/>
        </p:nvSpPr>
        <p:spPr>
          <a:xfrm>
            <a:off x="8723376"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9</a:t>
            </a:r>
            <a:endParaRPr lang="en-US" sz="1100" dirty="0"/>
          </a:p>
        </p:txBody>
      </p:sp>
      <p:sp>
        <p:nvSpPr>
          <p:cNvPr id="24" name="Text 22"/>
          <p:cNvSpPr txBox="1"/>
          <p:nvPr/>
        </p:nvSpPr>
        <p:spPr>
          <a:xfrm>
            <a:off x="9436608"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10</a:t>
            </a:r>
            <a:endParaRPr lang="en-US" sz="1100" dirty="0"/>
          </a:p>
        </p:txBody>
      </p:sp>
      <p:sp>
        <p:nvSpPr>
          <p:cNvPr id="25" name="Text 23"/>
          <p:cNvSpPr txBox="1"/>
          <p:nvPr/>
        </p:nvSpPr>
        <p:spPr>
          <a:xfrm>
            <a:off x="10149840"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11</a:t>
            </a:r>
            <a:endParaRPr lang="en-US" sz="1100" dirty="0"/>
          </a:p>
        </p:txBody>
      </p:sp>
      <p:sp>
        <p:nvSpPr>
          <p:cNvPr id="26" name="Text 24"/>
          <p:cNvSpPr txBox="1"/>
          <p:nvPr/>
        </p:nvSpPr>
        <p:spPr>
          <a:xfrm>
            <a:off x="10863072" y="1554480"/>
            <a:ext cx="658368" cy="228600"/>
          </a:xfrm>
          <a:prstGeom prst="rect">
            <a:avLst/>
          </a:prstGeom>
          <a:noFill/>
          <a:ln/>
        </p:spPr>
        <p:txBody>
          <a:bodyPr wrap="square" lIns="0" tIns="0" rIns="0" bIns="0" rtlCol="0" anchor="t"/>
          <a:lstStyle/>
          <a:p>
            <a:pPr algn="ctr" indent="0" marL="0">
              <a:buNone/>
            </a:pPr>
            <a:r>
              <a:rPr lang="en-US" sz="1100" dirty="0">
                <a:solidFill>
                  <a:srgbClr val="667085"/>
                </a:solidFill>
                <a:latin typeface="Consolas" pitchFamily="34" charset="0"/>
                <a:ea typeface="Consolas" pitchFamily="34" charset="-122"/>
                <a:cs typeface="Consolas" pitchFamily="34" charset="-120"/>
              </a:rPr>
              <a:t>12</a:t>
            </a:r>
            <a:endParaRPr lang="en-US" sz="1100" dirty="0"/>
          </a:p>
        </p:txBody>
      </p:sp>
      <p:sp>
        <p:nvSpPr>
          <p:cNvPr id="27" name="Text 25"/>
          <p:cNvSpPr txBox="1"/>
          <p:nvPr/>
        </p:nvSpPr>
        <p:spPr>
          <a:xfrm>
            <a:off x="548640" y="1828800"/>
            <a:ext cx="2377440" cy="384048"/>
          </a:xfrm>
          <a:prstGeom prst="rect">
            <a:avLst/>
          </a:prstGeom>
          <a:noFill/>
          <a:ln/>
        </p:spPr>
        <p:txBody>
          <a:bodyPr wrap="square" lIns="0" tIns="0" rIns="0" bIns="0" rtlCol="0" anchor="ctr"/>
          <a:lstStyle/>
          <a:p>
            <a:pPr indent="0" marL="0">
              <a:buNone/>
            </a:pPr>
            <a:r>
              <a:rPr lang="en-US" sz="1300" dirty="0">
                <a:solidFill>
                  <a:srgbClr val="A3ACBA"/>
                </a:solidFill>
                <a:latin typeface="Calibri" pitchFamily="34" charset="0"/>
                <a:ea typeface="Calibri" pitchFamily="34" charset="-122"/>
                <a:cs typeface="Calibri" pitchFamily="34" charset="-120"/>
              </a:rPr>
              <a:t>Camera frame</a:t>
            </a:r>
            <a:endParaRPr lang="en-US" sz="1300" dirty="0"/>
          </a:p>
        </p:txBody>
      </p:sp>
      <p:sp>
        <p:nvSpPr>
          <p:cNvPr id="28" name="Text 26"/>
          <p:cNvSpPr txBox="1"/>
          <p:nvPr/>
        </p:nvSpPr>
        <p:spPr>
          <a:xfrm>
            <a:off x="548640" y="2304288"/>
            <a:ext cx="2377440" cy="384048"/>
          </a:xfrm>
          <a:prstGeom prst="rect">
            <a:avLst/>
          </a:prstGeom>
          <a:noFill/>
          <a:ln/>
        </p:spPr>
        <p:txBody>
          <a:bodyPr wrap="square" lIns="0" tIns="0" rIns="0" bIns="0" rtlCol="0" anchor="ctr"/>
          <a:lstStyle/>
          <a:p>
            <a:pPr indent="0" marL="0">
              <a:buNone/>
            </a:pPr>
            <a:r>
              <a:rPr lang="en-US" sz="1300" b="1" dirty="0">
                <a:solidFill>
                  <a:srgbClr val="F2F4F7"/>
                </a:solidFill>
                <a:latin typeface="Calibri" pitchFamily="34" charset="0"/>
                <a:ea typeface="Calibri" pitchFamily="34" charset="-122"/>
                <a:cs typeface="Calibri" pitchFamily="34" charset="-120"/>
              </a:rPr>
              <a:t>YOLOv8 + ByteTrack</a:t>
            </a:r>
            <a:endParaRPr lang="en-US" sz="1300" dirty="0"/>
          </a:p>
        </p:txBody>
      </p:sp>
      <p:sp>
        <p:nvSpPr>
          <p:cNvPr id="29" name="Text 27"/>
          <p:cNvSpPr txBox="1"/>
          <p:nvPr/>
        </p:nvSpPr>
        <p:spPr>
          <a:xfrm>
            <a:off x="548640" y="2779776"/>
            <a:ext cx="2377440" cy="384048"/>
          </a:xfrm>
          <a:prstGeom prst="rect">
            <a:avLst/>
          </a:prstGeom>
          <a:noFill/>
          <a:ln/>
        </p:spPr>
        <p:txBody>
          <a:bodyPr wrap="square" lIns="0" tIns="0" rIns="0" bIns="0" rtlCol="0" anchor="ctr"/>
          <a:lstStyle/>
          <a:p>
            <a:pPr indent="0" marL="0">
              <a:buNone/>
            </a:pPr>
            <a:r>
              <a:rPr lang="en-US" sz="1300" b="1" dirty="0">
                <a:solidFill>
                  <a:srgbClr val="F2F4F7"/>
                </a:solidFill>
                <a:latin typeface="Calibri" pitchFamily="34" charset="0"/>
                <a:ea typeface="Calibri" pitchFamily="34" charset="-122"/>
                <a:cs typeface="Calibri" pitchFamily="34" charset="-120"/>
              </a:rPr>
              <a:t>TTC + rules + vote</a:t>
            </a:r>
            <a:endParaRPr lang="en-US" sz="1300" dirty="0"/>
          </a:p>
        </p:txBody>
      </p:sp>
      <p:sp>
        <p:nvSpPr>
          <p:cNvPr id="30" name="Text 28"/>
          <p:cNvSpPr txBox="1"/>
          <p:nvPr/>
        </p:nvSpPr>
        <p:spPr>
          <a:xfrm>
            <a:off x="548640" y="3255264"/>
            <a:ext cx="2377440" cy="384048"/>
          </a:xfrm>
          <a:prstGeom prst="rect">
            <a:avLst/>
          </a:prstGeom>
          <a:noFill/>
          <a:ln/>
        </p:spPr>
        <p:txBody>
          <a:bodyPr wrap="square" lIns="0" tIns="0" rIns="0" bIns="0" rtlCol="0" anchor="ctr"/>
          <a:lstStyle/>
          <a:p>
            <a:pPr indent="0" marL="0">
              <a:buNone/>
            </a:pPr>
            <a:r>
              <a:rPr lang="en-US" sz="1300" b="1" dirty="0">
                <a:solidFill>
                  <a:srgbClr val="F2F4F7"/>
                </a:solidFill>
                <a:latin typeface="Calibri" pitchFamily="34" charset="0"/>
                <a:ea typeface="Calibri" pitchFamily="34" charset="-122"/>
                <a:cs typeface="Calibri" pitchFamily="34" charset="-120"/>
              </a:rPr>
              <a:t>Announced state</a:t>
            </a:r>
            <a:endParaRPr lang="en-US" sz="1300" dirty="0"/>
          </a:p>
        </p:txBody>
      </p:sp>
      <p:sp>
        <p:nvSpPr>
          <p:cNvPr id="31" name="Shape 29"/>
          <p:cNvSpPr/>
          <p:nvPr/>
        </p:nvSpPr>
        <p:spPr>
          <a:xfrm>
            <a:off x="3017520" y="1828800"/>
            <a:ext cx="658368" cy="384048"/>
          </a:xfrm>
          <a:prstGeom prst="roundRect">
            <a:avLst>
              <a:gd name="adj" fmla="val 11905"/>
            </a:avLst>
          </a:prstGeom>
          <a:solidFill>
            <a:srgbClr val="1E252F"/>
          </a:solidFill>
          <a:ln/>
        </p:spPr>
      </p:sp>
      <p:sp>
        <p:nvSpPr>
          <p:cNvPr id="32" name="Shape 30"/>
          <p:cNvSpPr/>
          <p:nvPr/>
        </p:nvSpPr>
        <p:spPr>
          <a:xfrm>
            <a:off x="3017520" y="2304288"/>
            <a:ext cx="658368" cy="384048"/>
          </a:xfrm>
          <a:prstGeom prst="roundRect">
            <a:avLst>
              <a:gd name="adj" fmla="val 11905"/>
            </a:avLst>
          </a:prstGeom>
          <a:solidFill>
            <a:srgbClr val="5EC8E5"/>
          </a:solidFill>
          <a:ln/>
        </p:spPr>
      </p:sp>
      <p:sp>
        <p:nvSpPr>
          <p:cNvPr id="33" name="Shape 31"/>
          <p:cNvSpPr/>
          <p:nvPr/>
        </p:nvSpPr>
        <p:spPr>
          <a:xfrm>
            <a:off x="3017520" y="2779776"/>
            <a:ext cx="658368" cy="384048"/>
          </a:xfrm>
          <a:prstGeom prst="roundRect">
            <a:avLst>
              <a:gd name="adj" fmla="val 11905"/>
            </a:avLst>
          </a:prstGeom>
          <a:solidFill>
            <a:srgbClr val="5EC8E5"/>
          </a:solidFill>
          <a:ln/>
        </p:spPr>
      </p:sp>
      <p:sp>
        <p:nvSpPr>
          <p:cNvPr id="34" name="Shape 32"/>
          <p:cNvSpPr/>
          <p:nvPr/>
        </p:nvSpPr>
        <p:spPr>
          <a:xfrm>
            <a:off x="3730752" y="1828800"/>
            <a:ext cx="658368" cy="384048"/>
          </a:xfrm>
          <a:prstGeom prst="roundRect">
            <a:avLst>
              <a:gd name="adj" fmla="val 11905"/>
            </a:avLst>
          </a:prstGeom>
          <a:solidFill>
            <a:srgbClr val="1E252F"/>
          </a:solidFill>
          <a:ln/>
        </p:spPr>
      </p:sp>
      <p:sp>
        <p:nvSpPr>
          <p:cNvPr id="35" name="Text 33"/>
          <p:cNvSpPr txBox="1"/>
          <p:nvPr/>
        </p:nvSpPr>
        <p:spPr>
          <a:xfrm>
            <a:off x="3730752"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36" name="Text 34"/>
          <p:cNvSpPr txBox="1"/>
          <p:nvPr/>
        </p:nvSpPr>
        <p:spPr>
          <a:xfrm>
            <a:off x="3730752"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37" name="Shape 35"/>
          <p:cNvSpPr/>
          <p:nvPr/>
        </p:nvSpPr>
        <p:spPr>
          <a:xfrm>
            <a:off x="4443984" y="1828800"/>
            <a:ext cx="658368" cy="384048"/>
          </a:xfrm>
          <a:prstGeom prst="roundRect">
            <a:avLst>
              <a:gd name="adj" fmla="val 11905"/>
            </a:avLst>
          </a:prstGeom>
          <a:solidFill>
            <a:srgbClr val="1E252F"/>
          </a:solidFill>
          <a:ln/>
        </p:spPr>
      </p:sp>
      <p:sp>
        <p:nvSpPr>
          <p:cNvPr id="38" name="Shape 36"/>
          <p:cNvSpPr/>
          <p:nvPr/>
        </p:nvSpPr>
        <p:spPr>
          <a:xfrm>
            <a:off x="4443984" y="2304288"/>
            <a:ext cx="658368" cy="384048"/>
          </a:xfrm>
          <a:prstGeom prst="roundRect">
            <a:avLst>
              <a:gd name="adj" fmla="val 11905"/>
            </a:avLst>
          </a:prstGeom>
          <a:solidFill>
            <a:srgbClr val="5EC8E5"/>
          </a:solidFill>
          <a:ln/>
        </p:spPr>
      </p:sp>
      <p:sp>
        <p:nvSpPr>
          <p:cNvPr id="39" name="Shape 37"/>
          <p:cNvSpPr/>
          <p:nvPr/>
        </p:nvSpPr>
        <p:spPr>
          <a:xfrm>
            <a:off x="4443984" y="2779776"/>
            <a:ext cx="658368" cy="384048"/>
          </a:xfrm>
          <a:prstGeom prst="roundRect">
            <a:avLst>
              <a:gd name="adj" fmla="val 11905"/>
            </a:avLst>
          </a:prstGeom>
          <a:solidFill>
            <a:srgbClr val="5EC8E5"/>
          </a:solidFill>
          <a:ln/>
        </p:spPr>
      </p:sp>
      <p:sp>
        <p:nvSpPr>
          <p:cNvPr id="40" name="Shape 38"/>
          <p:cNvSpPr/>
          <p:nvPr/>
        </p:nvSpPr>
        <p:spPr>
          <a:xfrm>
            <a:off x="5157216" y="1828800"/>
            <a:ext cx="658368" cy="384048"/>
          </a:xfrm>
          <a:prstGeom prst="roundRect">
            <a:avLst>
              <a:gd name="adj" fmla="val 11905"/>
            </a:avLst>
          </a:prstGeom>
          <a:solidFill>
            <a:srgbClr val="1E252F"/>
          </a:solidFill>
          <a:ln/>
        </p:spPr>
      </p:sp>
      <p:sp>
        <p:nvSpPr>
          <p:cNvPr id="41" name="Text 39"/>
          <p:cNvSpPr txBox="1"/>
          <p:nvPr/>
        </p:nvSpPr>
        <p:spPr>
          <a:xfrm>
            <a:off x="5157216"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42" name="Text 40"/>
          <p:cNvSpPr txBox="1"/>
          <p:nvPr/>
        </p:nvSpPr>
        <p:spPr>
          <a:xfrm>
            <a:off x="5157216"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43" name="Shape 41"/>
          <p:cNvSpPr/>
          <p:nvPr/>
        </p:nvSpPr>
        <p:spPr>
          <a:xfrm>
            <a:off x="5870448" y="1828800"/>
            <a:ext cx="658368" cy="384048"/>
          </a:xfrm>
          <a:prstGeom prst="roundRect">
            <a:avLst>
              <a:gd name="adj" fmla="val 11905"/>
            </a:avLst>
          </a:prstGeom>
          <a:solidFill>
            <a:srgbClr val="1E252F"/>
          </a:solidFill>
          <a:ln/>
        </p:spPr>
      </p:sp>
      <p:sp>
        <p:nvSpPr>
          <p:cNvPr id="44" name="Shape 42"/>
          <p:cNvSpPr/>
          <p:nvPr/>
        </p:nvSpPr>
        <p:spPr>
          <a:xfrm>
            <a:off x="5870448" y="2304288"/>
            <a:ext cx="658368" cy="384048"/>
          </a:xfrm>
          <a:prstGeom prst="roundRect">
            <a:avLst>
              <a:gd name="adj" fmla="val 11905"/>
            </a:avLst>
          </a:prstGeom>
          <a:solidFill>
            <a:srgbClr val="5EC8E5"/>
          </a:solidFill>
          <a:ln/>
        </p:spPr>
      </p:sp>
      <p:sp>
        <p:nvSpPr>
          <p:cNvPr id="45" name="Shape 43"/>
          <p:cNvSpPr/>
          <p:nvPr/>
        </p:nvSpPr>
        <p:spPr>
          <a:xfrm>
            <a:off x="5870448" y="2779776"/>
            <a:ext cx="658368" cy="384048"/>
          </a:xfrm>
          <a:prstGeom prst="roundRect">
            <a:avLst>
              <a:gd name="adj" fmla="val 11905"/>
            </a:avLst>
          </a:prstGeom>
          <a:solidFill>
            <a:srgbClr val="5EC8E5"/>
          </a:solidFill>
          <a:ln/>
        </p:spPr>
      </p:sp>
      <p:sp>
        <p:nvSpPr>
          <p:cNvPr id="46" name="Shape 44"/>
          <p:cNvSpPr/>
          <p:nvPr/>
        </p:nvSpPr>
        <p:spPr>
          <a:xfrm>
            <a:off x="6583680" y="1828800"/>
            <a:ext cx="658368" cy="384048"/>
          </a:xfrm>
          <a:prstGeom prst="roundRect">
            <a:avLst>
              <a:gd name="adj" fmla="val 11905"/>
            </a:avLst>
          </a:prstGeom>
          <a:solidFill>
            <a:srgbClr val="1E252F"/>
          </a:solidFill>
          <a:ln/>
        </p:spPr>
      </p:sp>
      <p:sp>
        <p:nvSpPr>
          <p:cNvPr id="47" name="Text 45"/>
          <p:cNvSpPr txBox="1"/>
          <p:nvPr/>
        </p:nvSpPr>
        <p:spPr>
          <a:xfrm>
            <a:off x="6583680"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48" name="Text 46"/>
          <p:cNvSpPr txBox="1"/>
          <p:nvPr/>
        </p:nvSpPr>
        <p:spPr>
          <a:xfrm>
            <a:off x="6583680"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49" name="Shape 47"/>
          <p:cNvSpPr/>
          <p:nvPr/>
        </p:nvSpPr>
        <p:spPr>
          <a:xfrm>
            <a:off x="7296912" y="1828800"/>
            <a:ext cx="658368" cy="384048"/>
          </a:xfrm>
          <a:prstGeom prst="roundRect">
            <a:avLst>
              <a:gd name="adj" fmla="val 11905"/>
            </a:avLst>
          </a:prstGeom>
          <a:solidFill>
            <a:srgbClr val="1E252F"/>
          </a:solidFill>
          <a:ln/>
        </p:spPr>
      </p:sp>
      <p:sp>
        <p:nvSpPr>
          <p:cNvPr id="50" name="Shape 48"/>
          <p:cNvSpPr/>
          <p:nvPr/>
        </p:nvSpPr>
        <p:spPr>
          <a:xfrm>
            <a:off x="7296912" y="2304288"/>
            <a:ext cx="658368" cy="384048"/>
          </a:xfrm>
          <a:prstGeom prst="roundRect">
            <a:avLst>
              <a:gd name="adj" fmla="val 11905"/>
            </a:avLst>
          </a:prstGeom>
          <a:solidFill>
            <a:srgbClr val="5EC8E5"/>
          </a:solidFill>
          <a:ln/>
        </p:spPr>
      </p:sp>
      <p:sp>
        <p:nvSpPr>
          <p:cNvPr id="51" name="Shape 49"/>
          <p:cNvSpPr/>
          <p:nvPr/>
        </p:nvSpPr>
        <p:spPr>
          <a:xfrm>
            <a:off x="7296912" y="2779776"/>
            <a:ext cx="658368" cy="384048"/>
          </a:xfrm>
          <a:prstGeom prst="roundRect">
            <a:avLst>
              <a:gd name="adj" fmla="val 11905"/>
            </a:avLst>
          </a:prstGeom>
          <a:solidFill>
            <a:srgbClr val="5EC8E5"/>
          </a:solidFill>
          <a:ln/>
        </p:spPr>
      </p:sp>
      <p:sp>
        <p:nvSpPr>
          <p:cNvPr id="52" name="Shape 50"/>
          <p:cNvSpPr/>
          <p:nvPr/>
        </p:nvSpPr>
        <p:spPr>
          <a:xfrm>
            <a:off x="8010144" y="1828800"/>
            <a:ext cx="658368" cy="384048"/>
          </a:xfrm>
          <a:prstGeom prst="roundRect">
            <a:avLst>
              <a:gd name="adj" fmla="val 11905"/>
            </a:avLst>
          </a:prstGeom>
          <a:solidFill>
            <a:srgbClr val="1E252F"/>
          </a:solidFill>
          <a:ln/>
        </p:spPr>
      </p:sp>
      <p:sp>
        <p:nvSpPr>
          <p:cNvPr id="53" name="Text 51"/>
          <p:cNvSpPr txBox="1"/>
          <p:nvPr/>
        </p:nvSpPr>
        <p:spPr>
          <a:xfrm>
            <a:off x="8010144"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54" name="Text 52"/>
          <p:cNvSpPr txBox="1"/>
          <p:nvPr/>
        </p:nvSpPr>
        <p:spPr>
          <a:xfrm>
            <a:off x="8010144"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55" name="Shape 53"/>
          <p:cNvSpPr/>
          <p:nvPr/>
        </p:nvSpPr>
        <p:spPr>
          <a:xfrm>
            <a:off x="8723376" y="1828800"/>
            <a:ext cx="658368" cy="384048"/>
          </a:xfrm>
          <a:prstGeom prst="roundRect">
            <a:avLst>
              <a:gd name="adj" fmla="val 11905"/>
            </a:avLst>
          </a:prstGeom>
          <a:solidFill>
            <a:srgbClr val="1E252F"/>
          </a:solidFill>
          <a:ln/>
        </p:spPr>
      </p:sp>
      <p:sp>
        <p:nvSpPr>
          <p:cNvPr id="56" name="Shape 54"/>
          <p:cNvSpPr/>
          <p:nvPr/>
        </p:nvSpPr>
        <p:spPr>
          <a:xfrm>
            <a:off x="8723376" y="2304288"/>
            <a:ext cx="658368" cy="384048"/>
          </a:xfrm>
          <a:prstGeom prst="roundRect">
            <a:avLst>
              <a:gd name="adj" fmla="val 11905"/>
            </a:avLst>
          </a:prstGeom>
          <a:solidFill>
            <a:srgbClr val="5EC8E5"/>
          </a:solidFill>
          <a:ln/>
        </p:spPr>
      </p:sp>
      <p:sp>
        <p:nvSpPr>
          <p:cNvPr id="57" name="Shape 55"/>
          <p:cNvSpPr/>
          <p:nvPr/>
        </p:nvSpPr>
        <p:spPr>
          <a:xfrm>
            <a:off x="8723376" y="2779776"/>
            <a:ext cx="658368" cy="384048"/>
          </a:xfrm>
          <a:prstGeom prst="roundRect">
            <a:avLst>
              <a:gd name="adj" fmla="val 11905"/>
            </a:avLst>
          </a:prstGeom>
          <a:solidFill>
            <a:srgbClr val="5EC8E5"/>
          </a:solidFill>
          <a:ln/>
        </p:spPr>
      </p:sp>
      <p:sp>
        <p:nvSpPr>
          <p:cNvPr id="58" name="Shape 56"/>
          <p:cNvSpPr/>
          <p:nvPr/>
        </p:nvSpPr>
        <p:spPr>
          <a:xfrm>
            <a:off x="9436608" y="1828800"/>
            <a:ext cx="658368" cy="384048"/>
          </a:xfrm>
          <a:prstGeom prst="roundRect">
            <a:avLst>
              <a:gd name="adj" fmla="val 11905"/>
            </a:avLst>
          </a:prstGeom>
          <a:solidFill>
            <a:srgbClr val="1E252F"/>
          </a:solidFill>
          <a:ln/>
        </p:spPr>
      </p:sp>
      <p:sp>
        <p:nvSpPr>
          <p:cNvPr id="59" name="Text 57"/>
          <p:cNvSpPr txBox="1"/>
          <p:nvPr/>
        </p:nvSpPr>
        <p:spPr>
          <a:xfrm>
            <a:off x="9436608"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60" name="Text 58"/>
          <p:cNvSpPr txBox="1"/>
          <p:nvPr/>
        </p:nvSpPr>
        <p:spPr>
          <a:xfrm>
            <a:off x="9436608"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61" name="Shape 59"/>
          <p:cNvSpPr/>
          <p:nvPr/>
        </p:nvSpPr>
        <p:spPr>
          <a:xfrm>
            <a:off x="10149840" y="1828800"/>
            <a:ext cx="658368" cy="384048"/>
          </a:xfrm>
          <a:prstGeom prst="roundRect">
            <a:avLst>
              <a:gd name="adj" fmla="val 11905"/>
            </a:avLst>
          </a:prstGeom>
          <a:solidFill>
            <a:srgbClr val="1E252F"/>
          </a:solidFill>
          <a:ln/>
        </p:spPr>
      </p:sp>
      <p:sp>
        <p:nvSpPr>
          <p:cNvPr id="62" name="Shape 60"/>
          <p:cNvSpPr/>
          <p:nvPr/>
        </p:nvSpPr>
        <p:spPr>
          <a:xfrm>
            <a:off x="10149840" y="2304288"/>
            <a:ext cx="658368" cy="384048"/>
          </a:xfrm>
          <a:prstGeom prst="roundRect">
            <a:avLst>
              <a:gd name="adj" fmla="val 11905"/>
            </a:avLst>
          </a:prstGeom>
          <a:solidFill>
            <a:srgbClr val="5EC8E5"/>
          </a:solidFill>
          <a:ln/>
        </p:spPr>
      </p:sp>
      <p:sp>
        <p:nvSpPr>
          <p:cNvPr id="63" name="Shape 61"/>
          <p:cNvSpPr/>
          <p:nvPr/>
        </p:nvSpPr>
        <p:spPr>
          <a:xfrm>
            <a:off x="10149840" y="2779776"/>
            <a:ext cx="658368" cy="384048"/>
          </a:xfrm>
          <a:prstGeom prst="roundRect">
            <a:avLst>
              <a:gd name="adj" fmla="val 11905"/>
            </a:avLst>
          </a:prstGeom>
          <a:solidFill>
            <a:srgbClr val="5EC8E5"/>
          </a:solidFill>
          <a:ln/>
        </p:spPr>
      </p:sp>
      <p:sp>
        <p:nvSpPr>
          <p:cNvPr id="64" name="Shape 62"/>
          <p:cNvSpPr/>
          <p:nvPr/>
        </p:nvSpPr>
        <p:spPr>
          <a:xfrm>
            <a:off x="10863072" y="1828800"/>
            <a:ext cx="658368" cy="384048"/>
          </a:xfrm>
          <a:prstGeom prst="roundRect">
            <a:avLst>
              <a:gd name="adj" fmla="val 11905"/>
            </a:avLst>
          </a:prstGeom>
          <a:solidFill>
            <a:srgbClr val="1E252F"/>
          </a:solidFill>
          <a:ln/>
        </p:spPr>
      </p:sp>
      <p:sp>
        <p:nvSpPr>
          <p:cNvPr id="65" name="Text 63"/>
          <p:cNvSpPr txBox="1"/>
          <p:nvPr/>
        </p:nvSpPr>
        <p:spPr>
          <a:xfrm>
            <a:off x="10863072" y="2304288"/>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66" name="Text 64"/>
          <p:cNvSpPr txBox="1"/>
          <p:nvPr/>
        </p:nvSpPr>
        <p:spPr>
          <a:xfrm>
            <a:off x="10863072" y="2779776"/>
            <a:ext cx="658368" cy="384048"/>
          </a:xfrm>
          <a:prstGeom prst="roundRect">
            <a:avLst>
              <a:gd name="adj" fmla="val 11905"/>
            </a:avLst>
          </a:prstGeom>
          <a:noFill/>
          <a:ln w="12700">
            <a:solidFill>
              <a:srgbClr val="667085"/>
            </a:solidFill>
            <a:prstDash val="dash"/>
          </a:ln>
        </p:spPr>
        <p:txBody>
          <a:bodyPr wrap="square" lIns="0" tIns="0" rIns="0" bIns="0" rtlCol="0" anchor="ctr"/>
          <a:lstStyle/>
          <a:p>
            <a:pPr algn="ctr" indent="0" marL="0">
              <a:buNone/>
            </a:pPr>
            <a:r>
              <a:rPr lang="en-US" sz="1000" dirty="0">
                <a:solidFill>
                  <a:srgbClr val="667085"/>
                </a:solidFill>
                <a:latin typeface="Calibri" pitchFamily="34" charset="0"/>
                <a:ea typeface="Calibri" pitchFamily="34" charset="-122"/>
                <a:cs typeface="Calibri" pitchFamily="34" charset="-120"/>
              </a:rPr>
              <a:t>skip</a:t>
            </a:r>
            <a:endParaRPr lang="en-US" sz="1000" dirty="0"/>
          </a:p>
        </p:txBody>
      </p:sp>
      <p:sp>
        <p:nvSpPr>
          <p:cNvPr id="67" name="Text 65"/>
          <p:cNvSpPr txBox="1"/>
          <p:nvPr/>
        </p:nvSpPr>
        <p:spPr>
          <a:xfrm>
            <a:off x="3017520" y="3255264"/>
            <a:ext cx="8503920" cy="384048"/>
          </a:xfrm>
          <a:prstGeom prst="roundRect">
            <a:avLst>
              <a:gd name="adj" fmla="val 19048"/>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A3ACBA"/>
                </a:solidFill>
                <a:latin typeface="Calibri" pitchFamily="34" charset="0"/>
                <a:ea typeface="Calibri" pitchFamily="34" charset="-122"/>
                <a:cs typeface="Calibri" pitchFamily="34" charset="-120"/>
              </a:rPr>
              <a:t>holds the last real verdict between detections</a:t>
            </a:r>
            <a:endParaRPr lang="en-US" sz="1200" dirty="0"/>
          </a:p>
        </p:txBody>
      </p:sp>
      <p:sp>
        <p:nvSpPr>
          <p:cNvPr id="68" name="Text 66"/>
          <p:cNvSpPr txBox="1"/>
          <p:nvPr/>
        </p:nvSpPr>
        <p:spPr>
          <a:xfrm>
            <a:off x="548640" y="3767328"/>
            <a:ext cx="11064240" cy="320040"/>
          </a:xfrm>
          <a:prstGeom prst="rect">
            <a:avLst/>
          </a:prstGeom>
          <a:noFill/>
          <a:ln/>
        </p:spPr>
        <p:txBody>
          <a:bodyPr wrap="square" lIns="0" tIns="0" rIns="0" bIns="0" rtlCol="0" anchor="t"/>
          <a:lstStyle/>
          <a:p>
            <a:pPr indent="0" marL="0">
              <a:buNone/>
            </a:pPr>
            <a:r>
              <a:rPr lang="en-US" sz="1300" b="1" dirty="0">
                <a:solidFill>
                  <a:srgbClr val="5EC8E5"/>
                </a:solidFill>
                <a:latin typeface="Calibri" pitchFamily="34" charset="0"/>
                <a:ea typeface="Calibri" pitchFamily="34" charset="-122"/>
                <a:cs typeface="Calibri" pitchFamily="34" charset="-120"/>
              </a:rPr>
              <a:t>N = 2: </a:t>
            </a:r>
            <a:pPr indent="0" marL="0">
              <a:buNone/>
            </a:pPr>
            <a:r>
              <a:rPr lang="en-US" sz="1300" dirty="0">
                <a:solidFill>
                  <a:srgbClr val="F2F4F7"/>
                </a:solidFill>
                <a:latin typeface="Calibri" pitchFamily="34" charset="0"/>
                <a:ea typeface="Calibri" pitchFamily="34" charset="-122"/>
                <a:cs typeface="Calibri" pitchFamily="34" charset="-120"/>
              </a:rPr>
              <a:t>the detector runs on every 2nd frame, roughly doubling throughput. Skipped frames produce no new measurement, and the 8-frame vote counts real looks only.</a:t>
            </a:r>
            <a:endParaRPr lang="en-US" sz="1300" dirty="0"/>
          </a:p>
        </p:txBody>
      </p:sp>
      <p:sp>
        <p:nvSpPr>
          <p:cNvPr id="69" name="Shape 67"/>
          <p:cNvSpPr/>
          <p:nvPr/>
        </p:nvSpPr>
        <p:spPr>
          <a:xfrm>
            <a:off x="548640" y="4206240"/>
            <a:ext cx="5440680" cy="1965960"/>
          </a:xfrm>
          <a:prstGeom prst="roundRect">
            <a:avLst>
              <a:gd name="adj" fmla="val 4651"/>
            </a:avLst>
          </a:prstGeom>
          <a:solidFill>
            <a:srgbClr val="161B22"/>
          </a:solidFill>
          <a:ln w="9525">
            <a:solidFill>
              <a:srgbClr val="2E3845"/>
            </a:solidFill>
            <a:prstDash val="solid"/>
          </a:ln>
        </p:spPr>
      </p:sp>
      <p:sp>
        <p:nvSpPr>
          <p:cNvPr id="70" name="Text 68"/>
          <p:cNvSpPr txBox="1"/>
          <p:nvPr/>
        </p:nvSpPr>
        <p:spPr>
          <a:xfrm>
            <a:off x="777240" y="4297680"/>
            <a:ext cx="5029200" cy="292608"/>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Correct: fit only real measurements</a:t>
            </a:r>
            <a:endParaRPr lang="en-US" sz="1400" dirty="0"/>
          </a:p>
        </p:txBody>
      </p:sp>
      <p:sp>
        <p:nvSpPr>
          <p:cNvPr id="71" name="Shape 69"/>
          <p:cNvSpPr/>
          <p:nvPr/>
        </p:nvSpPr>
        <p:spPr>
          <a:xfrm>
            <a:off x="960120" y="5989320"/>
            <a:ext cx="2651760" cy="0"/>
          </a:xfrm>
          <a:prstGeom prst="line">
            <a:avLst/>
          </a:prstGeom>
          <a:noFill/>
          <a:ln w="12700">
            <a:solidFill>
              <a:srgbClr val="667085"/>
            </a:solidFill>
            <a:prstDash val="solid"/>
          </a:ln>
        </p:spPr>
      </p:sp>
      <p:sp>
        <p:nvSpPr>
          <p:cNvPr id="72" name="Shape 70"/>
          <p:cNvSpPr/>
          <p:nvPr/>
        </p:nvSpPr>
        <p:spPr>
          <a:xfrm flipV="1">
            <a:off x="960120" y="4663440"/>
            <a:ext cx="0" cy="1325880"/>
          </a:xfrm>
          <a:prstGeom prst="line">
            <a:avLst/>
          </a:prstGeom>
          <a:noFill/>
          <a:ln w="12700">
            <a:solidFill>
              <a:srgbClr val="667085"/>
            </a:solidFill>
            <a:prstDash val="solid"/>
          </a:ln>
        </p:spPr>
      </p:sp>
      <p:sp>
        <p:nvSpPr>
          <p:cNvPr id="73" name="Text 71"/>
          <p:cNvSpPr txBox="1"/>
          <p:nvPr/>
        </p:nvSpPr>
        <p:spPr>
          <a:xfrm>
            <a:off x="685800" y="4617720"/>
            <a:ext cx="228600" cy="228600"/>
          </a:xfrm>
          <a:prstGeom prst="rect">
            <a:avLst/>
          </a:prstGeom>
          <a:noFill/>
          <a:ln/>
        </p:spPr>
        <p:txBody>
          <a:bodyPr wrap="square" lIns="0" tIns="0" rIns="0" bIns="0" rtlCol="0" anchor="t"/>
          <a:lstStyle/>
          <a:p>
            <a:pPr indent="0" marL="0">
              <a:buNone/>
            </a:pPr>
            <a:r>
              <a:rPr lang="en-US" sz="1100" dirty="0">
                <a:solidFill>
                  <a:srgbClr val="A3ACBA"/>
                </a:solidFill>
                <a:latin typeface="Consolas" pitchFamily="34" charset="0"/>
                <a:ea typeface="Consolas" pitchFamily="34" charset="-122"/>
                <a:cs typeface="Consolas" pitchFamily="34" charset="-120"/>
              </a:rPr>
              <a:t>w</a:t>
            </a:r>
            <a:endParaRPr lang="en-US" sz="1100" dirty="0"/>
          </a:p>
        </p:txBody>
      </p:sp>
      <p:sp>
        <p:nvSpPr>
          <p:cNvPr id="74" name="Text 72"/>
          <p:cNvSpPr txBox="1"/>
          <p:nvPr/>
        </p:nvSpPr>
        <p:spPr>
          <a:xfrm>
            <a:off x="2971800" y="6007608"/>
            <a:ext cx="640080" cy="201168"/>
          </a:xfrm>
          <a:prstGeom prst="rect">
            <a:avLst/>
          </a:prstGeom>
          <a:noFill/>
          <a:ln/>
        </p:spPr>
        <p:txBody>
          <a:bodyPr wrap="square" lIns="0" tIns="0" rIns="0" bIns="0" rtlCol="0" anchor="t"/>
          <a:lstStyle/>
          <a:p>
            <a:pPr algn="r" indent="0" marL="0">
              <a:buNone/>
            </a:pPr>
            <a:r>
              <a:rPr lang="en-US" sz="1000" dirty="0">
                <a:solidFill>
                  <a:srgbClr val="A3ACBA"/>
                </a:solidFill>
                <a:latin typeface="Calibri" pitchFamily="34" charset="0"/>
                <a:ea typeface="Calibri" pitchFamily="34" charset="-122"/>
                <a:cs typeface="Calibri" pitchFamily="34" charset="-120"/>
              </a:rPr>
              <a:t>time →</a:t>
            </a:r>
            <a:endParaRPr lang="en-US" sz="1000" dirty="0"/>
          </a:p>
        </p:txBody>
      </p:sp>
      <p:sp>
        <p:nvSpPr>
          <p:cNvPr id="75" name="Shape 73"/>
          <p:cNvSpPr/>
          <p:nvPr/>
        </p:nvSpPr>
        <p:spPr>
          <a:xfrm>
            <a:off x="960120" y="4282802"/>
            <a:ext cx="2545690" cy="1591056"/>
          </a:xfrm>
          <a:custGeom>
            <a:avLst/>
            <a:gdLst/>
            <a:ahLst/>
            <a:cxnLst/>
            <a:rect l="l" t="t" r="r" b="b"/>
            <a:pathLst>
              <a:path w="2545690" h="1591056">
                <a:moveTo>
                  <a:pt x="0" y="1591056"/>
                </a:moveTo>
                <a:lnTo>
                  <a:pt x="79553" y="1572162"/>
                </a:lnTo>
                <a:lnTo>
                  <a:pt x="159106" y="1551280"/>
                </a:lnTo>
                <a:lnTo>
                  <a:pt x="238658" y="1528408"/>
                </a:lnTo>
                <a:lnTo>
                  <a:pt x="318211" y="1503548"/>
                </a:lnTo>
                <a:lnTo>
                  <a:pt x="397764" y="1476699"/>
                </a:lnTo>
                <a:lnTo>
                  <a:pt x="477317" y="1447861"/>
                </a:lnTo>
                <a:lnTo>
                  <a:pt x="556870" y="1417034"/>
                </a:lnTo>
                <a:lnTo>
                  <a:pt x="636422" y="1384219"/>
                </a:lnTo>
                <a:lnTo>
                  <a:pt x="715975" y="1349414"/>
                </a:lnTo>
                <a:lnTo>
                  <a:pt x="795528" y="1312621"/>
                </a:lnTo>
                <a:lnTo>
                  <a:pt x="875081" y="1273839"/>
                </a:lnTo>
                <a:lnTo>
                  <a:pt x="954634" y="1233068"/>
                </a:lnTo>
                <a:lnTo>
                  <a:pt x="1034186" y="1190309"/>
                </a:lnTo>
                <a:lnTo>
                  <a:pt x="1113739" y="1145560"/>
                </a:lnTo>
                <a:lnTo>
                  <a:pt x="1193292" y="1098823"/>
                </a:lnTo>
                <a:lnTo>
                  <a:pt x="1272845" y="1050097"/>
                </a:lnTo>
                <a:lnTo>
                  <a:pt x="1352398" y="999382"/>
                </a:lnTo>
                <a:lnTo>
                  <a:pt x="1431950" y="946678"/>
                </a:lnTo>
                <a:lnTo>
                  <a:pt x="1511503" y="891986"/>
                </a:lnTo>
                <a:lnTo>
                  <a:pt x="1591056" y="835304"/>
                </a:lnTo>
                <a:lnTo>
                  <a:pt x="1670609" y="776634"/>
                </a:lnTo>
                <a:lnTo>
                  <a:pt x="1750162" y="715975"/>
                </a:lnTo>
                <a:lnTo>
                  <a:pt x="1829714" y="653327"/>
                </a:lnTo>
                <a:lnTo>
                  <a:pt x="1909267" y="588691"/>
                </a:lnTo>
                <a:lnTo>
                  <a:pt x="1988820" y="522065"/>
                </a:lnTo>
                <a:lnTo>
                  <a:pt x="2068373" y="453451"/>
                </a:lnTo>
                <a:lnTo>
                  <a:pt x="2147926" y="382848"/>
                </a:lnTo>
                <a:lnTo>
                  <a:pt x="2227478" y="310256"/>
                </a:lnTo>
                <a:lnTo>
                  <a:pt x="2307031" y="235675"/>
                </a:lnTo>
                <a:lnTo>
                  <a:pt x="2386584" y="159106"/>
                </a:lnTo>
                <a:lnTo>
                  <a:pt x="2466137" y="80547"/>
                </a:lnTo>
                <a:lnTo>
                  <a:pt x="2545690" y="0"/>
                </a:lnTo>
              </a:path>
            </a:pathLst>
          </a:custGeom>
          <a:noFill/>
          <a:ln w="12700">
            <a:solidFill>
              <a:srgbClr val="667085"/>
            </a:solidFill>
            <a:prstDash val="sysDot"/>
          </a:ln>
        </p:spPr>
      </p:sp>
      <p:sp>
        <p:nvSpPr>
          <p:cNvPr id="76" name="Shape 74"/>
          <p:cNvSpPr/>
          <p:nvPr/>
        </p:nvSpPr>
        <p:spPr>
          <a:xfrm>
            <a:off x="1033272" y="5781827"/>
            <a:ext cx="118872" cy="118872"/>
          </a:xfrm>
          <a:prstGeom prst="ellipse">
            <a:avLst/>
          </a:prstGeom>
          <a:solidFill>
            <a:srgbClr val="5EC8E5"/>
          </a:solidFill>
          <a:ln/>
        </p:spPr>
      </p:sp>
      <p:sp>
        <p:nvSpPr>
          <p:cNvPr id="77" name="Shape 75"/>
          <p:cNvSpPr/>
          <p:nvPr/>
        </p:nvSpPr>
        <p:spPr>
          <a:xfrm>
            <a:off x="1563624" y="5596204"/>
            <a:ext cx="118872" cy="118872"/>
          </a:xfrm>
          <a:prstGeom prst="ellipse">
            <a:avLst/>
          </a:prstGeom>
          <a:solidFill>
            <a:srgbClr val="5EC8E5"/>
          </a:solidFill>
          <a:ln/>
        </p:spPr>
      </p:sp>
      <p:sp>
        <p:nvSpPr>
          <p:cNvPr id="78" name="Shape 76"/>
          <p:cNvSpPr/>
          <p:nvPr/>
        </p:nvSpPr>
        <p:spPr>
          <a:xfrm>
            <a:off x="2093976" y="5322189"/>
            <a:ext cx="118872" cy="118872"/>
          </a:xfrm>
          <a:prstGeom prst="ellipse">
            <a:avLst/>
          </a:prstGeom>
          <a:solidFill>
            <a:srgbClr val="5EC8E5"/>
          </a:solidFill>
          <a:ln/>
        </p:spPr>
      </p:sp>
      <p:sp>
        <p:nvSpPr>
          <p:cNvPr id="79" name="Shape 77"/>
          <p:cNvSpPr/>
          <p:nvPr/>
        </p:nvSpPr>
        <p:spPr>
          <a:xfrm>
            <a:off x="2624328" y="4959782"/>
            <a:ext cx="118872" cy="118872"/>
          </a:xfrm>
          <a:prstGeom prst="ellipse">
            <a:avLst/>
          </a:prstGeom>
          <a:solidFill>
            <a:srgbClr val="5EC8E5"/>
          </a:solidFill>
          <a:ln/>
        </p:spPr>
      </p:sp>
      <p:sp>
        <p:nvSpPr>
          <p:cNvPr id="80" name="Shape 78"/>
          <p:cNvSpPr/>
          <p:nvPr/>
        </p:nvSpPr>
        <p:spPr>
          <a:xfrm>
            <a:off x="3154680" y="4508983"/>
            <a:ext cx="118872" cy="118872"/>
          </a:xfrm>
          <a:prstGeom prst="ellipse">
            <a:avLst/>
          </a:prstGeom>
          <a:solidFill>
            <a:srgbClr val="5EC8E5"/>
          </a:solidFill>
          <a:ln/>
        </p:spPr>
      </p:sp>
      <p:sp>
        <p:nvSpPr>
          <p:cNvPr id="81" name="Shape 79"/>
          <p:cNvSpPr/>
          <p:nvPr/>
        </p:nvSpPr>
        <p:spPr>
          <a:xfrm>
            <a:off x="1039673" y="4369537"/>
            <a:ext cx="2439619" cy="1493825"/>
          </a:xfrm>
          <a:custGeom>
            <a:avLst/>
            <a:gdLst/>
            <a:ahLst/>
            <a:cxnLst/>
            <a:rect l="l" t="t" r="r" b="b"/>
            <a:pathLst>
              <a:path w="2439619" h="1493825">
                <a:moveTo>
                  <a:pt x="0" y="1493825"/>
                </a:moveTo>
                <a:lnTo>
                  <a:pt x="2439619" y="0"/>
                </a:lnTo>
              </a:path>
            </a:pathLst>
          </a:custGeom>
          <a:noFill/>
          <a:ln w="22225">
            <a:solidFill>
              <a:srgbClr val="5EC8E5"/>
            </a:solidFill>
            <a:prstDash val="solid"/>
          </a:ln>
        </p:spPr>
      </p:sp>
      <p:sp>
        <p:nvSpPr>
          <p:cNvPr id="82" name="Text 80"/>
          <p:cNvSpPr txBox="1"/>
          <p:nvPr/>
        </p:nvSpPr>
        <p:spPr>
          <a:xfrm>
            <a:off x="3429000" y="4709160"/>
            <a:ext cx="2377440" cy="128016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Only frames the detector actually saw enter the width history, each with its true timestamp.</a:t>
            </a:r>
            <a:endParaRPr lang="en-US" sz="1200" dirty="0"/>
          </a:p>
        </p:txBody>
      </p:sp>
      <p:sp>
        <p:nvSpPr>
          <p:cNvPr id="83" name="Shape 81"/>
          <p:cNvSpPr/>
          <p:nvPr/>
        </p:nvSpPr>
        <p:spPr>
          <a:xfrm>
            <a:off x="6199632" y="4206240"/>
            <a:ext cx="5440680" cy="1965960"/>
          </a:xfrm>
          <a:prstGeom prst="roundRect">
            <a:avLst>
              <a:gd name="adj" fmla="val 4651"/>
            </a:avLst>
          </a:prstGeom>
          <a:solidFill>
            <a:srgbClr val="161B22"/>
          </a:solidFill>
          <a:ln w="15875">
            <a:solidFill>
              <a:srgbClr val="F2545B"/>
            </a:solidFill>
            <a:prstDash val="solid"/>
          </a:ln>
        </p:spPr>
      </p:sp>
      <p:sp>
        <p:nvSpPr>
          <p:cNvPr id="84" name="Text 82"/>
          <p:cNvSpPr txBox="1"/>
          <p:nvPr/>
        </p:nvSpPr>
        <p:spPr>
          <a:xfrm>
            <a:off x="6428232" y="4297680"/>
            <a:ext cx="5029200" cy="292608"/>
          </a:xfrm>
          <a:prstGeom prst="rect">
            <a:avLst/>
          </a:prstGeom>
          <a:noFill/>
          <a:ln/>
        </p:spPr>
        <p:txBody>
          <a:bodyPr wrap="square" lIns="0" tIns="0" rIns="0" bIns="0" rtlCol="0" anchor="t"/>
          <a:lstStyle/>
          <a:p>
            <a:pPr indent="0" marL="0">
              <a:buNone/>
            </a:pPr>
            <a:r>
              <a:rPr lang="en-US" sz="1400" b="1" dirty="0">
                <a:solidFill>
                  <a:srgbClr val="F2545B"/>
                </a:solidFill>
                <a:latin typeface="Calibri" pitchFamily="34" charset="0"/>
                <a:ea typeface="Calibri" pitchFamily="34" charset="-122"/>
                <a:cs typeface="Calibri" pitchFamily="34" charset="-120"/>
              </a:rPr>
              <a:t>Wrong: reuse the old box with a new timestamp</a:t>
            </a:r>
            <a:endParaRPr lang="en-US" sz="1400" dirty="0"/>
          </a:p>
        </p:txBody>
      </p:sp>
      <p:sp>
        <p:nvSpPr>
          <p:cNvPr id="85" name="Shape 83"/>
          <p:cNvSpPr/>
          <p:nvPr/>
        </p:nvSpPr>
        <p:spPr>
          <a:xfrm>
            <a:off x="6611112" y="5989320"/>
            <a:ext cx="2651760" cy="0"/>
          </a:xfrm>
          <a:prstGeom prst="line">
            <a:avLst/>
          </a:prstGeom>
          <a:noFill/>
          <a:ln w="12700">
            <a:solidFill>
              <a:srgbClr val="667085"/>
            </a:solidFill>
            <a:prstDash val="solid"/>
          </a:ln>
        </p:spPr>
      </p:sp>
      <p:sp>
        <p:nvSpPr>
          <p:cNvPr id="86" name="Shape 84"/>
          <p:cNvSpPr/>
          <p:nvPr/>
        </p:nvSpPr>
        <p:spPr>
          <a:xfrm flipV="1">
            <a:off x="6611112" y="4663440"/>
            <a:ext cx="0" cy="1325880"/>
          </a:xfrm>
          <a:prstGeom prst="line">
            <a:avLst/>
          </a:prstGeom>
          <a:noFill/>
          <a:ln w="12700">
            <a:solidFill>
              <a:srgbClr val="667085"/>
            </a:solidFill>
            <a:prstDash val="solid"/>
          </a:ln>
        </p:spPr>
      </p:sp>
      <p:sp>
        <p:nvSpPr>
          <p:cNvPr id="87" name="Text 85"/>
          <p:cNvSpPr txBox="1"/>
          <p:nvPr/>
        </p:nvSpPr>
        <p:spPr>
          <a:xfrm>
            <a:off x="6336792" y="4617720"/>
            <a:ext cx="228600" cy="228600"/>
          </a:xfrm>
          <a:prstGeom prst="rect">
            <a:avLst/>
          </a:prstGeom>
          <a:noFill/>
          <a:ln/>
        </p:spPr>
        <p:txBody>
          <a:bodyPr wrap="square" lIns="0" tIns="0" rIns="0" bIns="0" rtlCol="0" anchor="t"/>
          <a:lstStyle/>
          <a:p>
            <a:pPr indent="0" marL="0">
              <a:buNone/>
            </a:pPr>
            <a:r>
              <a:rPr lang="en-US" sz="1100" dirty="0">
                <a:solidFill>
                  <a:srgbClr val="A3ACBA"/>
                </a:solidFill>
                <a:latin typeface="Consolas" pitchFamily="34" charset="0"/>
                <a:ea typeface="Consolas" pitchFamily="34" charset="-122"/>
                <a:cs typeface="Consolas" pitchFamily="34" charset="-120"/>
              </a:rPr>
              <a:t>w</a:t>
            </a:r>
            <a:endParaRPr lang="en-US" sz="1100" dirty="0"/>
          </a:p>
        </p:txBody>
      </p:sp>
      <p:sp>
        <p:nvSpPr>
          <p:cNvPr id="88" name="Text 86"/>
          <p:cNvSpPr txBox="1"/>
          <p:nvPr/>
        </p:nvSpPr>
        <p:spPr>
          <a:xfrm>
            <a:off x="8622792" y="6007608"/>
            <a:ext cx="640080" cy="201168"/>
          </a:xfrm>
          <a:prstGeom prst="rect">
            <a:avLst/>
          </a:prstGeom>
          <a:noFill/>
          <a:ln/>
        </p:spPr>
        <p:txBody>
          <a:bodyPr wrap="square" lIns="0" tIns="0" rIns="0" bIns="0" rtlCol="0" anchor="t"/>
          <a:lstStyle/>
          <a:p>
            <a:pPr algn="r" indent="0" marL="0">
              <a:buNone/>
            </a:pPr>
            <a:r>
              <a:rPr lang="en-US" sz="1000" dirty="0">
                <a:solidFill>
                  <a:srgbClr val="A3ACBA"/>
                </a:solidFill>
                <a:latin typeface="Calibri" pitchFamily="34" charset="0"/>
                <a:ea typeface="Calibri" pitchFamily="34" charset="-122"/>
                <a:cs typeface="Calibri" pitchFamily="34" charset="-120"/>
              </a:rPr>
              <a:t>time →</a:t>
            </a:r>
            <a:endParaRPr lang="en-US" sz="1000" dirty="0"/>
          </a:p>
        </p:txBody>
      </p:sp>
      <p:sp>
        <p:nvSpPr>
          <p:cNvPr id="89" name="Shape 87"/>
          <p:cNvSpPr/>
          <p:nvPr/>
        </p:nvSpPr>
        <p:spPr>
          <a:xfrm>
            <a:off x="6611112" y="4282802"/>
            <a:ext cx="2545690" cy="1591056"/>
          </a:xfrm>
          <a:custGeom>
            <a:avLst/>
            <a:gdLst/>
            <a:ahLst/>
            <a:cxnLst/>
            <a:rect l="l" t="t" r="r" b="b"/>
            <a:pathLst>
              <a:path w="2545690" h="1591056">
                <a:moveTo>
                  <a:pt x="0" y="1591056"/>
                </a:moveTo>
                <a:lnTo>
                  <a:pt x="79553" y="1572162"/>
                </a:lnTo>
                <a:lnTo>
                  <a:pt x="159106" y="1551280"/>
                </a:lnTo>
                <a:lnTo>
                  <a:pt x="238658" y="1528408"/>
                </a:lnTo>
                <a:lnTo>
                  <a:pt x="318211" y="1503548"/>
                </a:lnTo>
                <a:lnTo>
                  <a:pt x="397764" y="1476699"/>
                </a:lnTo>
                <a:lnTo>
                  <a:pt x="477317" y="1447861"/>
                </a:lnTo>
                <a:lnTo>
                  <a:pt x="556870" y="1417034"/>
                </a:lnTo>
                <a:lnTo>
                  <a:pt x="636422" y="1384219"/>
                </a:lnTo>
                <a:lnTo>
                  <a:pt x="715975" y="1349414"/>
                </a:lnTo>
                <a:lnTo>
                  <a:pt x="795528" y="1312621"/>
                </a:lnTo>
                <a:lnTo>
                  <a:pt x="875081" y="1273839"/>
                </a:lnTo>
                <a:lnTo>
                  <a:pt x="954634" y="1233068"/>
                </a:lnTo>
                <a:lnTo>
                  <a:pt x="1034186" y="1190309"/>
                </a:lnTo>
                <a:lnTo>
                  <a:pt x="1113739" y="1145560"/>
                </a:lnTo>
                <a:lnTo>
                  <a:pt x="1193292" y="1098823"/>
                </a:lnTo>
                <a:lnTo>
                  <a:pt x="1272845" y="1050097"/>
                </a:lnTo>
                <a:lnTo>
                  <a:pt x="1352398" y="999382"/>
                </a:lnTo>
                <a:lnTo>
                  <a:pt x="1431950" y="946678"/>
                </a:lnTo>
                <a:lnTo>
                  <a:pt x="1511503" y="891986"/>
                </a:lnTo>
                <a:lnTo>
                  <a:pt x="1591056" y="835304"/>
                </a:lnTo>
                <a:lnTo>
                  <a:pt x="1670609" y="776634"/>
                </a:lnTo>
                <a:lnTo>
                  <a:pt x="1750162" y="715975"/>
                </a:lnTo>
                <a:lnTo>
                  <a:pt x="1829714" y="653327"/>
                </a:lnTo>
                <a:lnTo>
                  <a:pt x="1909267" y="588691"/>
                </a:lnTo>
                <a:lnTo>
                  <a:pt x="1988820" y="522065"/>
                </a:lnTo>
                <a:lnTo>
                  <a:pt x="2068373" y="453451"/>
                </a:lnTo>
                <a:lnTo>
                  <a:pt x="2147926" y="382848"/>
                </a:lnTo>
                <a:lnTo>
                  <a:pt x="2227478" y="310256"/>
                </a:lnTo>
                <a:lnTo>
                  <a:pt x="2307031" y="235675"/>
                </a:lnTo>
                <a:lnTo>
                  <a:pt x="2386584" y="159106"/>
                </a:lnTo>
                <a:lnTo>
                  <a:pt x="2466137" y="80547"/>
                </a:lnTo>
                <a:lnTo>
                  <a:pt x="2545690" y="0"/>
                </a:lnTo>
              </a:path>
            </a:pathLst>
          </a:custGeom>
          <a:noFill/>
          <a:ln w="12700">
            <a:solidFill>
              <a:srgbClr val="667085"/>
            </a:solidFill>
            <a:prstDash val="sysDot"/>
          </a:ln>
        </p:spPr>
      </p:sp>
      <p:sp>
        <p:nvSpPr>
          <p:cNvPr id="90" name="Shape 88"/>
          <p:cNvSpPr/>
          <p:nvPr/>
        </p:nvSpPr>
        <p:spPr>
          <a:xfrm>
            <a:off x="6684264" y="5781827"/>
            <a:ext cx="118872" cy="118872"/>
          </a:xfrm>
          <a:prstGeom prst="ellipse">
            <a:avLst/>
          </a:prstGeom>
          <a:solidFill>
            <a:srgbClr val="5EC8E5"/>
          </a:solidFill>
          <a:ln/>
        </p:spPr>
      </p:sp>
      <p:sp>
        <p:nvSpPr>
          <p:cNvPr id="91" name="Shape 89"/>
          <p:cNvSpPr/>
          <p:nvPr/>
        </p:nvSpPr>
        <p:spPr>
          <a:xfrm>
            <a:off x="7214616" y="5596204"/>
            <a:ext cx="118872" cy="118872"/>
          </a:xfrm>
          <a:prstGeom prst="ellipse">
            <a:avLst/>
          </a:prstGeom>
          <a:solidFill>
            <a:srgbClr val="5EC8E5"/>
          </a:solidFill>
          <a:ln/>
        </p:spPr>
      </p:sp>
      <p:sp>
        <p:nvSpPr>
          <p:cNvPr id="92" name="Shape 90"/>
          <p:cNvSpPr/>
          <p:nvPr/>
        </p:nvSpPr>
        <p:spPr>
          <a:xfrm>
            <a:off x="7744968" y="5322189"/>
            <a:ext cx="118872" cy="118872"/>
          </a:xfrm>
          <a:prstGeom prst="ellipse">
            <a:avLst/>
          </a:prstGeom>
          <a:solidFill>
            <a:srgbClr val="5EC8E5"/>
          </a:solidFill>
          <a:ln/>
        </p:spPr>
      </p:sp>
      <p:sp>
        <p:nvSpPr>
          <p:cNvPr id="93" name="Shape 91"/>
          <p:cNvSpPr/>
          <p:nvPr/>
        </p:nvSpPr>
        <p:spPr>
          <a:xfrm>
            <a:off x="8275320" y="4959782"/>
            <a:ext cx="118872" cy="118872"/>
          </a:xfrm>
          <a:prstGeom prst="ellipse">
            <a:avLst/>
          </a:prstGeom>
          <a:solidFill>
            <a:srgbClr val="5EC8E5"/>
          </a:solidFill>
          <a:ln/>
        </p:spPr>
      </p:sp>
      <p:sp>
        <p:nvSpPr>
          <p:cNvPr id="94" name="Shape 92"/>
          <p:cNvSpPr/>
          <p:nvPr/>
        </p:nvSpPr>
        <p:spPr>
          <a:xfrm>
            <a:off x="8805672" y="4508983"/>
            <a:ext cx="118872" cy="118872"/>
          </a:xfrm>
          <a:prstGeom prst="ellipse">
            <a:avLst/>
          </a:prstGeom>
          <a:solidFill>
            <a:srgbClr val="5EC8E5"/>
          </a:solidFill>
          <a:ln/>
        </p:spPr>
      </p:sp>
      <p:sp>
        <p:nvSpPr>
          <p:cNvPr id="95" name="Shape 93"/>
          <p:cNvSpPr/>
          <p:nvPr/>
        </p:nvSpPr>
        <p:spPr>
          <a:xfrm>
            <a:off x="6949440" y="5781827"/>
            <a:ext cx="118872" cy="118872"/>
          </a:xfrm>
          <a:prstGeom prst="ellipse">
            <a:avLst/>
          </a:prstGeom>
          <a:noFill/>
          <a:ln w="19050">
            <a:solidFill>
              <a:srgbClr val="F2545B"/>
            </a:solidFill>
            <a:prstDash val="solid"/>
          </a:ln>
        </p:spPr>
      </p:sp>
      <p:sp>
        <p:nvSpPr>
          <p:cNvPr id="96" name="Shape 94"/>
          <p:cNvSpPr/>
          <p:nvPr/>
        </p:nvSpPr>
        <p:spPr>
          <a:xfrm>
            <a:off x="7479792" y="5596204"/>
            <a:ext cx="118872" cy="118872"/>
          </a:xfrm>
          <a:prstGeom prst="ellipse">
            <a:avLst/>
          </a:prstGeom>
          <a:noFill/>
          <a:ln w="19050">
            <a:solidFill>
              <a:srgbClr val="F2545B"/>
            </a:solidFill>
            <a:prstDash val="solid"/>
          </a:ln>
        </p:spPr>
      </p:sp>
      <p:sp>
        <p:nvSpPr>
          <p:cNvPr id="97" name="Shape 95"/>
          <p:cNvSpPr/>
          <p:nvPr/>
        </p:nvSpPr>
        <p:spPr>
          <a:xfrm>
            <a:off x="8010144" y="5322189"/>
            <a:ext cx="118872" cy="118872"/>
          </a:xfrm>
          <a:prstGeom prst="ellipse">
            <a:avLst/>
          </a:prstGeom>
          <a:noFill/>
          <a:ln w="19050">
            <a:solidFill>
              <a:srgbClr val="F2545B"/>
            </a:solidFill>
            <a:prstDash val="solid"/>
          </a:ln>
        </p:spPr>
      </p:sp>
      <p:sp>
        <p:nvSpPr>
          <p:cNvPr id="98" name="Shape 96"/>
          <p:cNvSpPr/>
          <p:nvPr/>
        </p:nvSpPr>
        <p:spPr>
          <a:xfrm>
            <a:off x="8540496" y="4959782"/>
            <a:ext cx="118872" cy="118872"/>
          </a:xfrm>
          <a:prstGeom prst="ellipse">
            <a:avLst/>
          </a:prstGeom>
          <a:noFill/>
          <a:ln w="19050">
            <a:solidFill>
              <a:srgbClr val="F2545B"/>
            </a:solidFill>
            <a:prstDash val="solid"/>
          </a:ln>
        </p:spPr>
      </p:sp>
      <p:sp>
        <p:nvSpPr>
          <p:cNvPr id="99" name="Shape 97"/>
          <p:cNvSpPr/>
          <p:nvPr/>
        </p:nvSpPr>
        <p:spPr>
          <a:xfrm>
            <a:off x="9070848" y="4508983"/>
            <a:ext cx="118872" cy="118872"/>
          </a:xfrm>
          <a:prstGeom prst="ellipse">
            <a:avLst/>
          </a:prstGeom>
          <a:noFill/>
          <a:ln w="19050">
            <a:solidFill>
              <a:srgbClr val="F2545B"/>
            </a:solidFill>
            <a:prstDash val="solid"/>
          </a:ln>
        </p:spPr>
      </p:sp>
      <p:sp>
        <p:nvSpPr>
          <p:cNvPr id="100" name="Text 98"/>
          <p:cNvSpPr txBox="1"/>
          <p:nvPr/>
        </p:nvSpPr>
        <p:spPr>
          <a:xfrm>
            <a:off x="9079992" y="4709160"/>
            <a:ext cx="2377440" cy="1371600"/>
          </a:xfrm>
          <a:prstGeom prst="rect">
            <a:avLst/>
          </a:prstGeom>
          <a:noFill/>
          <a:ln/>
        </p:spPr>
        <p:txBody>
          <a:bodyPr wrap="square" lIns="0" tIns="0" rIns="0" bIns="0" rtlCol="0" anchor="t"/>
          <a:lstStyle/>
          <a:p>
            <a:pPr indent="0" marL="0">
              <a:buNone/>
            </a:pPr>
            <a:r>
              <a:rPr lang="en-US" sz="1200" dirty="0">
                <a:solidFill>
                  <a:srgbClr val="A3ACBA"/>
                </a:solidFill>
                <a:latin typeface="Calibri" pitchFamily="34" charset="0"/>
                <a:ea typeface="Calibri" pitchFamily="34" charset="-122"/>
                <a:cs typeface="Calibri" pitchFamily="34" charset="-120"/>
              </a:rPr>
              <a:t>Stale widths (hollow) sit below the truth. The vehicle looks farther and slower than it is, so </a:t>
            </a:r>
            <a:pPr indent="0" marL="0">
              <a:buNone/>
            </a:pPr>
            <a:r>
              <a:rPr lang="en-US" sz="1200" b="1" dirty="0">
                <a:solidFill>
                  <a:srgbClr val="F2545B"/>
                </a:solidFill>
                <a:latin typeface="Calibri" pitchFamily="34" charset="0"/>
                <a:ea typeface="Calibri" pitchFamily="34" charset="-122"/>
                <a:cs typeface="Calibri" pitchFamily="34" charset="-120"/>
              </a:rPr>
              <a:t>TTC comes out too long: a bias toward a false SAFE.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SYSTEM ARCHITECTURE</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F2F4F7"/>
          </a:solidFill>
          <a:ln/>
        </p:spPr>
      </p:sp>
      <p:sp>
        <p:nvSpPr>
          <p:cNvPr id="11" name="Shape 9"/>
          <p:cNvSpPr/>
          <p:nvPr/>
        </p:nvSpPr>
        <p:spPr>
          <a:xfrm>
            <a:off x="11365992" y="484632"/>
            <a:ext cx="237744" cy="54864"/>
          </a:xfrm>
          <a:prstGeom prst="rect">
            <a:avLst/>
          </a:prstGeom>
          <a:solidFill>
            <a:srgbClr val="2E3845"/>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Output: speech never blocks vision, and every decision is logged</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16</a:t>
            </a:r>
            <a:endParaRPr lang="en-US" sz="1000" dirty="0"/>
          </a:p>
        </p:txBody>
      </p:sp>
      <p:sp>
        <p:nvSpPr>
          <p:cNvPr id="15" name="Shape 13"/>
          <p:cNvSpPr/>
          <p:nvPr/>
        </p:nvSpPr>
        <p:spPr>
          <a:xfrm>
            <a:off x="548640" y="1645920"/>
            <a:ext cx="11091672" cy="804672"/>
          </a:xfrm>
          <a:prstGeom prst="roundRect">
            <a:avLst>
              <a:gd name="adj" fmla="val 9091"/>
            </a:avLst>
          </a:prstGeom>
          <a:solidFill>
            <a:srgbClr val="161B22"/>
          </a:solidFill>
          <a:ln w="9525">
            <a:solidFill>
              <a:srgbClr val="2E3845"/>
            </a:solidFill>
            <a:prstDash val="solid"/>
          </a:ln>
        </p:spPr>
      </p:sp>
      <p:sp>
        <p:nvSpPr>
          <p:cNvPr id="16" name="Text 14"/>
          <p:cNvSpPr txBox="1"/>
          <p:nvPr/>
        </p:nvSpPr>
        <p:spPr>
          <a:xfrm>
            <a:off x="731520" y="1755648"/>
            <a:ext cx="201168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Speech thread</a:t>
            </a:r>
            <a:endParaRPr lang="en-US" sz="1400" dirty="0"/>
          </a:p>
        </p:txBody>
      </p:sp>
      <p:sp>
        <p:nvSpPr>
          <p:cNvPr id="17" name="Text 15"/>
          <p:cNvSpPr txBox="1"/>
          <p:nvPr/>
        </p:nvSpPr>
        <p:spPr>
          <a:xfrm>
            <a:off x="731520" y="2057400"/>
            <a:ext cx="2011680"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text-to-speech + earcons</a:t>
            </a:r>
            <a:endParaRPr lang="en-US" sz="1100" dirty="0"/>
          </a:p>
        </p:txBody>
      </p:sp>
      <p:sp>
        <p:nvSpPr>
          <p:cNvPr id="18" name="Shape 16"/>
          <p:cNvSpPr/>
          <p:nvPr/>
        </p:nvSpPr>
        <p:spPr>
          <a:xfrm>
            <a:off x="548640" y="2560320"/>
            <a:ext cx="11091672" cy="804672"/>
          </a:xfrm>
          <a:prstGeom prst="roundRect">
            <a:avLst>
              <a:gd name="adj" fmla="val 9091"/>
            </a:avLst>
          </a:prstGeom>
          <a:solidFill>
            <a:srgbClr val="1E252F"/>
          </a:solidFill>
          <a:ln w="9525">
            <a:solidFill>
              <a:srgbClr val="2E3845"/>
            </a:solidFill>
            <a:prstDash val="solid"/>
          </a:ln>
        </p:spPr>
      </p:sp>
      <p:sp>
        <p:nvSpPr>
          <p:cNvPr id="19" name="Text 17"/>
          <p:cNvSpPr txBox="1"/>
          <p:nvPr/>
        </p:nvSpPr>
        <p:spPr>
          <a:xfrm>
            <a:off x="731520" y="2670048"/>
            <a:ext cx="2011680" cy="292608"/>
          </a:xfrm>
          <a:prstGeom prst="rect">
            <a:avLst/>
          </a:prstGeom>
          <a:noFill/>
          <a:ln/>
        </p:spPr>
        <p:txBody>
          <a:bodyPr wrap="square" lIns="0" tIns="0" rIns="0" bIns="0" rtlCol="0" anchor="t"/>
          <a:lstStyle/>
          <a:p>
            <a:pPr indent="0" marL="0">
              <a:buNone/>
            </a:pPr>
            <a:r>
              <a:rPr lang="en-US" sz="1400" b="1" dirty="0">
                <a:solidFill>
                  <a:srgbClr val="5EC8E5"/>
                </a:solidFill>
                <a:latin typeface="Calibri" pitchFamily="34" charset="0"/>
                <a:ea typeface="Calibri" pitchFamily="34" charset="-122"/>
                <a:cs typeface="Calibri" pitchFamily="34" charset="-120"/>
              </a:rPr>
              <a:t>Vision thread</a:t>
            </a:r>
            <a:endParaRPr lang="en-US" sz="1400" dirty="0"/>
          </a:p>
        </p:txBody>
      </p:sp>
      <p:sp>
        <p:nvSpPr>
          <p:cNvPr id="20" name="Text 18"/>
          <p:cNvSpPr txBox="1"/>
          <p:nvPr/>
        </p:nvSpPr>
        <p:spPr>
          <a:xfrm>
            <a:off x="731520" y="2971800"/>
            <a:ext cx="2011680"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main loop, never waits</a:t>
            </a:r>
            <a:endParaRPr lang="en-US" sz="1100" dirty="0"/>
          </a:p>
        </p:txBody>
      </p:sp>
      <p:sp>
        <p:nvSpPr>
          <p:cNvPr id="21" name="Shape 19"/>
          <p:cNvSpPr/>
          <p:nvPr/>
        </p:nvSpPr>
        <p:spPr>
          <a:xfrm>
            <a:off x="548640" y="3474720"/>
            <a:ext cx="11091672" cy="804672"/>
          </a:xfrm>
          <a:prstGeom prst="roundRect">
            <a:avLst>
              <a:gd name="adj" fmla="val 9091"/>
            </a:avLst>
          </a:prstGeom>
          <a:solidFill>
            <a:srgbClr val="161B22"/>
          </a:solidFill>
          <a:ln w="9525">
            <a:solidFill>
              <a:srgbClr val="2E3845"/>
            </a:solidFill>
            <a:prstDash val="solid"/>
          </a:ln>
        </p:spPr>
      </p:sp>
      <p:sp>
        <p:nvSpPr>
          <p:cNvPr id="22" name="Text 20"/>
          <p:cNvSpPr txBox="1"/>
          <p:nvPr/>
        </p:nvSpPr>
        <p:spPr>
          <a:xfrm>
            <a:off x="731520" y="3584448"/>
            <a:ext cx="2011680" cy="292608"/>
          </a:xfrm>
          <a:prstGeom prst="rect">
            <a:avLst/>
          </a:prstGeom>
          <a:noFill/>
          <a:ln/>
        </p:spPr>
        <p:txBody>
          <a:bodyPr wrap="square" lIns="0" tIns="0" rIns="0" bIns="0" rtlCol="0" anchor="t"/>
          <a:lstStyle/>
          <a:p>
            <a:pPr indent="0" marL="0">
              <a:buNone/>
            </a:pPr>
            <a:r>
              <a:rPr lang="en-US" sz="1400" b="1" dirty="0">
                <a:solidFill>
                  <a:srgbClr val="F2F4F7"/>
                </a:solidFill>
                <a:latin typeface="Calibri" pitchFamily="34" charset="0"/>
                <a:ea typeface="Calibri" pitchFamily="34" charset="-122"/>
                <a:cs typeface="Calibri" pitchFamily="34" charset="-120"/>
              </a:rPr>
              <a:t>Logger thread</a:t>
            </a:r>
            <a:endParaRPr lang="en-US" sz="1400" dirty="0"/>
          </a:p>
        </p:txBody>
      </p:sp>
      <p:sp>
        <p:nvSpPr>
          <p:cNvPr id="23" name="Text 21"/>
          <p:cNvSpPr txBox="1"/>
          <p:nvPr/>
        </p:nvSpPr>
        <p:spPr>
          <a:xfrm>
            <a:off x="731520" y="3886200"/>
            <a:ext cx="2011680" cy="274320"/>
          </a:xfrm>
          <a:prstGeom prst="rect">
            <a:avLst/>
          </a:prstGeom>
          <a:noFill/>
          <a:ln/>
        </p:spPr>
        <p:txBody>
          <a:bodyPr wrap="square" lIns="0" tIns="0" rIns="0" bIns="0" rtlCol="0" anchor="t"/>
          <a:lstStyle/>
          <a:p>
            <a:pPr indent="0" marL="0">
              <a:buNone/>
            </a:pPr>
            <a:r>
              <a:rPr lang="en-US" sz="1100" dirty="0">
                <a:solidFill>
                  <a:srgbClr val="A3ACBA"/>
                </a:solidFill>
                <a:latin typeface="Calibri" pitchFamily="34" charset="0"/>
                <a:ea typeface="Calibri" pitchFamily="34" charset="-122"/>
                <a:cs typeface="Calibri" pitchFamily="34" charset="-120"/>
              </a:rPr>
              <a:t>batched database writes</a:t>
            </a:r>
            <a:endParaRPr lang="en-US" sz="1100" dirty="0"/>
          </a:p>
        </p:txBody>
      </p:sp>
      <p:sp>
        <p:nvSpPr>
          <p:cNvPr id="24" name="Text 22"/>
          <p:cNvSpPr txBox="1"/>
          <p:nvPr/>
        </p:nvSpPr>
        <p:spPr>
          <a:xfrm>
            <a:off x="2788920" y="27340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capture frame</a:t>
            </a:r>
            <a:endParaRPr lang="en-US" sz="1200" dirty="0"/>
          </a:p>
        </p:txBody>
      </p:sp>
      <p:sp>
        <p:nvSpPr>
          <p:cNvPr id="25" name="Text 23"/>
          <p:cNvSpPr txBox="1"/>
          <p:nvPr/>
        </p:nvSpPr>
        <p:spPr>
          <a:xfrm>
            <a:off x="4480560" y="27340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detect + track</a:t>
            </a:r>
            <a:endParaRPr lang="en-US" sz="1200" dirty="0"/>
          </a:p>
        </p:txBody>
      </p:sp>
      <p:sp>
        <p:nvSpPr>
          <p:cNvPr id="26" name="Text 24"/>
          <p:cNvSpPr txBox="1"/>
          <p:nvPr/>
        </p:nvSpPr>
        <p:spPr>
          <a:xfrm>
            <a:off x="6172200" y="2734056"/>
            <a:ext cx="1463040" cy="457200"/>
          </a:xfrm>
          <a:prstGeom prst="roundRect">
            <a:avLst>
              <a:gd name="adj" fmla="val 16000"/>
            </a:avLst>
          </a:prstGeom>
          <a:solidFill>
            <a:srgbClr val="5EC8E5">
              <a:alpha val="20000"/>
            </a:srgbClr>
          </a:solidFill>
          <a:ln w="12700">
            <a:solidFill>
              <a:srgbClr val="5EC8E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TTC + rules + vote</a:t>
            </a:r>
            <a:endParaRPr lang="en-US" sz="1200" dirty="0"/>
          </a:p>
        </p:txBody>
      </p:sp>
      <p:sp>
        <p:nvSpPr>
          <p:cNvPr id="27" name="Text 25"/>
          <p:cNvSpPr txBox="1"/>
          <p:nvPr/>
        </p:nvSpPr>
        <p:spPr>
          <a:xfrm>
            <a:off x="7863840" y="27340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A3ACBA"/>
                </a:solidFill>
                <a:latin typeface="Calibri" pitchFamily="34" charset="0"/>
                <a:ea typeface="Calibri" pitchFamily="34" charset="-122"/>
                <a:cs typeface="Calibri" pitchFamily="34" charset="-120"/>
              </a:rPr>
              <a:t>next frame, no waiting</a:t>
            </a:r>
            <a:endParaRPr lang="en-US" sz="1200" dirty="0"/>
          </a:p>
        </p:txBody>
      </p:sp>
      <p:sp>
        <p:nvSpPr>
          <p:cNvPr id="28" name="Shape 26"/>
          <p:cNvSpPr/>
          <p:nvPr/>
        </p:nvSpPr>
        <p:spPr>
          <a:xfrm>
            <a:off x="4270248" y="2962656"/>
            <a:ext cx="192024" cy="0"/>
          </a:xfrm>
          <a:prstGeom prst="line">
            <a:avLst/>
          </a:prstGeom>
          <a:noFill/>
          <a:ln w="15875">
            <a:solidFill>
              <a:srgbClr val="667085"/>
            </a:solidFill>
            <a:prstDash val="solid"/>
            <a:tailEnd type="triangle"/>
          </a:ln>
        </p:spPr>
      </p:sp>
      <p:sp>
        <p:nvSpPr>
          <p:cNvPr id="29" name="Shape 27"/>
          <p:cNvSpPr/>
          <p:nvPr/>
        </p:nvSpPr>
        <p:spPr>
          <a:xfrm>
            <a:off x="5961888" y="2962656"/>
            <a:ext cx="192024" cy="0"/>
          </a:xfrm>
          <a:prstGeom prst="line">
            <a:avLst/>
          </a:prstGeom>
          <a:noFill/>
          <a:ln w="15875">
            <a:solidFill>
              <a:srgbClr val="667085"/>
            </a:solidFill>
            <a:prstDash val="solid"/>
            <a:tailEnd type="triangle"/>
          </a:ln>
        </p:spPr>
      </p:sp>
      <p:sp>
        <p:nvSpPr>
          <p:cNvPr id="30" name="Shape 28"/>
          <p:cNvSpPr/>
          <p:nvPr/>
        </p:nvSpPr>
        <p:spPr>
          <a:xfrm>
            <a:off x="7653528" y="2962656"/>
            <a:ext cx="192024" cy="0"/>
          </a:xfrm>
          <a:prstGeom prst="line">
            <a:avLst/>
          </a:prstGeom>
          <a:noFill/>
          <a:ln w="15875">
            <a:solidFill>
              <a:srgbClr val="667085"/>
            </a:solidFill>
            <a:prstDash val="solid"/>
            <a:tailEnd type="triangle"/>
          </a:ln>
        </p:spPr>
      </p:sp>
      <p:sp>
        <p:nvSpPr>
          <p:cNvPr id="31" name="Text 29"/>
          <p:cNvSpPr txBox="1"/>
          <p:nvPr/>
        </p:nvSpPr>
        <p:spPr>
          <a:xfrm>
            <a:off x="6172200" y="18196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endParaRPr lang="en-US" sz="1200" dirty="0"/>
          </a:p>
        </p:txBody>
      </p:sp>
      <p:sp>
        <p:nvSpPr>
          <p:cNvPr id="32" name="Shape 30"/>
          <p:cNvSpPr/>
          <p:nvPr/>
        </p:nvSpPr>
        <p:spPr>
          <a:xfrm>
            <a:off x="6537960" y="1892808"/>
            <a:ext cx="0" cy="310896"/>
          </a:xfrm>
          <a:prstGeom prst="line">
            <a:avLst/>
          </a:prstGeom>
          <a:noFill/>
          <a:ln w="9525">
            <a:solidFill>
              <a:srgbClr val="667085"/>
            </a:solidFill>
            <a:prstDash val="solid"/>
          </a:ln>
        </p:spPr>
      </p:sp>
      <p:sp>
        <p:nvSpPr>
          <p:cNvPr id="33" name="Shape 31"/>
          <p:cNvSpPr/>
          <p:nvPr/>
        </p:nvSpPr>
        <p:spPr>
          <a:xfrm>
            <a:off x="6903720" y="1892808"/>
            <a:ext cx="0" cy="310896"/>
          </a:xfrm>
          <a:prstGeom prst="line">
            <a:avLst/>
          </a:prstGeom>
          <a:noFill/>
          <a:ln w="9525">
            <a:solidFill>
              <a:srgbClr val="667085"/>
            </a:solidFill>
            <a:prstDash val="solid"/>
          </a:ln>
        </p:spPr>
      </p:sp>
      <p:sp>
        <p:nvSpPr>
          <p:cNvPr id="34" name="Shape 32"/>
          <p:cNvSpPr/>
          <p:nvPr/>
        </p:nvSpPr>
        <p:spPr>
          <a:xfrm>
            <a:off x="7269480" y="1892808"/>
            <a:ext cx="0" cy="310896"/>
          </a:xfrm>
          <a:prstGeom prst="line">
            <a:avLst/>
          </a:prstGeom>
          <a:noFill/>
          <a:ln w="9525">
            <a:solidFill>
              <a:srgbClr val="667085"/>
            </a:solidFill>
            <a:prstDash val="solid"/>
          </a:ln>
        </p:spPr>
      </p:sp>
      <p:sp>
        <p:nvSpPr>
          <p:cNvPr id="35" name="Text 33"/>
          <p:cNvSpPr txBox="1"/>
          <p:nvPr/>
        </p:nvSpPr>
        <p:spPr>
          <a:xfrm>
            <a:off x="6172200" y="1819656"/>
            <a:ext cx="1463040" cy="457200"/>
          </a:xfrm>
          <a:prstGeom prst="rect">
            <a:avLst/>
          </a:prstGeom>
          <a:noFill/>
          <a:ln/>
        </p:spPr>
        <p:txBody>
          <a:bodyPr wrap="square" lIns="0" tIns="0" rIns="0" bIns="0" rtlCol="0" anchor="ctr"/>
          <a:lstStyle/>
          <a:p>
            <a:pPr algn="ctr" indent="0" marL="0">
              <a:buNone/>
            </a:pPr>
            <a:r>
              <a:rPr lang="en-US" sz="1100" dirty="0">
                <a:solidFill>
                  <a:srgbClr val="A3ACBA"/>
                </a:solidFill>
                <a:latin typeface="Calibri" pitchFamily="34" charset="0"/>
                <a:ea typeface="Calibri" pitchFamily="34" charset="-122"/>
                <a:cs typeface="Calibri" pitchFamily="34" charset="-120"/>
              </a:rPr>
              <a:t>queue</a:t>
            </a:r>
            <a:endParaRPr lang="en-US" sz="1100" dirty="0"/>
          </a:p>
        </p:txBody>
      </p:sp>
      <p:sp>
        <p:nvSpPr>
          <p:cNvPr id="36" name="Text 34"/>
          <p:cNvSpPr txBox="1"/>
          <p:nvPr/>
        </p:nvSpPr>
        <p:spPr>
          <a:xfrm>
            <a:off x="6172200" y="36484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endParaRPr lang="en-US" sz="1200" dirty="0"/>
          </a:p>
        </p:txBody>
      </p:sp>
      <p:sp>
        <p:nvSpPr>
          <p:cNvPr id="37" name="Shape 35"/>
          <p:cNvSpPr/>
          <p:nvPr/>
        </p:nvSpPr>
        <p:spPr>
          <a:xfrm>
            <a:off x="6537960" y="3721608"/>
            <a:ext cx="0" cy="310896"/>
          </a:xfrm>
          <a:prstGeom prst="line">
            <a:avLst/>
          </a:prstGeom>
          <a:noFill/>
          <a:ln w="9525">
            <a:solidFill>
              <a:srgbClr val="667085"/>
            </a:solidFill>
            <a:prstDash val="solid"/>
          </a:ln>
        </p:spPr>
      </p:sp>
      <p:sp>
        <p:nvSpPr>
          <p:cNvPr id="38" name="Shape 36"/>
          <p:cNvSpPr/>
          <p:nvPr/>
        </p:nvSpPr>
        <p:spPr>
          <a:xfrm>
            <a:off x="6903720" y="3721608"/>
            <a:ext cx="0" cy="310896"/>
          </a:xfrm>
          <a:prstGeom prst="line">
            <a:avLst/>
          </a:prstGeom>
          <a:noFill/>
          <a:ln w="9525">
            <a:solidFill>
              <a:srgbClr val="667085"/>
            </a:solidFill>
            <a:prstDash val="solid"/>
          </a:ln>
        </p:spPr>
      </p:sp>
      <p:sp>
        <p:nvSpPr>
          <p:cNvPr id="39" name="Shape 37"/>
          <p:cNvSpPr/>
          <p:nvPr/>
        </p:nvSpPr>
        <p:spPr>
          <a:xfrm>
            <a:off x="7269480" y="3721608"/>
            <a:ext cx="0" cy="310896"/>
          </a:xfrm>
          <a:prstGeom prst="line">
            <a:avLst/>
          </a:prstGeom>
          <a:noFill/>
          <a:ln w="9525">
            <a:solidFill>
              <a:srgbClr val="667085"/>
            </a:solidFill>
            <a:prstDash val="solid"/>
          </a:ln>
        </p:spPr>
      </p:sp>
      <p:sp>
        <p:nvSpPr>
          <p:cNvPr id="40" name="Text 38"/>
          <p:cNvSpPr txBox="1"/>
          <p:nvPr/>
        </p:nvSpPr>
        <p:spPr>
          <a:xfrm>
            <a:off x="6172200" y="3648456"/>
            <a:ext cx="1463040" cy="457200"/>
          </a:xfrm>
          <a:prstGeom prst="rect">
            <a:avLst/>
          </a:prstGeom>
          <a:noFill/>
          <a:ln/>
        </p:spPr>
        <p:txBody>
          <a:bodyPr wrap="square" lIns="0" tIns="0" rIns="0" bIns="0" rtlCol="0" anchor="ctr"/>
          <a:lstStyle/>
          <a:p>
            <a:pPr algn="ctr" indent="0" marL="0">
              <a:buNone/>
            </a:pPr>
            <a:r>
              <a:rPr lang="en-US" sz="1100" dirty="0">
                <a:solidFill>
                  <a:srgbClr val="A3ACBA"/>
                </a:solidFill>
                <a:latin typeface="Calibri" pitchFamily="34" charset="0"/>
                <a:ea typeface="Calibri" pitchFamily="34" charset="-122"/>
                <a:cs typeface="Calibri" pitchFamily="34" charset="-120"/>
              </a:rPr>
              <a:t>queue</a:t>
            </a:r>
            <a:endParaRPr lang="en-US" sz="1100" dirty="0"/>
          </a:p>
        </p:txBody>
      </p:sp>
      <p:sp>
        <p:nvSpPr>
          <p:cNvPr id="41" name="Shape 39"/>
          <p:cNvSpPr/>
          <p:nvPr/>
        </p:nvSpPr>
        <p:spPr>
          <a:xfrm flipV="1">
            <a:off x="6903720" y="2295144"/>
            <a:ext cx="0" cy="438912"/>
          </a:xfrm>
          <a:prstGeom prst="line">
            <a:avLst/>
          </a:prstGeom>
          <a:noFill/>
          <a:ln w="22225">
            <a:solidFill>
              <a:srgbClr val="5EC8E5"/>
            </a:solidFill>
            <a:prstDash val="solid"/>
            <a:tailEnd type="triangle"/>
          </a:ln>
        </p:spPr>
      </p:sp>
      <p:sp>
        <p:nvSpPr>
          <p:cNvPr id="42" name="Shape 40"/>
          <p:cNvSpPr/>
          <p:nvPr/>
        </p:nvSpPr>
        <p:spPr>
          <a:xfrm>
            <a:off x="6903720" y="3191256"/>
            <a:ext cx="0" cy="438912"/>
          </a:xfrm>
          <a:prstGeom prst="line">
            <a:avLst/>
          </a:prstGeom>
          <a:noFill/>
          <a:ln w="22225">
            <a:solidFill>
              <a:srgbClr val="5EC8E5"/>
            </a:solidFill>
            <a:prstDash val="solid"/>
            <a:tailEnd type="triangle"/>
          </a:ln>
        </p:spPr>
      </p:sp>
      <p:sp>
        <p:nvSpPr>
          <p:cNvPr id="43" name="Text 41"/>
          <p:cNvSpPr txBox="1"/>
          <p:nvPr/>
        </p:nvSpPr>
        <p:spPr>
          <a:xfrm>
            <a:off x="7863840" y="18196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rate limit</a:t>
            </a:r>
            <a:endParaRPr lang="en-US" sz="1200" dirty="0"/>
          </a:p>
        </p:txBody>
      </p:sp>
      <p:sp>
        <p:nvSpPr>
          <p:cNvPr id="44" name="Text 42"/>
          <p:cNvSpPr txBox="1"/>
          <p:nvPr/>
        </p:nvSpPr>
        <p:spPr>
          <a:xfrm>
            <a:off x="9555480" y="1819656"/>
            <a:ext cx="1463040" cy="457200"/>
          </a:xfrm>
          <a:prstGeom prst="roundRect">
            <a:avLst>
              <a:gd name="adj" fmla="val 16000"/>
            </a:avLst>
          </a:prstGeom>
          <a:solidFill>
            <a:srgbClr val="3DD68C">
              <a:alpha val="18000"/>
            </a:srgbClr>
          </a:solidFill>
          <a:ln w="12700">
            <a:solidFill>
              <a:srgbClr val="3DD68C"/>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speak + tone</a:t>
            </a:r>
            <a:endParaRPr lang="en-US" sz="1200" dirty="0"/>
          </a:p>
        </p:txBody>
      </p:sp>
      <p:sp>
        <p:nvSpPr>
          <p:cNvPr id="45" name="Text 43"/>
          <p:cNvSpPr txBox="1"/>
          <p:nvPr/>
        </p:nvSpPr>
        <p:spPr>
          <a:xfrm>
            <a:off x="7863840" y="36484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alibri" pitchFamily="34" charset="0"/>
                <a:ea typeface="Calibri" pitchFamily="34" charset="-122"/>
                <a:cs typeface="Calibri" pitchFamily="34" charset="-120"/>
              </a:rPr>
              <a:t>batch: 50 rows / 0.5 s</a:t>
            </a:r>
            <a:endParaRPr lang="en-US" sz="1200" dirty="0"/>
          </a:p>
        </p:txBody>
      </p:sp>
      <p:sp>
        <p:nvSpPr>
          <p:cNvPr id="46" name="Text 44"/>
          <p:cNvSpPr txBox="1"/>
          <p:nvPr/>
        </p:nvSpPr>
        <p:spPr>
          <a:xfrm>
            <a:off x="9555480" y="3648456"/>
            <a:ext cx="1463040" cy="457200"/>
          </a:xfrm>
          <a:prstGeom prst="roundRect">
            <a:avLst>
              <a:gd name="adj" fmla="val 16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dirty="0">
                <a:solidFill>
                  <a:srgbClr val="F2F4F7"/>
                </a:solidFill>
                <a:latin typeface="Consolas" pitchFamily="34" charset="0"/>
                <a:ea typeface="Consolas" pitchFamily="34" charset="-122"/>
                <a:cs typeface="Consolas" pitchFamily="34" charset="-120"/>
              </a:rPr>
              <a:t>decisions.db</a:t>
            </a:r>
            <a:endParaRPr lang="en-US" sz="1200" dirty="0"/>
          </a:p>
        </p:txBody>
      </p:sp>
      <p:sp>
        <p:nvSpPr>
          <p:cNvPr id="47" name="Shape 45"/>
          <p:cNvSpPr/>
          <p:nvPr/>
        </p:nvSpPr>
        <p:spPr>
          <a:xfrm>
            <a:off x="7653528" y="2048256"/>
            <a:ext cx="192024" cy="0"/>
          </a:xfrm>
          <a:prstGeom prst="line">
            <a:avLst/>
          </a:prstGeom>
          <a:noFill/>
          <a:ln w="15875">
            <a:solidFill>
              <a:srgbClr val="667085"/>
            </a:solidFill>
            <a:prstDash val="solid"/>
            <a:tailEnd type="triangle"/>
          </a:ln>
        </p:spPr>
      </p:sp>
      <p:sp>
        <p:nvSpPr>
          <p:cNvPr id="48" name="Shape 46"/>
          <p:cNvSpPr/>
          <p:nvPr/>
        </p:nvSpPr>
        <p:spPr>
          <a:xfrm>
            <a:off x="9345168" y="2048256"/>
            <a:ext cx="192024" cy="0"/>
          </a:xfrm>
          <a:prstGeom prst="line">
            <a:avLst/>
          </a:prstGeom>
          <a:noFill/>
          <a:ln w="15875">
            <a:solidFill>
              <a:srgbClr val="667085"/>
            </a:solidFill>
            <a:prstDash val="solid"/>
            <a:tailEnd type="triangle"/>
          </a:ln>
        </p:spPr>
      </p:sp>
      <p:sp>
        <p:nvSpPr>
          <p:cNvPr id="49" name="Shape 47"/>
          <p:cNvSpPr/>
          <p:nvPr/>
        </p:nvSpPr>
        <p:spPr>
          <a:xfrm>
            <a:off x="7653528" y="3877056"/>
            <a:ext cx="192024" cy="0"/>
          </a:xfrm>
          <a:prstGeom prst="line">
            <a:avLst/>
          </a:prstGeom>
          <a:noFill/>
          <a:ln w="15875">
            <a:solidFill>
              <a:srgbClr val="667085"/>
            </a:solidFill>
            <a:prstDash val="solid"/>
            <a:tailEnd type="triangle"/>
          </a:ln>
        </p:spPr>
      </p:sp>
      <p:sp>
        <p:nvSpPr>
          <p:cNvPr id="50" name="Shape 48"/>
          <p:cNvSpPr/>
          <p:nvPr/>
        </p:nvSpPr>
        <p:spPr>
          <a:xfrm>
            <a:off x="9345168" y="3877056"/>
            <a:ext cx="192024" cy="0"/>
          </a:xfrm>
          <a:prstGeom prst="line">
            <a:avLst/>
          </a:prstGeom>
          <a:noFill/>
          <a:ln w="15875">
            <a:solidFill>
              <a:srgbClr val="667085"/>
            </a:solidFill>
            <a:prstDash val="solid"/>
            <a:tailEnd type="triangle"/>
          </a:ln>
        </p:spPr>
      </p:sp>
      <p:sp>
        <p:nvSpPr>
          <p:cNvPr id="51" name="Text 49"/>
          <p:cNvSpPr txBox="1"/>
          <p:nvPr/>
        </p:nvSpPr>
        <p:spPr>
          <a:xfrm>
            <a:off x="2788920" y="1819656"/>
            <a:ext cx="3246120" cy="457200"/>
          </a:xfrm>
          <a:prstGeom prst="rect">
            <a:avLst/>
          </a:prstGeom>
          <a:noFill/>
          <a:ln/>
        </p:spPr>
        <p:txBody>
          <a:bodyPr wrap="square" lIns="0" tIns="0" rIns="0" bIns="0" rtlCol="0" anchor="ctr"/>
          <a:lstStyle/>
          <a:p>
            <a:pPr indent="0" marL="0">
              <a:buNone/>
            </a:pPr>
            <a:r>
              <a:rPr lang="en-US" sz="1150" i="1" dirty="0">
                <a:solidFill>
                  <a:srgbClr val="A3ACBA"/>
                </a:solidFill>
                <a:latin typeface="Calibri" pitchFamily="34" charset="0"/>
                <a:ea typeface="Calibri" pitchFamily="34" charset="-122"/>
                <a:cs typeface="Calibri" pitchFamily="34" charset="-120"/>
              </a:rPr>
              <a:t>hand-off is non-blocking: vision never waits for speech or disk</a:t>
            </a:r>
            <a:endParaRPr lang="en-US" sz="1150" dirty="0"/>
          </a:p>
        </p:txBody>
      </p:sp>
      <p:sp>
        <p:nvSpPr>
          <p:cNvPr id="52" name="Text 50"/>
          <p:cNvSpPr txBox="1"/>
          <p:nvPr/>
        </p:nvSpPr>
        <p:spPr>
          <a:xfrm>
            <a:off x="2788920" y="3648456"/>
            <a:ext cx="3246120" cy="457200"/>
          </a:xfrm>
          <a:prstGeom prst="rect">
            <a:avLst/>
          </a:prstGeom>
          <a:noFill/>
          <a:ln/>
        </p:spPr>
        <p:txBody>
          <a:bodyPr wrap="square" lIns="0" tIns="0" rIns="0" bIns="0" rtlCol="0" anchor="ctr"/>
          <a:lstStyle/>
          <a:p>
            <a:pPr indent="0" marL="0">
              <a:buNone/>
            </a:pPr>
            <a:r>
              <a:rPr lang="en-US" sz="1150" i="1" dirty="0">
                <a:solidFill>
                  <a:srgbClr val="A3ACBA"/>
                </a:solidFill>
                <a:latin typeface="Calibri" pitchFamily="34" charset="0"/>
                <a:ea typeface="Calibri" pitchFamily="34" charset="-122"/>
                <a:cs typeface="Calibri" pitchFamily="34" charset="-120"/>
              </a:rPr>
              <a:t>every frame’s state, reason and inputs, for offline evaluation</a:t>
            </a:r>
            <a:endParaRPr lang="en-US" sz="1150" dirty="0"/>
          </a:p>
        </p:txBody>
      </p:sp>
      <p:sp>
        <p:nvSpPr>
          <p:cNvPr id="53" name="Shape 51"/>
          <p:cNvSpPr/>
          <p:nvPr/>
        </p:nvSpPr>
        <p:spPr>
          <a:xfrm>
            <a:off x="548640" y="4526280"/>
            <a:ext cx="5440680" cy="1645920"/>
          </a:xfrm>
          <a:prstGeom prst="roundRect">
            <a:avLst>
              <a:gd name="adj" fmla="val 5556"/>
            </a:avLst>
          </a:prstGeom>
          <a:solidFill>
            <a:srgbClr val="161B22"/>
          </a:solidFill>
          <a:ln w="9525">
            <a:solidFill>
              <a:srgbClr val="2E3845"/>
            </a:solidFill>
            <a:prstDash val="solid"/>
          </a:ln>
        </p:spPr>
      </p:sp>
      <p:sp>
        <p:nvSpPr>
          <p:cNvPr id="54" name="Text 52"/>
          <p:cNvSpPr txBox="1"/>
          <p:nvPr/>
        </p:nvSpPr>
        <p:spPr>
          <a:xfrm>
            <a:off x="777240" y="4636008"/>
            <a:ext cx="502920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Earcons: meaning before words</a:t>
            </a:r>
            <a:endParaRPr lang="en-US" sz="1500" dirty="0"/>
          </a:p>
        </p:txBody>
      </p:sp>
      <p:sp>
        <p:nvSpPr>
          <p:cNvPr id="55" name="Shape 53"/>
          <p:cNvSpPr/>
          <p:nvPr/>
        </p:nvSpPr>
        <p:spPr>
          <a:xfrm>
            <a:off x="868680" y="5532120"/>
            <a:ext cx="411480" cy="274320"/>
          </a:xfrm>
          <a:prstGeom prst="rect">
            <a:avLst/>
          </a:prstGeom>
          <a:solidFill>
            <a:srgbClr val="3DD68C"/>
          </a:solidFill>
          <a:ln/>
        </p:spPr>
      </p:sp>
      <p:sp>
        <p:nvSpPr>
          <p:cNvPr id="56" name="Shape 54"/>
          <p:cNvSpPr/>
          <p:nvPr/>
        </p:nvSpPr>
        <p:spPr>
          <a:xfrm>
            <a:off x="1371600" y="5166360"/>
            <a:ext cx="411480" cy="640080"/>
          </a:xfrm>
          <a:prstGeom prst="rect">
            <a:avLst/>
          </a:prstGeom>
          <a:solidFill>
            <a:srgbClr val="3DD68C"/>
          </a:solidFill>
          <a:ln/>
        </p:spPr>
      </p:sp>
      <p:sp>
        <p:nvSpPr>
          <p:cNvPr id="57" name="Text 55"/>
          <p:cNvSpPr txBox="1"/>
          <p:nvPr/>
        </p:nvSpPr>
        <p:spPr>
          <a:xfrm>
            <a:off x="1920240" y="5120640"/>
            <a:ext cx="1463040" cy="731520"/>
          </a:xfrm>
          <a:prstGeom prst="rect">
            <a:avLst/>
          </a:prstGeom>
          <a:noFill/>
          <a:ln/>
        </p:spPr>
        <p:txBody>
          <a:bodyPr wrap="square" lIns="0" tIns="0" rIns="0" bIns="0" rtlCol="0" anchor="t"/>
          <a:lstStyle/>
          <a:p>
            <a:pPr indent="0" marL="0">
              <a:buNone/>
            </a:pPr>
            <a:r>
              <a:rPr lang="en-US" sz="1200" b="1" dirty="0">
                <a:solidFill>
                  <a:srgbClr val="3DD68C"/>
                </a:solidFill>
                <a:latin typeface="Calibri" pitchFamily="34" charset="0"/>
                <a:ea typeface="Calibri" pitchFamily="34" charset="-122"/>
                <a:cs typeface="Calibri" pitchFamily="34" charset="-120"/>
              </a:rPr>
              <a:t>SAFE</a:t>
            </a:r>
            <a:endParaRPr lang="en-US" sz="1200" dirty="0"/>
          </a:p>
          <a:p>
            <a:pPr indent="0" marL="0">
              <a:buNone/>
            </a:pPr>
            <a:r>
              <a:rPr lang="en-US" sz="1200" dirty="0">
                <a:solidFill>
                  <a:srgbClr val="A3ACBA"/>
                </a:solidFill>
                <a:latin typeface="Calibri" pitchFamily="34" charset="0"/>
                <a:ea typeface="Calibri" pitchFamily="34" charset="-122"/>
                <a:cs typeface="Calibri" pitchFamily="34" charset="-120"/>
              </a:rPr>
              <a:t>rising two-tone, C5 → G5</a:t>
            </a:r>
            <a:endParaRPr lang="en-US" sz="1200" dirty="0"/>
          </a:p>
        </p:txBody>
      </p:sp>
      <p:sp>
        <p:nvSpPr>
          <p:cNvPr id="58" name="Shape 56"/>
          <p:cNvSpPr/>
          <p:nvPr/>
        </p:nvSpPr>
        <p:spPr>
          <a:xfrm>
            <a:off x="3429000" y="5532120"/>
            <a:ext cx="182880" cy="274320"/>
          </a:xfrm>
          <a:prstGeom prst="rect">
            <a:avLst/>
          </a:prstGeom>
          <a:solidFill>
            <a:srgbClr val="F2545B"/>
          </a:solidFill>
          <a:ln/>
        </p:spPr>
      </p:sp>
      <p:sp>
        <p:nvSpPr>
          <p:cNvPr id="59" name="Shape 57"/>
          <p:cNvSpPr/>
          <p:nvPr/>
        </p:nvSpPr>
        <p:spPr>
          <a:xfrm>
            <a:off x="3721608" y="5532120"/>
            <a:ext cx="182880" cy="274320"/>
          </a:xfrm>
          <a:prstGeom prst="rect">
            <a:avLst/>
          </a:prstGeom>
          <a:solidFill>
            <a:srgbClr val="F2545B"/>
          </a:solidFill>
          <a:ln/>
        </p:spPr>
      </p:sp>
      <p:sp>
        <p:nvSpPr>
          <p:cNvPr id="60" name="Shape 58"/>
          <p:cNvSpPr/>
          <p:nvPr/>
        </p:nvSpPr>
        <p:spPr>
          <a:xfrm>
            <a:off x="4014216" y="5532120"/>
            <a:ext cx="182880" cy="274320"/>
          </a:xfrm>
          <a:prstGeom prst="rect">
            <a:avLst/>
          </a:prstGeom>
          <a:solidFill>
            <a:srgbClr val="F2545B"/>
          </a:solidFill>
          <a:ln/>
        </p:spPr>
      </p:sp>
      <p:sp>
        <p:nvSpPr>
          <p:cNvPr id="61" name="Text 59"/>
          <p:cNvSpPr txBox="1"/>
          <p:nvPr/>
        </p:nvSpPr>
        <p:spPr>
          <a:xfrm>
            <a:off x="4389120" y="5120640"/>
            <a:ext cx="1554480" cy="731520"/>
          </a:xfrm>
          <a:prstGeom prst="rect">
            <a:avLst/>
          </a:prstGeom>
          <a:noFill/>
          <a:ln/>
        </p:spPr>
        <p:txBody>
          <a:bodyPr wrap="square" lIns="0" tIns="0" rIns="0" bIns="0" rtlCol="0" anchor="t"/>
          <a:lstStyle/>
          <a:p>
            <a:pPr indent="0" marL="0">
              <a:buNone/>
            </a:pPr>
            <a:r>
              <a:rPr lang="en-US" sz="1200" b="1" dirty="0">
                <a:solidFill>
                  <a:srgbClr val="F2545B"/>
                </a:solidFill>
                <a:latin typeface="Calibri" pitchFamily="34" charset="0"/>
                <a:ea typeface="Calibri" pitchFamily="34" charset="-122"/>
                <a:cs typeface="Calibri" pitchFamily="34" charset="-120"/>
              </a:rPr>
              <a:t>WAIT</a:t>
            </a:r>
            <a:endParaRPr lang="en-US" sz="1200" dirty="0"/>
          </a:p>
          <a:p>
            <a:pPr indent="0" marL="0">
              <a:buNone/>
            </a:pPr>
            <a:r>
              <a:rPr lang="en-US" sz="1200" dirty="0">
                <a:solidFill>
                  <a:srgbClr val="A3ACBA"/>
                </a:solidFill>
                <a:latin typeface="Calibri" pitchFamily="34" charset="0"/>
                <a:ea typeface="Calibri" pitchFamily="34" charset="-122"/>
                <a:cs typeface="Calibri" pitchFamily="34" charset="-120"/>
              </a:rPr>
              <a:t>three low pulses, 220 Hz</a:t>
            </a:r>
            <a:endParaRPr lang="en-US" sz="1200" dirty="0"/>
          </a:p>
        </p:txBody>
      </p:sp>
      <p:sp>
        <p:nvSpPr>
          <p:cNvPr id="62" name="Shape 60"/>
          <p:cNvSpPr/>
          <p:nvPr/>
        </p:nvSpPr>
        <p:spPr>
          <a:xfrm>
            <a:off x="6199632" y="4526280"/>
            <a:ext cx="5440680" cy="1645920"/>
          </a:xfrm>
          <a:prstGeom prst="roundRect">
            <a:avLst>
              <a:gd name="adj" fmla="val 5556"/>
            </a:avLst>
          </a:prstGeom>
          <a:solidFill>
            <a:srgbClr val="161B22"/>
          </a:solidFill>
          <a:ln w="9525">
            <a:solidFill>
              <a:srgbClr val="2E3845"/>
            </a:solidFill>
            <a:prstDash val="solid"/>
          </a:ln>
        </p:spPr>
      </p:sp>
      <p:sp>
        <p:nvSpPr>
          <p:cNvPr id="63" name="Text 61"/>
          <p:cNvSpPr txBox="1"/>
          <p:nvPr/>
        </p:nvSpPr>
        <p:spPr>
          <a:xfrm>
            <a:off x="6428232" y="4636008"/>
            <a:ext cx="5029200" cy="292608"/>
          </a:xfrm>
          <a:prstGeom prst="rect">
            <a:avLst/>
          </a:prstGeom>
          <a:noFill/>
          <a:ln/>
        </p:spPr>
        <p:txBody>
          <a:bodyPr wrap="square" lIns="0" tIns="0" rIns="0" bIns="0" rtlCol="0" anchor="t"/>
          <a:lstStyle/>
          <a:p>
            <a:pPr indent="0" marL="0">
              <a:buNone/>
            </a:pPr>
            <a:r>
              <a:rPr lang="en-US" sz="1500" b="1" dirty="0">
                <a:solidFill>
                  <a:srgbClr val="F2F4F7"/>
                </a:solidFill>
                <a:latin typeface="Calibri" pitchFamily="34" charset="0"/>
                <a:ea typeface="Calibri" pitchFamily="34" charset="-122"/>
                <a:cs typeface="Calibri" pitchFamily="34" charset="-120"/>
              </a:rPr>
              <a:t>Rate-limited to avoid chatter, except warnings</a:t>
            </a:r>
            <a:endParaRPr lang="en-US" sz="1500" dirty="0"/>
          </a:p>
        </p:txBody>
      </p:sp>
      <p:sp>
        <p:nvSpPr>
          <p:cNvPr id="64" name="Shape 62"/>
          <p:cNvSpPr/>
          <p:nvPr/>
        </p:nvSpPr>
        <p:spPr>
          <a:xfrm>
            <a:off x="6492240" y="5394960"/>
            <a:ext cx="4892040" cy="0"/>
          </a:xfrm>
          <a:prstGeom prst="line">
            <a:avLst/>
          </a:prstGeom>
          <a:noFill/>
          <a:ln w="15875">
            <a:solidFill>
              <a:srgbClr val="667085"/>
            </a:solidFill>
            <a:prstDash val="solid"/>
            <a:tailEnd type="triangle"/>
          </a:ln>
        </p:spPr>
      </p:sp>
      <p:sp>
        <p:nvSpPr>
          <p:cNvPr id="65" name="Shape 63"/>
          <p:cNvSpPr/>
          <p:nvPr/>
        </p:nvSpPr>
        <p:spPr>
          <a:xfrm>
            <a:off x="6839712" y="5285232"/>
            <a:ext cx="219456" cy="219456"/>
          </a:xfrm>
          <a:prstGeom prst="ellipse">
            <a:avLst/>
          </a:prstGeom>
          <a:solidFill>
            <a:srgbClr val="3DD68C"/>
          </a:solidFill>
          <a:ln/>
        </p:spPr>
      </p:sp>
      <p:sp>
        <p:nvSpPr>
          <p:cNvPr id="66" name="Text 64"/>
          <p:cNvSpPr txBox="1"/>
          <p:nvPr/>
        </p:nvSpPr>
        <p:spPr>
          <a:xfrm>
            <a:off x="6492240" y="5559552"/>
            <a:ext cx="960120" cy="457200"/>
          </a:xfrm>
          <a:prstGeom prst="rect">
            <a:avLst/>
          </a:prstGeom>
          <a:noFill/>
          <a:ln/>
        </p:spPr>
        <p:txBody>
          <a:bodyPr wrap="square" lIns="0" tIns="0" rIns="0" bIns="0" rtlCol="0" anchor="t"/>
          <a:lstStyle/>
          <a:p>
            <a:pPr algn="ctr" indent="0" marL="0">
              <a:buNone/>
            </a:pPr>
            <a:r>
              <a:rPr lang="en-US" sz="1050" dirty="0">
                <a:solidFill>
                  <a:srgbClr val="3DD68C"/>
                </a:solidFill>
                <a:latin typeface="Calibri" pitchFamily="34" charset="0"/>
                <a:ea typeface="Calibri" pitchFamily="34" charset="-122"/>
                <a:cs typeface="Calibri" pitchFamily="34" charset="-120"/>
              </a:rPr>
              <a:t>“safe to cross”</a:t>
            </a:r>
            <a:endParaRPr lang="en-US" sz="1050" dirty="0"/>
          </a:p>
          <a:p>
            <a:pPr algn="ctr" indent="0" marL="0">
              <a:buNone/>
            </a:pPr>
            <a:r>
              <a:rPr lang="en-US" sz="1050" dirty="0">
                <a:solidFill>
                  <a:srgbClr val="3DD68C"/>
                </a:solidFill>
                <a:latin typeface="Calibri" pitchFamily="34" charset="0"/>
                <a:ea typeface="Calibri" pitchFamily="34" charset="-122"/>
                <a:cs typeface="Calibri" pitchFamily="34" charset="-120"/>
              </a:rPr>
              <a:t>plays</a:t>
            </a:r>
            <a:endParaRPr lang="en-US" sz="1050" dirty="0"/>
          </a:p>
        </p:txBody>
      </p:sp>
      <p:pic>
        <p:nvPicPr>
          <p:cNvPr id="67" name="Image 0" descr="preencoded.png">    </p:cNvPr>
          <p:cNvPicPr>
            <a:picLocks noChangeAspect="1"/>
          </p:cNvPicPr>
          <p:nvPr/>
        </p:nvPicPr>
        <p:blipFill>
          <a:blip r:embed="rId1"/>
          <a:stretch>
            <a:fillRect/>
          </a:stretch>
        </p:blipFill>
        <p:spPr>
          <a:xfrm>
            <a:off x="8211312" y="5276088"/>
            <a:ext cx="237744" cy="237744"/>
          </a:xfrm>
          <a:prstGeom prst="rect">
            <a:avLst/>
          </a:prstGeom>
        </p:spPr>
      </p:pic>
      <p:sp>
        <p:nvSpPr>
          <p:cNvPr id="68" name="Text 65"/>
          <p:cNvSpPr txBox="1"/>
          <p:nvPr/>
        </p:nvSpPr>
        <p:spPr>
          <a:xfrm>
            <a:off x="7726680" y="5559552"/>
            <a:ext cx="1234440" cy="457200"/>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same message</a:t>
            </a:r>
            <a:endParaRPr lang="en-US" sz="1050" dirty="0"/>
          </a:p>
          <a:p>
            <a:pPr algn="ctr" indent="0" marL="0">
              <a:buNone/>
            </a:pPr>
            <a:r>
              <a:rPr lang="en-US" sz="1050" dirty="0">
                <a:solidFill>
                  <a:srgbClr val="A3ACBA"/>
                </a:solidFill>
                <a:latin typeface="Calibri" pitchFamily="34" charset="0"/>
                <a:ea typeface="Calibri" pitchFamily="34" charset="-122"/>
                <a:cs typeface="Calibri" pitchFamily="34" charset="-120"/>
              </a:rPr>
              <a:t>within 2 s: dropped</a:t>
            </a:r>
            <a:endParaRPr lang="en-US" sz="1050" dirty="0"/>
          </a:p>
        </p:txBody>
      </p:sp>
      <p:sp>
        <p:nvSpPr>
          <p:cNvPr id="69" name="Shape 66"/>
          <p:cNvSpPr/>
          <p:nvPr/>
        </p:nvSpPr>
        <p:spPr>
          <a:xfrm>
            <a:off x="6949440" y="5010912"/>
            <a:ext cx="2011680" cy="182880"/>
          </a:xfrm>
          <a:prstGeom prst="roundRect">
            <a:avLst>
              <a:gd name="adj" fmla="val 25000"/>
            </a:avLst>
          </a:prstGeom>
          <a:solidFill>
            <a:srgbClr val="667085">
              <a:alpha val="40000"/>
            </a:srgbClr>
          </a:solidFill>
          <a:ln/>
        </p:spPr>
      </p:sp>
      <p:sp>
        <p:nvSpPr>
          <p:cNvPr id="70" name="Text 67"/>
          <p:cNvSpPr txBox="1"/>
          <p:nvPr/>
        </p:nvSpPr>
        <p:spPr>
          <a:xfrm>
            <a:off x="6949440" y="4992624"/>
            <a:ext cx="2011680" cy="219456"/>
          </a:xfrm>
          <a:prstGeom prst="rect">
            <a:avLst/>
          </a:prstGeom>
          <a:noFill/>
          <a:ln/>
        </p:spPr>
        <p:txBody>
          <a:bodyPr wrap="square" lIns="0" tIns="0" rIns="0" bIns="0" rtlCol="0" anchor="ctr"/>
          <a:lstStyle/>
          <a:p>
            <a:pPr algn="ctr" indent="0" marL="0">
              <a:buNone/>
            </a:pPr>
            <a:r>
              <a:rPr lang="en-US" sz="950" dirty="0">
                <a:solidFill>
                  <a:srgbClr val="F2F4F7"/>
                </a:solidFill>
                <a:latin typeface="Calibri" pitchFamily="34" charset="0"/>
                <a:ea typeface="Calibri" pitchFamily="34" charset="-122"/>
                <a:cs typeface="Calibri" pitchFamily="34" charset="-120"/>
              </a:rPr>
              <a:t>2 s cooldown</a:t>
            </a:r>
            <a:endParaRPr lang="en-US" sz="950" dirty="0"/>
          </a:p>
        </p:txBody>
      </p:sp>
      <p:sp>
        <p:nvSpPr>
          <p:cNvPr id="71" name="Shape 68"/>
          <p:cNvSpPr/>
          <p:nvPr/>
        </p:nvSpPr>
        <p:spPr>
          <a:xfrm>
            <a:off x="9555480" y="5257800"/>
            <a:ext cx="274320" cy="274320"/>
          </a:xfrm>
          <a:prstGeom prst="ellipse">
            <a:avLst/>
          </a:prstGeom>
          <a:solidFill>
            <a:srgbClr val="F2545B"/>
          </a:solidFill>
          <a:ln/>
        </p:spPr>
      </p:sp>
      <p:sp>
        <p:nvSpPr>
          <p:cNvPr id="72" name="Text 69"/>
          <p:cNvSpPr txBox="1"/>
          <p:nvPr/>
        </p:nvSpPr>
        <p:spPr>
          <a:xfrm>
            <a:off x="9189720" y="5559552"/>
            <a:ext cx="2377440" cy="457200"/>
          </a:xfrm>
          <a:prstGeom prst="rect">
            <a:avLst/>
          </a:prstGeom>
          <a:noFill/>
          <a:ln/>
        </p:spPr>
        <p:txBody>
          <a:bodyPr wrap="square" lIns="0" tIns="0" rIns="0" bIns="0" rtlCol="0" anchor="t"/>
          <a:lstStyle/>
          <a:p>
            <a:pPr algn="ctr" indent="0" marL="0">
              <a:buNone/>
            </a:pPr>
            <a:r>
              <a:rPr lang="en-US" sz="1050" b="1" dirty="0">
                <a:solidFill>
                  <a:srgbClr val="F2545B"/>
                </a:solidFill>
                <a:latin typeface="Calibri" pitchFamily="34" charset="0"/>
                <a:ea typeface="Calibri" pitchFamily="34" charset="-122"/>
                <a:cs typeface="Calibri" pitchFamily="34" charset="-120"/>
              </a:rPr>
              <a:t>new WAIT warning: always plays, jumps the queue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WORKFLOW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F2F4F7"/>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Every frame: six rules, checked in order, and most exits say WAIT</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17</a:t>
            </a:r>
            <a:endParaRPr lang="en-US" sz="1000" dirty="0"/>
          </a:p>
        </p:txBody>
      </p:sp>
      <p:sp>
        <p:nvSpPr>
          <p:cNvPr id="15" name="Text 13"/>
          <p:cNvSpPr txBox="1"/>
          <p:nvPr/>
        </p:nvSpPr>
        <p:spPr>
          <a:xfrm>
            <a:off x="548640" y="2606040"/>
            <a:ext cx="868680" cy="640080"/>
          </a:xfrm>
          <a:prstGeom prst="roundRect">
            <a:avLst>
              <a:gd name="adj" fmla="val 50000"/>
            </a:avLst>
          </a:prstGeom>
          <a:solidFill>
            <a:srgbClr val="1E252F"/>
          </a:solidFill>
          <a:ln w="12700">
            <a:solidFill>
              <a:srgbClr val="2E3845"/>
            </a:solidFill>
          </a:ln>
        </p:spPr>
        <p:txBody>
          <a:bodyPr wrap="square" lIns="50800" tIns="50800" rIns="50800" bIns="508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each</a:t>
            </a:r>
            <a:endParaRPr lang="en-US" sz="1200" dirty="0"/>
          </a:p>
          <a:p>
            <a:pPr algn="ctr" indent="0" marL="0">
              <a:buNone/>
            </a:pPr>
            <a:r>
              <a:rPr lang="en-US" sz="1200" b="1" dirty="0">
                <a:solidFill>
                  <a:srgbClr val="F2F4F7"/>
                </a:solidFill>
                <a:latin typeface="Calibri" pitchFamily="34" charset="0"/>
                <a:ea typeface="Calibri" pitchFamily="34" charset="-122"/>
                <a:cs typeface="Calibri" pitchFamily="34" charset="-120"/>
              </a:rPr>
              <a:t>frame</a:t>
            </a:r>
            <a:endParaRPr lang="en-US" sz="1200" dirty="0"/>
          </a:p>
        </p:txBody>
      </p:sp>
      <p:sp>
        <p:nvSpPr>
          <p:cNvPr id="16" name="Shape 14"/>
          <p:cNvSpPr/>
          <p:nvPr/>
        </p:nvSpPr>
        <p:spPr>
          <a:xfrm>
            <a:off x="1435608" y="2926080"/>
            <a:ext cx="283464" cy="0"/>
          </a:xfrm>
          <a:prstGeom prst="line">
            <a:avLst/>
          </a:prstGeom>
          <a:noFill/>
          <a:ln w="19050">
            <a:solidFill>
              <a:srgbClr val="A3ACBA"/>
            </a:solidFill>
            <a:prstDash val="solid"/>
            <a:tailEnd type="triangle"/>
          </a:ln>
        </p:spPr>
      </p:sp>
      <p:sp>
        <p:nvSpPr>
          <p:cNvPr id="17" name="Text 15"/>
          <p:cNvSpPr txBox="1"/>
          <p:nvPr/>
        </p:nvSpPr>
        <p:spPr>
          <a:xfrm>
            <a:off x="1737360" y="1764792"/>
            <a:ext cx="1417320" cy="228600"/>
          </a:xfrm>
          <a:prstGeom prst="rect">
            <a:avLst/>
          </a:prstGeom>
          <a:noFill/>
          <a:ln/>
        </p:spPr>
        <p:txBody>
          <a:bodyPr wrap="square" lIns="0" tIns="0" rIns="0" bIns="0" rtlCol="0" anchor="t"/>
          <a:lstStyle/>
          <a:p>
            <a:pPr algn="ctr" indent="0" marL="0">
              <a:buNone/>
            </a:pPr>
            <a:r>
              <a:rPr lang="en-US" sz="1100" b="1" spc="100" kern="0" dirty="0">
                <a:solidFill>
                  <a:srgbClr val="A3ACBA"/>
                </a:solidFill>
                <a:latin typeface="Calibri" pitchFamily="34" charset="0"/>
                <a:ea typeface="Calibri" pitchFamily="34" charset="-122"/>
                <a:cs typeface="Calibri" pitchFamily="34" charset="-120"/>
              </a:rPr>
              <a:t>RULE 1</a:t>
            </a:r>
            <a:endParaRPr lang="en-US" sz="1100" dirty="0"/>
          </a:p>
        </p:txBody>
      </p:sp>
      <p:sp>
        <p:nvSpPr>
          <p:cNvPr id="18" name="Text 16"/>
          <p:cNvSpPr txBox="1"/>
          <p:nvPr/>
        </p:nvSpPr>
        <p:spPr>
          <a:xfrm>
            <a:off x="1737360" y="2002536"/>
            <a:ext cx="1417320" cy="228600"/>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conf ≥ 0.6</a:t>
            </a:r>
            <a:endParaRPr lang="en-US" sz="1050" dirty="0"/>
          </a:p>
        </p:txBody>
      </p:sp>
      <p:sp>
        <p:nvSpPr>
          <p:cNvPr id="19" name="Text 17"/>
          <p:cNvSpPr txBox="1"/>
          <p:nvPr/>
        </p:nvSpPr>
        <p:spPr>
          <a:xfrm>
            <a:off x="1737360" y="2331720"/>
            <a:ext cx="1417320" cy="1188720"/>
          </a:xfrm>
          <a:prstGeom prst="diamond">
            <a:avLst/>
          </a:prstGeom>
          <a:solidFill>
            <a:srgbClr val="1E252F"/>
          </a:solidFill>
          <a:ln w="12700">
            <a:solidFill>
              <a:srgbClr val="2E3845"/>
            </a:solidFill>
          </a:ln>
        </p:spPr>
        <p:txBody>
          <a:bodyPr wrap="square" lIns="25400" tIns="25400" rIns="25400" bIns="254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Crosswalk seen?</a:t>
            </a:r>
            <a:endParaRPr lang="en-US" sz="1200" dirty="0"/>
          </a:p>
        </p:txBody>
      </p:sp>
      <p:sp>
        <p:nvSpPr>
          <p:cNvPr id="20" name="Text 18"/>
          <p:cNvSpPr txBox="1"/>
          <p:nvPr/>
        </p:nvSpPr>
        <p:spPr>
          <a:xfrm>
            <a:off x="3566160" y="1764792"/>
            <a:ext cx="1417320" cy="228600"/>
          </a:xfrm>
          <a:prstGeom prst="rect">
            <a:avLst/>
          </a:prstGeom>
          <a:noFill/>
          <a:ln/>
        </p:spPr>
        <p:txBody>
          <a:bodyPr wrap="square" lIns="0" tIns="0" rIns="0" bIns="0" rtlCol="0" anchor="t"/>
          <a:lstStyle/>
          <a:p>
            <a:pPr algn="ctr" indent="0" marL="0">
              <a:buNone/>
            </a:pPr>
            <a:r>
              <a:rPr lang="en-US" sz="1100" b="1" spc="100" kern="0" dirty="0">
                <a:solidFill>
                  <a:srgbClr val="A3ACBA"/>
                </a:solidFill>
                <a:latin typeface="Calibri" pitchFamily="34" charset="0"/>
                <a:ea typeface="Calibri" pitchFamily="34" charset="-122"/>
                <a:cs typeface="Calibri" pitchFamily="34" charset="-120"/>
              </a:rPr>
              <a:t>RULE 2</a:t>
            </a:r>
            <a:endParaRPr lang="en-US" sz="1100" dirty="0"/>
          </a:p>
        </p:txBody>
      </p:sp>
      <p:sp>
        <p:nvSpPr>
          <p:cNvPr id="21" name="Text 19"/>
          <p:cNvSpPr txBox="1"/>
          <p:nvPr/>
        </p:nvSpPr>
        <p:spPr>
          <a:xfrm>
            <a:off x="3566160" y="2002536"/>
            <a:ext cx="1417320" cy="228600"/>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any conf</a:t>
            </a:r>
            <a:endParaRPr lang="en-US" sz="1050" dirty="0"/>
          </a:p>
        </p:txBody>
      </p:sp>
      <p:sp>
        <p:nvSpPr>
          <p:cNvPr id="22" name="Text 20"/>
          <p:cNvSpPr txBox="1"/>
          <p:nvPr/>
        </p:nvSpPr>
        <p:spPr>
          <a:xfrm>
            <a:off x="3566160" y="2331720"/>
            <a:ext cx="1417320" cy="1188720"/>
          </a:xfrm>
          <a:prstGeom prst="diamond">
            <a:avLst/>
          </a:prstGeom>
          <a:solidFill>
            <a:srgbClr val="1E252F"/>
          </a:solidFill>
          <a:ln w="12700">
            <a:solidFill>
              <a:srgbClr val="2E3845"/>
            </a:solidFill>
          </a:ln>
        </p:spPr>
        <p:txBody>
          <a:bodyPr wrap="square" lIns="25400" tIns="25400" rIns="25400" bIns="254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Red signal?</a:t>
            </a:r>
            <a:endParaRPr lang="en-US" sz="1200" dirty="0"/>
          </a:p>
        </p:txBody>
      </p:sp>
      <p:sp>
        <p:nvSpPr>
          <p:cNvPr id="23" name="Text 21"/>
          <p:cNvSpPr txBox="1"/>
          <p:nvPr/>
        </p:nvSpPr>
        <p:spPr>
          <a:xfrm>
            <a:off x="5394960" y="1764792"/>
            <a:ext cx="1417320" cy="228600"/>
          </a:xfrm>
          <a:prstGeom prst="rect">
            <a:avLst/>
          </a:prstGeom>
          <a:noFill/>
          <a:ln/>
        </p:spPr>
        <p:txBody>
          <a:bodyPr wrap="square" lIns="0" tIns="0" rIns="0" bIns="0" rtlCol="0" anchor="t"/>
          <a:lstStyle/>
          <a:p>
            <a:pPr algn="ctr" indent="0" marL="0">
              <a:buNone/>
            </a:pPr>
            <a:r>
              <a:rPr lang="en-US" sz="1100" b="1" spc="100" kern="0" dirty="0">
                <a:solidFill>
                  <a:srgbClr val="A3ACBA"/>
                </a:solidFill>
                <a:latin typeface="Calibri" pitchFamily="34" charset="0"/>
                <a:ea typeface="Calibri" pitchFamily="34" charset="-122"/>
                <a:cs typeface="Calibri" pitchFamily="34" charset="-120"/>
              </a:rPr>
              <a:t>RULE 3</a:t>
            </a:r>
            <a:endParaRPr lang="en-US" sz="1100" dirty="0"/>
          </a:p>
        </p:txBody>
      </p:sp>
      <p:sp>
        <p:nvSpPr>
          <p:cNvPr id="24" name="Text 22"/>
          <p:cNvSpPr txBox="1"/>
          <p:nvPr/>
        </p:nvSpPr>
        <p:spPr>
          <a:xfrm>
            <a:off x="5394960" y="2331720"/>
            <a:ext cx="1417320" cy="1188720"/>
          </a:xfrm>
          <a:prstGeom prst="diamond">
            <a:avLst/>
          </a:prstGeom>
          <a:solidFill>
            <a:srgbClr val="1E252F"/>
          </a:solidFill>
          <a:ln w="12700">
            <a:solidFill>
              <a:srgbClr val="2E3845"/>
            </a:solidFill>
          </a:ln>
        </p:spPr>
        <p:txBody>
          <a:bodyPr wrap="square" lIns="25400" tIns="25400" rIns="25400" bIns="254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Vehicle turning across?</a:t>
            </a:r>
            <a:endParaRPr lang="en-US" sz="1200" dirty="0"/>
          </a:p>
        </p:txBody>
      </p:sp>
      <p:sp>
        <p:nvSpPr>
          <p:cNvPr id="25" name="Text 23"/>
          <p:cNvSpPr txBox="1"/>
          <p:nvPr/>
        </p:nvSpPr>
        <p:spPr>
          <a:xfrm>
            <a:off x="7223760" y="1764792"/>
            <a:ext cx="1417320" cy="228600"/>
          </a:xfrm>
          <a:prstGeom prst="rect">
            <a:avLst/>
          </a:prstGeom>
          <a:noFill/>
          <a:ln/>
        </p:spPr>
        <p:txBody>
          <a:bodyPr wrap="square" lIns="0" tIns="0" rIns="0" bIns="0" rtlCol="0" anchor="t"/>
          <a:lstStyle/>
          <a:p>
            <a:pPr algn="ctr" indent="0" marL="0">
              <a:buNone/>
            </a:pPr>
            <a:r>
              <a:rPr lang="en-US" sz="1100" b="1" spc="100" kern="0" dirty="0">
                <a:solidFill>
                  <a:srgbClr val="A3ACBA"/>
                </a:solidFill>
                <a:latin typeface="Calibri" pitchFamily="34" charset="0"/>
                <a:ea typeface="Calibri" pitchFamily="34" charset="-122"/>
                <a:cs typeface="Calibri" pitchFamily="34" charset="-120"/>
              </a:rPr>
              <a:t>RULE 4</a:t>
            </a:r>
            <a:endParaRPr lang="en-US" sz="1100" dirty="0"/>
          </a:p>
        </p:txBody>
      </p:sp>
      <p:sp>
        <p:nvSpPr>
          <p:cNvPr id="26" name="Text 24"/>
          <p:cNvSpPr txBox="1"/>
          <p:nvPr/>
        </p:nvSpPr>
        <p:spPr>
          <a:xfrm>
            <a:off x="7223760" y="2331720"/>
            <a:ext cx="1417320" cy="1188720"/>
          </a:xfrm>
          <a:prstGeom prst="diamond">
            <a:avLst/>
          </a:prstGeom>
          <a:solidFill>
            <a:srgbClr val="1E252F"/>
          </a:solidFill>
          <a:ln w="12700">
            <a:solidFill>
              <a:srgbClr val="2E3845"/>
            </a:solidFill>
          </a:ln>
        </p:spPr>
        <p:txBody>
          <a:bodyPr wrap="square" lIns="25400" tIns="25400" rIns="25400" bIns="254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Any TTC &lt; 5 s?</a:t>
            </a:r>
            <a:endParaRPr lang="en-US" sz="1200" dirty="0"/>
          </a:p>
        </p:txBody>
      </p:sp>
      <p:sp>
        <p:nvSpPr>
          <p:cNvPr id="27" name="Text 25"/>
          <p:cNvSpPr txBox="1"/>
          <p:nvPr/>
        </p:nvSpPr>
        <p:spPr>
          <a:xfrm>
            <a:off x="9052560" y="1764792"/>
            <a:ext cx="1417320" cy="228600"/>
          </a:xfrm>
          <a:prstGeom prst="rect">
            <a:avLst/>
          </a:prstGeom>
          <a:noFill/>
          <a:ln/>
        </p:spPr>
        <p:txBody>
          <a:bodyPr wrap="square" lIns="0" tIns="0" rIns="0" bIns="0" rtlCol="0" anchor="t"/>
          <a:lstStyle/>
          <a:p>
            <a:pPr algn="ctr" indent="0" marL="0">
              <a:buNone/>
            </a:pPr>
            <a:r>
              <a:rPr lang="en-US" sz="1100" b="1" spc="100" kern="0" dirty="0">
                <a:solidFill>
                  <a:srgbClr val="A3ACBA"/>
                </a:solidFill>
                <a:latin typeface="Calibri" pitchFamily="34" charset="0"/>
                <a:ea typeface="Calibri" pitchFamily="34" charset="-122"/>
                <a:cs typeface="Calibri" pitchFamily="34" charset="-120"/>
              </a:rPr>
              <a:t>RULE 5</a:t>
            </a:r>
            <a:endParaRPr lang="en-US" sz="1100" dirty="0"/>
          </a:p>
        </p:txBody>
      </p:sp>
      <p:sp>
        <p:nvSpPr>
          <p:cNvPr id="28" name="Text 26"/>
          <p:cNvSpPr txBox="1"/>
          <p:nvPr/>
        </p:nvSpPr>
        <p:spPr>
          <a:xfrm>
            <a:off x="9052560" y="2002536"/>
            <a:ext cx="1417320" cy="228600"/>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conf ≥ 0.6</a:t>
            </a:r>
            <a:endParaRPr lang="en-US" sz="1050" dirty="0"/>
          </a:p>
        </p:txBody>
      </p:sp>
      <p:sp>
        <p:nvSpPr>
          <p:cNvPr id="29" name="Text 27"/>
          <p:cNvSpPr txBox="1"/>
          <p:nvPr/>
        </p:nvSpPr>
        <p:spPr>
          <a:xfrm>
            <a:off x="9052560" y="2331720"/>
            <a:ext cx="1417320" cy="1188720"/>
          </a:xfrm>
          <a:prstGeom prst="diamond">
            <a:avLst/>
          </a:prstGeom>
          <a:solidFill>
            <a:srgbClr val="1E252F"/>
          </a:solidFill>
          <a:ln w="12700">
            <a:solidFill>
              <a:srgbClr val="2E3845"/>
            </a:solidFill>
          </a:ln>
        </p:spPr>
        <p:txBody>
          <a:bodyPr wrap="square" lIns="25400" tIns="25400" rIns="25400" bIns="25400" rtlCol="0" anchor="ctr"/>
          <a:lstStyle/>
          <a:p>
            <a:pPr algn="ctr" indent="0" marL="0">
              <a:buNone/>
            </a:pPr>
            <a:r>
              <a:rPr lang="en-US" sz="1200" b="1" dirty="0">
                <a:solidFill>
                  <a:srgbClr val="F2F4F7"/>
                </a:solidFill>
                <a:latin typeface="Calibri" pitchFamily="34" charset="0"/>
                <a:ea typeface="Calibri" pitchFamily="34" charset="-122"/>
                <a:cs typeface="Calibri" pitchFamily="34" charset="-120"/>
              </a:rPr>
              <a:t>Green AND road clear?</a:t>
            </a:r>
            <a:endParaRPr lang="en-US" sz="1200" dirty="0"/>
          </a:p>
        </p:txBody>
      </p:sp>
      <p:sp>
        <p:nvSpPr>
          <p:cNvPr id="30" name="Shape 28"/>
          <p:cNvSpPr/>
          <p:nvPr/>
        </p:nvSpPr>
        <p:spPr>
          <a:xfrm>
            <a:off x="3172968" y="2926080"/>
            <a:ext cx="374904" cy="0"/>
          </a:xfrm>
          <a:prstGeom prst="line">
            <a:avLst/>
          </a:prstGeom>
          <a:noFill/>
          <a:ln w="19050">
            <a:solidFill>
              <a:srgbClr val="A3ACBA"/>
            </a:solidFill>
            <a:prstDash val="solid"/>
            <a:tailEnd type="triangle"/>
          </a:ln>
        </p:spPr>
      </p:sp>
      <p:sp>
        <p:nvSpPr>
          <p:cNvPr id="31" name="Text 29"/>
          <p:cNvSpPr txBox="1"/>
          <p:nvPr/>
        </p:nvSpPr>
        <p:spPr>
          <a:xfrm>
            <a:off x="3154680" y="2633472"/>
            <a:ext cx="411480" cy="22860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yes</a:t>
            </a:r>
            <a:endParaRPr lang="en-US" sz="1100" dirty="0"/>
          </a:p>
        </p:txBody>
      </p:sp>
      <p:sp>
        <p:nvSpPr>
          <p:cNvPr id="32" name="Shape 30"/>
          <p:cNvSpPr/>
          <p:nvPr/>
        </p:nvSpPr>
        <p:spPr>
          <a:xfrm>
            <a:off x="5001768" y="2926080"/>
            <a:ext cx="374904" cy="0"/>
          </a:xfrm>
          <a:prstGeom prst="line">
            <a:avLst/>
          </a:prstGeom>
          <a:noFill/>
          <a:ln w="19050">
            <a:solidFill>
              <a:srgbClr val="A3ACBA"/>
            </a:solidFill>
            <a:prstDash val="solid"/>
            <a:tailEnd type="triangle"/>
          </a:ln>
        </p:spPr>
      </p:sp>
      <p:sp>
        <p:nvSpPr>
          <p:cNvPr id="33" name="Text 31"/>
          <p:cNvSpPr txBox="1"/>
          <p:nvPr/>
        </p:nvSpPr>
        <p:spPr>
          <a:xfrm>
            <a:off x="4983480" y="2633472"/>
            <a:ext cx="411480" cy="22860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no</a:t>
            </a:r>
            <a:endParaRPr lang="en-US" sz="1100" dirty="0"/>
          </a:p>
        </p:txBody>
      </p:sp>
      <p:sp>
        <p:nvSpPr>
          <p:cNvPr id="34" name="Shape 32"/>
          <p:cNvSpPr/>
          <p:nvPr/>
        </p:nvSpPr>
        <p:spPr>
          <a:xfrm>
            <a:off x="6830568" y="2926080"/>
            <a:ext cx="374904" cy="0"/>
          </a:xfrm>
          <a:prstGeom prst="line">
            <a:avLst/>
          </a:prstGeom>
          <a:noFill/>
          <a:ln w="19050">
            <a:solidFill>
              <a:srgbClr val="A3ACBA"/>
            </a:solidFill>
            <a:prstDash val="solid"/>
            <a:tailEnd type="triangle"/>
          </a:ln>
        </p:spPr>
      </p:sp>
      <p:sp>
        <p:nvSpPr>
          <p:cNvPr id="35" name="Text 33"/>
          <p:cNvSpPr txBox="1"/>
          <p:nvPr/>
        </p:nvSpPr>
        <p:spPr>
          <a:xfrm>
            <a:off x="6812280" y="2633472"/>
            <a:ext cx="411480" cy="22860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no</a:t>
            </a:r>
            <a:endParaRPr lang="en-US" sz="1100" dirty="0"/>
          </a:p>
        </p:txBody>
      </p:sp>
      <p:sp>
        <p:nvSpPr>
          <p:cNvPr id="36" name="Shape 34"/>
          <p:cNvSpPr/>
          <p:nvPr/>
        </p:nvSpPr>
        <p:spPr>
          <a:xfrm>
            <a:off x="8659368" y="2926080"/>
            <a:ext cx="374904" cy="0"/>
          </a:xfrm>
          <a:prstGeom prst="line">
            <a:avLst/>
          </a:prstGeom>
          <a:noFill/>
          <a:ln w="19050">
            <a:solidFill>
              <a:srgbClr val="A3ACBA"/>
            </a:solidFill>
            <a:prstDash val="solid"/>
            <a:tailEnd type="triangle"/>
          </a:ln>
        </p:spPr>
      </p:sp>
      <p:sp>
        <p:nvSpPr>
          <p:cNvPr id="37" name="Text 35"/>
          <p:cNvSpPr txBox="1"/>
          <p:nvPr/>
        </p:nvSpPr>
        <p:spPr>
          <a:xfrm>
            <a:off x="8641080" y="2633472"/>
            <a:ext cx="411480" cy="22860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no</a:t>
            </a:r>
            <a:endParaRPr lang="en-US" sz="1100" dirty="0"/>
          </a:p>
        </p:txBody>
      </p:sp>
      <p:sp>
        <p:nvSpPr>
          <p:cNvPr id="38" name="Shape 36"/>
          <p:cNvSpPr/>
          <p:nvPr/>
        </p:nvSpPr>
        <p:spPr>
          <a:xfrm>
            <a:off x="10488168" y="2926080"/>
            <a:ext cx="283464" cy="0"/>
          </a:xfrm>
          <a:prstGeom prst="line">
            <a:avLst/>
          </a:prstGeom>
          <a:noFill/>
          <a:ln w="15875">
            <a:solidFill>
              <a:srgbClr val="3DD68C"/>
            </a:solidFill>
            <a:prstDash val="solid"/>
            <a:tailEnd type="triangle"/>
          </a:ln>
        </p:spPr>
      </p:sp>
      <p:sp>
        <p:nvSpPr>
          <p:cNvPr id="39" name="Text 37"/>
          <p:cNvSpPr txBox="1"/>
          <p:nvPr/>
        </p:nvSpPr>
        <p:spPr>
          <a:xfrm>
            <a:off x="10469880" y="2633472"/>
            <a:ext cx="320040" cy="228600"/>
          </a:xfrm>
          <a:prstGeom prst="rect">
            <a:avLst/>
          </a:prstGeom>
          <a:noFill/>
          <a:ln/>
        </p:spPr>
        <p:txBody>
          <a:bodyPr wrap="square" lIns="0" tIns="0" rIns="0" bIns="0" rtlCol="0" anchor="t"/>
          <a:lstStyle/>
          <a:p>
            <a:pPr algn="ctr" indent="0" marL="0">
              <a:buNone/>
            </a:pPr>
            <a:r>
              <a:rPr lang="en-US" sz="1100" dirty="0">
                <a:solidFill>
                  <a:srgbClr val="3DD68C"/>
                </a:solidFill>
                <a:latin typeface="Calibri" pitchFamily="34" charset="0"/>
                <a:ea typeface="Calibri" pitchFamily="34" charset="-122"/>
                <a:cs typeface="Calibri" pitchFamily="34" charset="-120"/>
              </a:rPr>
              <a:t>yes</a:t>
            </a:r>
            <a:endParaRPr lang="en-US" sz="1100" dirty="0"/>
          </a:p>
        </p:txBody>
      </p:sp>
      <p:sp>
        <p:nvSpPr>
          <p:cNvPr id="40" name="Text 38"/>
          <p:cNvSpPr txBox="1"/>
          <p:nvPr/>
        </p:nvSpPr>
        <p:spPr>
          <a:xfrm>
            <a:off x="10789920" y="2606040"/>
            <a:ext cx="850392" cy="640080"/>
          </a:xfrm>
          <a:prstGeom prst="roundRect">
            <a:avLst>
              <a:gd name="adj" fmla="val 14286"/>
            </a:avLst>
          </a:prstGeom>
          <a:solidFill>
            <a:srgbClr val="3DD68C">
              <a:alpha val="15000"/>
            </a:srgbClr>
          </a:solidFill>
          <a:ln w="15875">
            <a:solidFill>
              <a:srgbClr val="3DD68C"/>
            </a:solidFill>
          </a:ln>
        </p:spPr>
        <p:txBody>
          <a:bodyPr wrap="square" lIns="0" tIns="0" rIns="0" bIns="0" rtlCol="0" anchor="ctr"/>
          <a:lstStyle/>
          <a:p>
            <a:pPr algn="ctr" indent="0" marL="0">
              <a:buNone/>
            </a:pPr>
            <a:r>
              <a:rPr lang="en-US" sz="1400" b="1" dirty="0">
                <a:solidFill>
                  <a:srgbClr val="3DD68C"/>
                </a:solidFill>
                <a:latin typeface="Calibri" pitchFamily="34" charset="0"/>
                <a:ea typeface="Calibri" pitchFamily="34" charset="-122"/>
                <a:cs typeface="Calibri" pitchFamily="34" charset="-120"/>
              </a:rPr>
              <a:t>SAFE</a:t>
            </a:r>
            <a:endParaRPr lang="en-US" sz="1400" dirty="0"/>
          </a:p>
        </p:txBody>
      </p:sp>
      <p:sp>
        <p:nvSpPr>
          <p:cNvPr id="41" name="Text 39"/>
          <p:cNvSpPr txBox="1"/>
          <p:nvPr/>
        </p:nvSpPr>
        <p:spPr>
          <a:xfrm>
            <a:off x="10012680" y="3337560"/>
            <a:ext cx="1645920" cy="457200"/>
          </a:xfrm>
          <a:prstGeom prst="rect">
            <a:avLst/>
          </a:prstGeom>
          <a:noFill/>
          <a:ln/>
        </p:spPr>
        <p:txBody>
          <a:bodyPr wrap="square" lIns="0" tIns="0" rIns="0" bIns="0" rtlCol="0" anchor="t"/>
          <a:lstStyle/>
          <a:p>
            <a:pPr algn="r" indent="0" marL="0">
              <a:buNone/>
            </a:pPr>
            <a:r>
              <a:rPr lang="en-US" sz="1050" dirty="0">
                <a:solidFill>
                  <a:srgbClr val="3DD68C"/>
                </a:solidFill>
                <a:latin typeface="Calibri" pitchFamily="34" charset="0"/>
                <a:ea typeface="Calibri" pitchFamily="34" charset="-122"/>
                <a:cs typeface="Calibri" pitchFamily="34" charset="-120"/>
              </a:rPr>
              <a:t>the only way in,</a:t>
            </a:r>
            <a:endParaRPr lang="en-US" sz="1050" dirty="0"/>
          </a:p>
          <a:p>
            <a:pPr algn="r" indent="0" marL="0">
              <a:buNone/>
            </a:pPr>
            <a:r>
              <a:rPr lang="en-US" sz="1050" dirty="0">
                <a:solidFill>
                  <a:srgbClr val="3DD68C"/>
                </a:solidFill>
                <a:latin typeface="Calibri" pitchFamily="34" charset="0"/>
                <a:ea typeface="Calibri" pitchFamily="34" charset="-122"/>
                <a:cs typeface="Calibri" pitchFamily="34" charset="-120"/>
              </a:rPr>
              <a:t>then an 8-frame vote</a:t>
            </a:r>
            <a:endParaRPr lang="en-US" sz="1050" dirty="0"/>
          </a:p>
        </p:txBody>
      </p:sp>
      <p:sp>
        <p:nvSpPr>
          <p:cNvPr id="42" name="Shape 40"/>
          <p:cNvSpPr/>
          <p:nvPr/>
        </p:nvSpPr>
        <p:spPr>
          <a:xfrm>
            <a:off x="2446020" y="3538728"/>
            <a:ext cx="0" cy="1060704"/>
          </a:xfrm>
          <a:prstGeom prst="line">
            <a:avLst/>
          </a:prstGeom>
          <a:noFill/>
          <a:ln w="31750">
            <a:solidFill>
              <a:srgbClr val="F5B43C"/>
            </a:solidFill>
            <a:prstDash val="solid"/>
            <a:tailEnd type="triangle"/>
          </a:ln>
        </p:spPr>
      </p:sp>
      <p:sp>
        <p:nvSpPr>
          <p:cNvPr id="43" name="Text 41"/>
          <p:cNvSpPr txBox="1"/>
          <p:nvPr/>
        </p:nvSpPr>
        <p:spPr>
          <a:xfrm>
            <a:off x="2519172" y="3657600"/>
            <a:ext cx="365760" cy="228600"/>
          </a:xfrm>
          <a:prstGeom prst="rect">
            <a:avLst/>
          </a:prstGeom>
          <a:noFill/>
          <a:ln/>
        </p:spPr>
        <p:txBody>
          <a:bodyPr wrap="square" lIns="0" tIns="0" rIns="0" bIns="0" rtlCol="0" anchor="t"/>
          <a:lstStyle/>
          <a:p>
            <a:pPr indent="0" marL="0">
              <a:buNone/>
            </a:pPr>
            <a:r>
              <a:rPr lang="en-US" sz="1100" b="1" dirty="0">
                <a:solidFill>
                  <a:srgbClr val="F5B43C"/>
                </a:solidFill>
                <a:latin typeface="Calibri" pitchFamily="34" charset="0"/>
                <a:ea typeface="Calibri" pitchFamily="34" charset="-122"/>
                <a:cs typeface="Calibri" pitchFamily="34" charset="-120"/>
              </a:rPr>
              <a:t>no</a:t>
            </a:r>
            <a:endParaRPr lang="en-US" sz="1100" dirty="0"/>
          </a:p>
        </p:txBody>
      </p:sp>
      <p:sp>
        <p:nvSpPr>
          <p:cNvPr id="44" name="Text 42"/>
          <p:cNvSpPr txBox="1"/>
          <p:nvPr/>
        </p:nvSpPr>
        <p:spPr>
          <a:xfrm>
            <a:off x="1691640" y="4617720"/>
            <a:ext cx="1508760" cy="960120"/>
          </a:xfrm>
          <a:prstGeom prst="roundRect">
            <a:avLst>
              <a:gd name="adj" fmla="val 9524"/>
            </a:avLst>
          </a:prstGeom>
          <a:solidFill>
            <a:srgbClr val="F5B43C">
              <a:alpha val="20000"/>
            </a:srgbClr>
          </a:solidFill>
          <a:ln w="19050">
            <a:solidFill>
              <a:srgbClr val="F5B43C"/>
            </a:solidFill>
          </a:ln>
        </p:spPr>
        <p:txBody>
          <a:bodyPr wrap="square" lIns="50800" tIns="50800" rIns="50800" bIns="50800" rtlCol="0" anchor="ctr"/>
          <a:lstStyle/>
          <a:p>
            <a:pPr algn="ctr" indent="0" marL="0">
              <a:buNone/>
            </a:pPr>
            <a:r>
              <a:rPr lang="en-US" sz="1400" b="1" dirty="0">
                <a:solidFill>
                  <a:srgbClr val="F5B43C"/>
                </a:solidFill>
                <a:latin typeface="Calibri" pitchFamily="34" charset="0"/>
                <a:ea typeface="Calibri" pitchFamily="34" charset="-122"/>
                <a:cs typeface="Calibri" pitchFamily="34" charset="-120"/>
              </a:rPr>
              <a:t>SEARCHING</a:t>
            </a:r>
            <a:endParaRPr lang="en-US" sz="1400" dirty="0"/>
          </a:p>
        </p:txBody>
      </p:sp>
      <p:sp>
        <p:nvSpPr>
          <p:cNvPr id="45" name="Shape 43"/>
          <p:cNvSpPr/>
          <p:nvPr/>
        </p:nvSpPr>
        <p:spPr>
          <a:xfrm>
            <a:off x="4274820" y="3538728"/>
            <a:ext cx="0" cy="1060704"/>
          </a:xfrm>
          <a:prstGeom prst="line">
            <a:avLst/>
          </a:prstGeom>
          <a:noFill/>
          <a:ln w="57150">
            <a:solidFill>
              <a:srgbClr val="F2545B"/>
            </a:solidFill>
            <a:prstDash val="solid"/>
            <a:tailEnd type="triangle"/>
          </a:ln>
        </p:spPr>
      </p:sp>
      <p:sp>
        <p:nvSpPr>
          <p:cNvPr id="46" name="Text 44"/>
          <p:cNvSpPr txBox="1"/>
          <p:nvPr/>
        </p:nvSpPr>
        <p:spPr>
          <a:xfrm>
            <a:off x="4366260" y="3657600"/>
            <a:ext cx="1005840" cy="22860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yes</a:t>
            </a:r>
            <a:endParaRPr lang="en-US" sz="1100" dirty="0"/>
          </a:p>
        </p:txBody>
      </p:sp>
      <p:sp>
        <p:nvSpPr>
          <p:cNvPr id="47" name="Shape 45"/>
          <p:cNvSpPr/>
          <p:nvPr/>
        </p:nvSpPr>
        <p:spPr>
          <a:xfrm>
            <a:off x="6103620" y="3538728"/>
            <a:ext cx="0" cy="1060704"/>
          </a:xfrm>
          <a:prstGeom prst="line">
            <a:avLst/>
          </a:prstGeom>
          <a:noFill/>
          <a:ln w="57150">
            <a:solidFill>
              <a:srgbClr val="F2545B"/>
            </a:solidFill>
            <a:prstDash val="solid"/>
            <a:tailEnd type="triangle"/>
          </a:ln>
        </p:spPr>
      </p:sp>
      <p:sp>
        <p:nvSpPr>
          <p:cNvPr id="48" name="Text 46"/>
          <p:cNvSpPr txBox="1"/>
          <p:nvPr/>
        </p:nvSpPr>
        <p:spPr>
          <a:xfrm>
            <a:off x="6195060" y="3657600"/>
            <a:ext cx="1005840" cy="22860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yes</a:t>
            </a:r>
            <a:endParaRPr lang="en-US" sz="1100" dirty="0"/>
          </a:p>
        </p:txBody>
      </p:sp>
      <p:sp>
        <p:nvSpPr>
          <p:cNvPr id="49" name="Shape 47"/>
          <p:cNvSpPr/>
          <p:nvPr/>
        </p:nvSpPr>
        <p:spPr>
          <a:xfrm>
            <a:off x="7932420" y="3538728"/>
            <a:ext cx="0" cy="1060704"/>
          </a:xfrm>
          <a:prstGeom prst="line">
            <a:avLst/>
          </a:prstGeom>
          <a:noFill/>
          <a:ln w="57150">
            <a:solidFill>
              <a:srgbClr val="F2545B"/>
            </a:solidFill>
            <a:prstDash val="solid"/>
            <a:tailEnd type="triangle"/>
          </a:ln>
        </p:spPr>
      </p:sp>
      <p:sp>
        <p:nvSpPr>
          <p:cNvPr id="50" name="Text 48"/>
          <p:cNvSpPr txBox="1"/>
          <p:nvPr/>
        </p:nvSpPr>
        <p:spPr>
          <a:xfrm>
            <a:off x="8023860" y="3657600"/>
            <a:ext cx="1005840" cy="22860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yes</a:t>
            </a:r>
            <a:endParaRPr lang="en-US" sz="1100" dirty="0"/>
          </a:p>
        </p:txBody>
      </p:sp>
      <p:sp>
        <p:nvSpPr>
          <p:cNvPr id="51" name="Shape 49"/>
          <p:cNvSpPr/>
          <p:nvPr/>
        </p:nvSpPr>
        <p:spPr>
          <a:xfrm>
            <a:off x="9761220" y="3538728"/>
            <a:ext cx="0" cy="1060704"/>
          </a:xfrm>
          <a:prstGeom prst="line">
            <a:avLst/>
          </a:prstGeom>
          <a:noFill/>
          <a:ln w="57150">
            <a:solidFill>
              <a:srgbClr val="F2545B"/>
            </a:solidFill>
            <a:prstDash val="solid"/>
            <a:tailEnd type="triangle"/>
          </a:ln>
        </p:spPr>
      </p:sp>
      <p:sp>
        <p:nvSpPr>
          <p:cNvPr id="52" name="Text 50"/>
          <p:cNvSpPr txBox="1"/>
          <p:nvPr/>
        </p:nvSpPr>
        <p:spPr>
          <a:xfrm>
            <a:off x="9852660" y="3657600"/>
            <a:ext cx="1005840" cy="228600"/>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no  (rule 6)</a:t>
            </a:r>
            <a:endParaRPr lang="en-US" sz="1100" dirty="0"/>
          </a:p>
        </p:txBody>
      </p:sp>
      <p:sp>
        <p:nvSpPr>
          <p:cNvPr id="53" name="Shape 51"/>
          <p:cNvSpPr/>
          <p:nvPr/>
        </p:nvSpPr>
        <p:spPr>
          <a:xfrm>
            <a:off x="3520440" y="4617720"/>
            <a:ext cx="6995160" cy="960120"/>
          </a:xfrm>
          <a:prstGeom prst="roundRect">
            <a:avLst>
              <a:gd name="adj" fmla="val 9524"/>
            </a:avLst>
          </a:prstGeom>
          <a:solidFill>
            <a:srgbClr val="F2545B"/>
          </a:solidFill>
          <a:ln/>
        </p:spPr>
      </p:sp>
      <p:sp>
        <p:nvSpPr>
          <p:cNvPr id="54" name="Text 52"/>
          <p:cNvSpPr txBox="1"/>
          <p:nvPr/>
        </p:nvSpPr>
        <p:spPr>
          <a:xfrm>
            <a:off x="3749040" y="4617720"/>
            <a:ext cx="6858000" cy="9601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WAIT</a:t>
            </a:r>
            <a:pPr indent="0" marL="0">
              <a:buNone/>
            </a:pPr>
            <a:r>
              <a:rPr lang="en-US" sz="1500" dirty="0">
                <a:solidFill>
                  <a:srgbClr val="FFFFFF"/>
                </a:solidFill>
                <a:latin typeface="Calibri" pitchFamily="34" charset="0"/>
                <a:ea typeface="Calibri" pitchFamily="34" charset="-122"/>
                <a:cs typeface="Calibri" pitchFamily="34" charset="-120"/>
              </a:rPr>
              <a:t>    the default: 4 of the 6 outcomes land here</a:t>
            </a:r>
            <a:endParaRPr lang="en-US" sz="1400" dirty="0"/>
          </a:p>
        </p:txBody>
      </p:sp>
      <p:sp>
        <p:nvSpPr>
          <p:cNvPr id="55" name="Text 53"/>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dirty="0">
                <a:solidFill>
                  <a:srgbClr val="A3ACBA"/>
                </a:solidFill>
                <a:latin typeface="Calibri" pitchFamily="34" charset="0"/>
                <a:ea typeface="Calibri" pitchFamily="34" charset="-122"/>
                <a:cs typeface="Calibri" pitchFamily="34" charset="-120"/>
              </a:rPr>
              <a:t>Rule 6: anything not explicitly safe (no signal seen, a low-confidence green, a vehicle not yet assessable) falls through to WAIT.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WORKFLOW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F2F4F7"/>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Hysteresis: slow to permit, instant to withdraw</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18</a:t>
            </a:r>
            <a:endParaRPr lang="en-US" sz="1000" dirty="0"/>
          </a:p>
        </p:txBody>
      </p:sp>
      <p:sp>
        <p:nvSpPr>
          <p:cNvPr id="15" name="Text 13"/>
          <p:cNvSpPr txBox="1"/>
          <p:nvPr/>
        </p:nvSpPr>
        <p:spPr>
          <a:xfrm>
            <a:off x="548640" y="1645920"/>
            <a:ext cx="2011680" cy="256032"/>
          </a:xfrm>
          <a:prstGeom prst="rect">
            <a:avLst/>
          </a:prstGeom>
          <a:noFill/>
          <a:ln/>
        </p:spPr>
        <p:txBody>
          <a:bodyPr wrap="square" lIns="0" tIns="0" rIns="0" bIns="0" rtlCol="0" anchor="t"/>
          <a:lstStyle/>
          <a:p>
            <a:pPr indent="0" marL="0">
              <a:buNone/>
            </a:pPr>
            <a:r>
              <a:rPr lang="en-US" sz="1100" dirty="0">
                <a:solidFill>
                  <a:srgbClr val="667085"/>
                </a:solidFill>
                <a:latin typeface="Calibri" pitchFamily="34" charset="0"/>
                <a:ea typeface="Calibri" pitchFamily="34" charset="-122"/>
                <a:cs typeface="Calibri" pitchFamily="34" charset="-120"/>
              </a:rPr>
              <a:t>frame</a:t>
            </a:r>
            <a:endParaRPr lang="en-US" sz="1100" dirty="0"/>
          </a:p>
        </p:txBody>
      </p:sp>
      <p:sp>
        <p:nvSpPr>
          <p:cNvPr id="16" name="Text 14"/>
          <p:cNvSpPr txBox="1"/>
          <p:nvPr/>
        </p:nvSpPr>
        <p:spPr>
          <a:xfrm>
            <a:off x="548640" y="1965960"/>
            <a:ext cx="2057400" cy="475488"/>
          </a:xfrm>
          <a:prstGeom prst="rect">
            <a:avLst/>
          </a:prstGeom>
          <a:noFill/>
          <a:ln/>
        </p:spPr>
        <p:txBody>
          <a:bodyPr wrap="square" lIns="0" tIns="0" rIns="0" bIns="0" rtlCol="0" anchor="ctr"/>
          <a:lstStyle/>
          <a:p>
            <a:pPr indent="0" marL="0">
              <a:buNone/>
            </a:pPr>
            <a:r>
              <a:rPr lang="en-US" sz="1250" dirty="0">
                <a:solidFill>
                  <a:srgbClr val="A3ACBA"/>
                </a:solidFill>
                <a:latin typeface="Calibri" pitchFamily="34" charset="0"/>
                <a:ea typeface="Calibri" pitchFamily="34" charset="-122"/>
                <a:cs typeface="Calibri" pitchFamily="34" charset="-120"/>
              </a:rPr>
              <a:t>Raw rule verdict</a:t>
            </a:r>
            <a:endParaRPr lang="en-US" sz="1250" dirty="0"/>
          </a:p>
          <a:p>
            <a:pPr indent="0" marL="0">
              <a:buNone/>
            </a:pPr>
            <a:r>
              <a:rPr lang="en-US" sz="1250" dirty="0">
                <a:solidFill>
                  <a:srgbClr val="A3ACBA"/>
                </a:solidFill>
                <a:latin typeface="Calibri" pitchFamily="34" charset="0"/>
                <a:ea typeface="Calibri" pitchFamily="34" charset="-122"/>
                <a:cs typeface="Calibri" pitchFamily="34" charset="-120"/>
              </a:rPr>
              <a:t>(this frame only)</a:t>
            </a:r>
            <a:endParaRPr lang="en-US" sz="1250" dirty="0"/>
          </a:p>
        </p:txBody>
      </p:sp>
      <p:sp>
        <p:nvSpPr>
          <p:cNvPr id="17" name="Text 15"/>
          <p:cNvSpPr txBox="1"/>
          <p:nvPr/>
        </p:nvSpPr>
        <p:spPr>
          <a:xfrm>
            <a:off x="548640" y="2560320"/>
            <a:ext cx="2057400" cy="475488"/>
          </a:xfrm>
          <a:prstGeom prst="rect">
            <a:avLst/>
          </a:prstGeom>
          <a:noFill/>
          <a:ln/>
        </p:spPr>
        <p:txBody>
          <a:bodyPr wrap="square" lIns="0" tIns="0" rIns="0" bIns="0" rtlCol="0" anchor="ctr"/>
          <a:lstStyle/>
          <a:p>
            <a:pPr indent="0" marL="0">
              <a:buNone/>
            </a:pPr>
            <a:r>
              <a:rPr lang="en-US" sz="1250" dirty="0">
                <a:solidFill>
                  <a:srgbClr val="A3ACBA"/>
                </a:solidFill>
                <a:latin typeface="Calibri" pitchFamily="34" charset="0"/>
                <a:ea typeface="Calibri" pitchFamily="34" charset="-122"/>
                <a:cs typeface="Calibri" pitchFamily="34" charset="-120"/>
              </a:rPr>
              <a:t>Agreement counter</a:t>
            </a:r>
            <a:endParaRPr lang="en-US" sz="1250" dirty="0"/>
          </a:p>
        </p:txBody>
      </p:sp>
      <p:sp>
        <p:nvSpPr>
          <p:cNvPr id="18" name="Text 16"/>
          <p:cNvSpPr txBox="1"/>
          <p:nvPr/>
        </p:nvSpPr>
        <p:spPr>
          <a:xfrm>
            <a:off x="548640" y="3154680"/>
            <a:ext cx="2057400" cy="475488"/>
          </a:xfrm>
          <a:prstGeom prst="rect">
            <a:avLst/>
          </a:prstGeom>
          <a:noFill/>
          <a:ln/>
        </p:spPr>
        <p:txBody>
          <a:bodyPr wrap="square" lIns="0" tIns="0" rIns="0" bIns="0" rtlCol="0" anchor="ctr"/>
          <a:lstStyle/>
          <a:p>
            <a:pPr indent="0" marL="0">
              <a:buNone/>
            </a:pPr>
            <a:r>
              <a:rPr lang="en-US" sz="1250" b="1" dirty="0">
                <a:solidFill>
                  <a:srgbClr val="F2F4F7"/>
                </a:solidFill>
                <a:latin typeface="Calibri" pitchFamily="34" charset="0"/>
                <a:ea typeface="Calibri" pitchFamily="34" charset="-122"/>
                <a:cs typeface="Calibri" pitchFamily="34" charset="-120"/>
              </a:rPr>
              <a:t>Announced state</a:t>
            </a:r>
            <a:endParaRPr lang="en-US" sz="1250" dirty="0"/>
          </a:p>
        </p:txBody>
      </p:sp>
      <p:sp>
        <p:nvSpPr>
          <p:cNvPr id="19" name="Text 17"/>
          <p:cNvSpPr txBox="1"/>
          <p:nvPr/>
        </p:nvSpPr>
        <p:spPr>
          <a:xfrm>
            <a:off x="2697480"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a:t>
            </a:r>
            <a:endParaRPr lang="en-US" sz="1050" dirty="0"/>
          </a:p>
        </p:txBody>
      </p:sp>
      <p:sp>
        <p:nvSpPr>
          <p:cNvPr id="20" name="Text 18"/>
          <p:cNvSpPr txBox="1"/>
          <p:nvPr/>
        </p:nvSpPr>
        <p:spPr>
          <a:xfrm>
            <a:off x="2697480" y="1965960"/>
            <a:ext cx="402336" cy="475488"/>
          </a:xfrm>
          <a:prstGeom prst="roundRect">
            <a:avLst>
              <a:gd name="adj" fmla="val 11364"/>
            </a:avLst>
          </a:prstGeom>
          <a:solidFill>
            <a:srgbClr val="F2545B">
              <a:alpha val="30000"/>
            </a:srgbClr>
          </a:solidFill>
          <a:ln/>
        </p:spPr>
        <p:txBody>
          <a:bodyPr wrap="square" lIns="0" tIns="0" rIns="0" bIns="0" rtlCol="0" anchor="ctr"/>
          <a:lstStyle/>
          <a:p>
            <a:pPr algn="ctr" indent="0" marL="0">
              <a:buNone/>
            </a:pPr>
            <a:r>
              <a:rPr lang="en-US" sz="1200" b="1" dirty="0">
                <a:solidFill>
                  <a:srgbClr val="F2545B"/>
                </a:solidFill>
                <a:latin typeface="Calibri" pitchFamily="34" charset="0"/>
                <a:ea typeface="Calibri" pitchFamily="34" charset="-122"/>
                <a:cs typeface="Calibri" pitchFamily="34" charset="-120"/>
              </a:rPr>
              <a:t>W</a:t>
            </a:r>
            <a:endParaRPr lang="en-US" sz="1200" dirty="0"/>
          </a:p>
        </p:txBody>
      </p:sp>
      <p:sp>
        <p:nvSpPr>
          <p:cNvPr id="21" name="Text 19"/>
          <p:cNvSpPr txBox="1"/>
          <p:nvPr/>
        </p:nvSpPr>
        <p:spPr>
          <a:xfrm>
            <a:off x="3146450"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2</a:t>
            </a:r>
            <a:endParaRPr lang="en-US" sz="1050" dirty="0"/>
          </a:p>
        </p:txBody>
      </p:sp>
      <p:sp>
        <p:nvSpPr>
          <p:cNvPr id="22" name="Text 20"/>
          <p:cNvSpPr txBox="1"/>
          <p:nvPr/>
        </p:nvSpPr>
        <p:spPr>
          <a:xfrm>
            <a:off x="3146450" y="1965960"/>
            <a:ext cx="402336" cy="475488"/>
          </a:xfrm>
          <a:prstGeom prst="roundRect">
            <a:avLst>
              <a:gd name="adj" fmla="val 11364"/>
            </a:avLst>
          </a:prstGeom>
          <a:solidFill>
            <a:srgbClr val="F2545B">
              <a:alpha val="30000"/>
            </a:srgbClr>
          </a:solidFill>
          <a:ln/>
        </p:spPr>
        <p:txBody>
          <a:bodyPr wrap="square" lIns="0" tIns="0" rIns="0" bIns="0" rtlCol="0" anchor="ctr"/>
          <a:lstStyle/>
          <a:p>
            <a:pPr algn="ctr" indent="0" marL="0">
              <a:buNone/>
            </a:pPr>
            <a:r>
              <a:rPr lang="en-US" sz="1200" b="1" dirty="0">
                <a:solidFill>
                  <a:srgbClr val="F2545B"/>
                </a:solidFill>
                <a:latin typeface="Calibri" pitchFamily="34" charset="0"/>
                <a:ea typeface="Calibri" pitchFamily="34" charset="-122"/>
                <a:cs typeface="Calibri" pitchFamily="34" charset="-120"/>
              </a:rPr>
              <a:t>W</a:t>
            </a:r>
            <a:endParaRPr lang="en-US" sz="1200" dirty="0"/>
          </a:p>
        </p:txBody>
      </p:sp>
      <p:sp>
        <p:nvSpPr>
          <p:cNvPr id="23" name="Text 21"/>
          <p:cNvSpPr txBox="1"/>
          <p:nvPr/>
        </p:nvSpPr>
        <p:spPr>
          <a:xfrm>
            <a:off x="3595421"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3</a:t>
            </a:r>
            <a:endParaRPr lang="en-US" sz="1050" dirty="0"/>
          </a:p>
        </p:txBody>
      </p:sp>
      <p:sp>
        <p:nvSpPr>
          <p:cNvPr id="24" name="Text 22"/>
          <p:cNvSpPr txBox="1"/>
          <p:nvPr/>
        </p:nvSpPr>
        <p:spPr>
          <a:xfrm>
            <a:off x="3595421"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25" name="Text 23"/>
          <p:cNvSpPr txBox="1"/>
          <p:nvPr/>
        </p:nvSpPr>
        <p:spPr>
          <a:xfrm>
            <a:off x="3631997"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1</a:t>
            </a:r>
            <a:endParaRPr lang="en-US" sz="1100" dirty="0"/>
          </a:p>
        </p:txBody>
      </p:sp>
      <p:sp>
        <p:nvSpPr>
          <p:cNvPr id="26" name="Text 24"/>
          <p:cNvSpPr txBox="1"/>
          <p:nvPr/>
        </p:nvSpPr>
        <p:spPr>
          <a:xfrm>
            <a:off x="4044391"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4</a:t>
            </a:r>
            <a:endParaRPr lang="en-US" sz="1050" dirty="0"/>
          </a:p>
        </p:txBody>
      </p:sp>
      <p:sp>
        <p:nvSpPr>
          <p:cNvPr id="27" name="Text 25"/>
          <p:cNvSpPr txBox="1"/>
          <p:nvPr/>
        </p:nvSpPr>
        <p:spPr>
          <a:xfrm>
            <a:off x="4044391"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28" name="Text 26"/>
          <p:cNvSpPr txBox="1"/>
          <p:nvPr/>
        </p:nvSpPr>
        <p:spPr>
          <a:xfrm>
            <a:off x="4080967"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2</a:t>
            </a:r>
            <a:endParaRPr lang="en-US" sz="1100" dirty="0"/>
          </a:p>
        </p:txBody>
      </p:sp>
      <p:sp>
        <p:nvSpPr>
          <p:cNvPr id="29" name="Text 27"/>
          <p:cNvSpPr txBox="1"/>
          <p:nvPr/>
        </p:nvSpPr>
        <p:spPr>
          <a:xfrm>
            <a:off x="4493362"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5</a:t>
            </a:r>
            <a:endParaRPr lang="en-US" sz="1050" dirty="0"/>
          </a:p>
        </p:txBody>
      </p:sp>
      <p:sp>
        <p:nvSpPr>
          <p:cNvPr id="30" name="Text 28"/>
          <p:cNvSpPr txBox="1"/>
          <p:nvPr/>
        </p:nvSpPr>
        <p:spPr>
          <a:xfrm>
            <a:off x="4493362" y="1965960"/>
            <a:ext cx="402336" cy="475488"/>
          </a:xfrm>
          <a:prstGeom prst="roundRect">
            <a:avLst>
              <a:gd name="adj" fmla="val 11364"/>
            </a:avLst>
          </a:prstGeom>
          <a:solidFill>
            <a:srgbClr val="F2545B">
              <a:alpha val="30000"/>
            </a:srgbClr>
          </a:solidFill>
          <a:ln/>
        </p:spPr>
        <p:txBody>
          <a:bodyPr wrap="square" lIns="0" tIns="0" rIns="0" bIns="0" rtlCol="0" anchor="ctr"/>
          <a:lstStyle/>
          <a:p>
            <a:pPr algn="ctr" indent="0" marL="0">
              <a:buNone/>
            </a:pPr>
            <a:r>
              <a:rPr lang="en-US" sz="1200" b="1" dirty="0">
                <a:solidFill>
                  <a:srgbClr val="F2545B"/>
                </a:solidFill>
                <a:latin typeface="Calibri" pitchFamily="34" charset="0"/>
                <a:ea typeface="Calibri" pitchFamily="34" charset="-122"/>
                <a:cs typeface="Calibri" pitchFamily="34" charset="-120"/>
              </a:rPr>
              <a:t>W</a:t>
            </a:r>
            <a:endParaRPr lang="en-US" sz="1200" dirty="0"/>
          </a:p>
        </p:txBody>
      </p:sp>
      <p:sp>
        <p:nvSpPr>
          <p:cNvPr id="31" name="Text 29"/>
          <p:cNvSpPr txBox="1"/>
          <p:nvPr/>
        </p:nvSpPr>
        <p:spPr>
          <a:xfrm>
            <a:off x="4529938"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5B43C"/>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4942332"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6</a:t>
            </a:r>
            <a:endParaRPr lang="en-US" sz="1050" dirty="0"/>
          </a:p>
        </p:txBody>
      </p:sp>
      <p:sp>
        <p:nvSpPr>
          <p:cNvPr id="33" name="Text 31"/>
          <p:cNvSpPr txBox="1"/>
          <p:nvPr/>
        </p:nvSpPr>
        <p:spPr>
          <a:xfrm>
            <a:off x="4942332"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34" name="Text 32"/>
          <p:cNvSpPr txBox="1"/>
          <p:nvPr/>
        </p:nvSpPr>
        <p:spPr>
          <a:xfrm>
            <a:off x="4978908"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1</a:t>
            </a:r>
            <a:endParaRPr lang="en-US" sz="1100" dirty="0"/>
          </a:p>
        </p:txBody>
      </p:sp>
      <p:sp>
        <p:nvSpPr>
          <p:cNvPr id="35" name="Text 33"/>
          <p:cNvSpPr txBox="1"/>
          <p:nvPr/>
        </p:nvSpPr>
        <p:spPr>
          <a:xfrm>
            <a:off x="5391302"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7</a:t>
            </a:r>
            <a:endParaRPr lang="en-US" sz="1050" dirty="0"/>
          </a:p>
        </p:txBody>
      </p:sp>
      <p:sp>
        <p:nvSpPr>
          <p:cNvPr id="36" name="Text 34"/>
          <p:cNvSpPr txBox="1"/>
          <p:nvPr/>
        </p:nvSpPr>
        <p:spPr>
          <a:xfrm>
            <a:off x="5391302"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37" name="Text 35"/>
          <p:cNvSpPr txBox="1"/>
          <p:nvPr/>
        </p:nvSpPr>
        <p:spPr>
          <a:xfrm>
            <a:off x="5427878"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2</a:t>
            </a:r>
            <a:endParaRPr lang="en-US" sz="1100" dirty="0"/>
          </a:p>
        </p:txBody>
      </p:sp>
      <p:sp>
        <p:nvSpPr>
          <p:cNvPr id="38" name="Text 36"/>
          <p:cNvSpPr txBox="1"/>
          <p:nvPr/>
        </p:nvSpPr>
        <p:spPr>
          <a:xfrm>
            <a:off x="5840273"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8</a:t>
            </a:r>
            <a:endParaRPr lang="en-US" sz="1050" dirty="0"/>
          </a:p>
        </p:txBody>
      </p:sp>
      <p:sp>
        <p:nvSpPr>
          <p:cNvPr id="39" name="Text 37"/>
          <p:cNvSpPr txBox="1"/>
          <p:nvPr/>
        </p:nvSpPr>
        <p:spPr>
          <a:xfrm>
            <a:off x="5840273"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40" name="Text 38"/>
          <p:cNvSpPr txBox="1"/>
          <p:nvPr/>
        </p:nvSpPr>
        <p:spPr>
          <a:xfrm>
            <a:off x="5876849"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3</a:t>
            </a:r>
            <a:endParaRPr lang="en-US" sz="1100" dirty="0"/>
          </a:p>
        </p:txBody>
      </p:sp>
      <p:sp>
        <p:nvSpPr>
          <p:cNvPr id="41" name="Text 39"/>
          <p:cNvSpPr txBox="1"/>
          <p:nvPr/>
        </p:nvSpPr>
        <p:spPr>
          <a:xfrm>
            <a:off x="6289243"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9</a:t>
            </a:r>
            <a:endParaRPr lang="en-US" sz="1050" dirty="0"/>
          </a:p>
        </p:txBody>
      </p:sp>
      <p:sp>
        <p:nvSpPr>
          <p:cNvPr id="42" name="Text 40"/>
          <p:cNvSpPr txBox="1"/>
          <p:nvPr/>
        </p:nvSpPr>
        <p:spPr>
          <a:xfrm>
            <a:off x="6289243"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43" name="Text 41"/>
          <p:cNvSpPr txBox="1"/>
          <p:nvPr/>
        </p:nvSpPr>
        <p:spPr>
          <a:xfrm>
            <a:off x="6325819"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4</a:t>
            </a:r>
            <a:endParaRPr lang="en-US" sz="1100" dirty="0"/>
          </a:p>
        </p:txBody>
      </p:sp>
      <p:sp>
        <p:nvSpPr>
          <p:cNvPr id="44" name="Text 42"/>
          <p:cNvSpPr txBox="1"/>
          <p:nvPr/>
        </p:nvSpPr>
        <p:spPr>
          <a:xfrm>
            <a:off x="6738214"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10</a:t>
            </a:r>
            <a:endParaRPr lang="en-US" sz="1050" dirty="0"/>
          </a:p>
        </p:txBody>
      </p:sp>
      <p:sp>
        <p:nvSpPr>
          <p:cNvPr id="45" name="Text 43"/>
          <p:cNvSpPr txBox="1"/>
          <p:nvPr/>
        </p:nvSpPr>
        <p:spPr>
          <a:xfrm>
            <a:off x="6738214"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46" name="Text 44"/>
          <p:cNvSpPr txBox="1"/>
          <p:nvPr/>
        </p:nvSpPr>
        <p:spPr>
          <a:xfrm>
            <a:off x="6774790"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5</a:t>
            </a:r>
            <a:endParaRPr lang="en-US" sz="1100" dirty="0"/>
          </a:p>
        </p:txBody>
      </p:sp>
      <p:sp>
        <p:nvSpPr>
          <p:cNvPr id="47" name="Text 45"/>
          <p:cNvSpPr txBox="1"/>
          <p:nvPr/>
        </p:nvSpPr>
        <p:spPr>
          <a:xfrm>
            <a:off x="7187184"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11</a:t>
            </a:r>
            <a:endParaRPr lang="en-US" sz="1050" dirty="0"/>
          </a:p>
        </p:txBody>
      </p:sp>
      <p:sp>
        <p:nvSpPr>
          <p:cNvPr id="48" name="Text 46"/>
          <p:cNvSpPr txBox="1"/>
          <p:nvPr/>
        </p:nvSpPr>
        <p:spPr>
          <a:xfrm>
            <a:off x="7187184"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49" name="Text 47"/>
          <p:cNvSpPr txBox="1"/>
          <p:nvPr/>
        </p:nvSpPr>
        <p:spPr>
          <a:xfrm>
            <a:off x="7223760"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6</a:t>
            </a:r>
            <a:endParaRPr lang="en-US" sz="1100" dirty="0"/>
          </a:p>
        </p:txBody>
      </p:sp>
      <p:sp>
        <p:nvSpPr>
          <p:cNvPr id="50" name="Text 48"/>
          <p:cNvSpPr txBox="1"/>
          <p:nvPr/>
        </p:nvSpPr>
        <p:spPr>
          <a:xfrm>
            <a:off x="7636154"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12</a:t>
            </a:r>
            <a:endParaRPr lang="en-US" sz="1050" dirty="0"/>
          </a:p>
        </p:txBody>
      </p:sp>
      <p:sp>
        <p:nvSpPr>
          <p:cNvPr id="51" name="Text 49"/>
          <p:cNvSpPr txBox="1"/>
          <p:nvPr/>
        </p:nvSpPr>
        <p:spPr>
          <a:xfrm>
            <a:off x="7636154"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52" name="Text 50"/>
          <p:cNvSpPr txBox="1"/>
          <p:nvPr/>
        </p:nvSpPr>
        <p:spPr>
          <a:xfrm>
            <a:off x="7672730"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7</a:t>
            </a:r>
            <a:endParaRPr lang="en-US" sz="1100" dirty="0"/>
          </a:p>
        </p:txBody>
      </p:sp>
      <p:sp>
        <p:nvSpPr>
          <p:cNvPr id="53" name="Text 51"/>
          <p:cNvSpPr txBox="1"/>
          <p:nvPr/>
        </p:nvSpPr>
        <p:spPr>
          <a:xfrm>
            <a:off x="8085125"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13</a:t>
            </a:r>
            <a:endParaRPr lang="en-US" sz="1050" dirty="0"/>
          </a:p>
        </p:txBody>
      </p:sp>
      <p:sp>
        <p:nvSpPr>
          <p:cNvPr id="54" name="Text 52"/>
          <p:cNvSpPr txBox="1"/>
          <p:nvPr/>
        </p:nvSpPr>
        <p:spPr>
          <a:xfrm>
            <a:off x="8085125"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55" name="Text 53"/>
          <p:cNvSpPr txBox="1"/>
          <p:nvPr/>
        </p:nvSpPr>
        <p:spPr>
          <a:xfrm>
            <a:off x="8121701" y="2624328"/>
            <a:ext cx="329184" cy="329184"/>
          </a:xfrm>
          <a:prstGeom prst="ellipse">
            <a:avLst/>
          </a:prstGeom>
          <a:solidFill>
            <a:srgbClr val="3DD68C"/>
          </a:solidFill>
          <a:ln/>
        </p:spPr>
        <p:txBody>
          <a:bodyPr wrap="square" lIns="0" tIns="0" rIns="0" bIns="0" rtlCol="0" anchor="ctr"/>
          <a:lstStyle/>
          <a:p>
            <a:pPr algn="ctr" indent="0" marL="0">
              <a:buNone/>
            </a:pPr>
            <a:r>
              <a:rPr lang="en-US" sz="1100" b="1" dirty="0">
                <a:solidFill>
                  <a:srgbClr val="0E1116"/>
                </a:solidFill>
                <a:latin typeface="Calibri" pitchFamily="34" charset="0"/>
                <a:ea typeface="Calibri" pitchFamily="34" charset="-122"/>
                <a:cs typeface="Calibri" pitchFamily="34" charset="-120"/>
              </a:rPr>
              <a:t>8</a:t>
            </a:r>
            <a:endParaRPr lang="en-US" sz="1100" dirty="0"/>
          </a:p>
        </p:txBody>
      </p:sp>
      <p:sp>
        <p:nvSpPr>
          <p:cNvPr id="56" name="Text 54"/>
          <p:cNvSpPr txBox="1"/>
          <p:nvPr/>
        </p:nvSpPr>
        <p:spPr>
          <a:xfrm>
            <a:off x="8534095"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14</a:t>
            </a:r>
            <a:endParaRPr lang="en-US" sz="1050" dirty="0"/>
          </a:p>
        </p:txBody>
      </p:sp>
      <p:sp>
        <p:nvSpPr>
          <p:cNvPr id="57" name="Text 55"/>
          <p:cNvSpPr txBox="1"/>
          <p:nvPr/>
        </p:nvSpPr>
        <p:spPr>
          <a:xfrm>
            <a:off x="8534095"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58" name="Text 56"/>
          <p:cNvSpPr txBox="1"/>
          <p:nvPr/>
        </p:nvSpPr>
        <p:spPr>
          <a:xfrm>
            <a:off x="8983066"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15</a:t>
            </a:r>
            <a:endParaRPr lang="en-US" sz="1050" dirty="0"/>
          </a:p>
        </p:txBody>
      </p:sp>
      <p:sp>
        <p:nvSpPr>
          <p:cNvPr id="59" name="Text 57"/>
          <p:cNvSpPr txBox="1"/>
          <p:nvPr/>
        </p:nvSpPr>
        <p:spPr>
          <a:xfrm>
            <a:off x="8983066"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60" name="Text 58"/>
          <p:cNvSpPr txBox="1"/>
          <p:nvPr/>
        </p:nvSpPr>
        <p:spPr>
          <a:xfrm>
            <a:off x="9432036"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16</a:t>
            </a:r>
            <a:endParaRPr lang="en-US" sz="1050" dirty="0"/>
          </a:p>
        </p:txBody>
      </p:sp>
      <p:sp>
        <p:nvSpPr>
          <p:cNvPr id="61" name="Text 59"/>
          <p:cNvSpPr txBox="1"/>
          <p:nvPr/>
        </p:nvSpPr>
        <p:spPr>
          <a:xfrm>
            <a:off x="9432036" y="1965960"/>
            <a:ext cx="402336" cy="475488"/>
          </a:xfrm>
          <a:prstGeom prst="roundRect">
            <a:avLst>
              <a:gd name="adj" fmla="val 11364"/>
            </a:avLst>
          </a:prstGeom>
          <a:solidFill>
            <a:srgbClr val="F2545B">
              <a:alpha val="30000"/>
            </a:srgbClr>
          </a:solidFill>
          <a:ln/>
        </p:spPr>
        <p:txBody>
          <a:bodyPr wrap="square" lIns="0" tIns="0" rIns="0" bIns="0" rtlCol="0" anchor="ctr"/>
          <a:lstStyle/>
          <a:p>
            <a:pPr algn="ctr" indent="0" marL="0">
              <a:buNone/>
            </a:pPr>
            <a:r>
              <a:rPr lang="en-US" sz="1200" b="1" dirty="0">
                <a:solidFill>
                  <a:srgbClr val="F2545B"/>
                </a:solidFill>
                <a:latin typeface="Calibri" pitchFamily="34" charset="0"/>
                <a:ea typeface="Calibri" pitchFamily="34" charset="-122"/>
                <a:cs typeface="Calibri" pitchFamily="34" charset="-120"/>
              </a:rPr>
              <a:t>W</a:t>
            </a:r>
            <a:endParaRPr lang="en-US" sz="1200" dirty="0"/>
          </a:p>
        </p:txBody>
      </p:sp>
      <p:sp>
        <p:nvSpPr>
          <p:cNvPr id="62" name="Text 60"/>
          <p:cNvSpPr txBox="1"/>
          <p:nvPr/>
        </p:nvSpPr>
        <p:spPr>
          <a:xfrm>
            <a:off x="9881006"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17</a:t>
            </a:r>
            <a:endParaRPr lang="en-US" sz="1050" dirty="0"/>
          </a:p>
        </p:txBody>
      </p:sp>
      <p:sp>
        <p:nvSpPr>
          <p:cNvPr id="63" name="Text 61"/>
          <p:cNvSpPr txBox="1"/>
          <p:nvPr/>
        </p:nvSpPr>
        <p:spPr>
          <a:xfrm>
            <a:off x="9881006" y="1965960"/>
            <a:ext cx="402336" cy="475488"/>
          </a:xfrm>
          <a:prstGeom prst="roundRect">
            <a:avLst>
              <a:gd name="adj" fmla="val 11364"/>
            </a:avLst>
          </a:prstGeom>
          <a:solidFill>
            <a:srgbClr val="F2545B">
              <a:alpha val="30000"/>
            </a:srgbClr>
          </a:solidFill>
          <a:ln/>
        </p:spPr>
        <p:txBody>
          <a:bodyPr wrap="square" lIns="0" tIns="0" rIns="0" bIns="0" rtlCol="0" anchor="ctr"/>
          <a:lstStyle/>
          <a:p>
            <a:pPr algn="ctr" indent="0" marL="0">
              <a:buNone/>
            </a:pPr>
            <a:r>
              <a:rPr lang="en-US" sz="1200" b="1" dirty="0">
                <a:solidFill>
                  <a:srgbClr val="F2545B"/>
                </a:solidFill>
                <a:latin typeface="Calibri" pitchFamily="34" charset="0"/>
                <a:ea typeface="Calibri" pitchFamily="34" charset="-122"/>
                <a:cs typeface="Calibri" pitchFamily="34" charset="-120"/>
              </a:rPr>
              <a:t>W</a:t>
            </a:r>
            <a:endParaRPr lang="en-US" sz="1200" dirty="0"/>
          </a:p>
        </p:txBody>
      </p:sp>
      <p:sp>
        <p:nvSpPr>
          <p:cNvPr id="64" name="Text 62"/>
          <p:cNvSpPr txBox="1"/>
          <p:nvPr/>
        </p:nvSpPr>
        <p:spPr>
          <a:xfrm>
            <a:off x="10329977"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18</a:t>
            </a:r>
            <a:endParaRPr lang="en-US" sz="1050" dirty="0"/>
          </a:p>
        </p:txBody>
      </p:sp>
      <p:sp>
        <p:nvSpPr>
          <p:cNvPr id="65" name="Text 63"/>
          <p:cNvSpPr txBox="1"/>
          <p:nvPr/>
        </p:nvSpPr>
        <p:spPr>
          <a:xfrm>
            <a:off x="10329977"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66" name="Text 64"/>
          <p:cNvSpPr txBox="1"/>
          <p:nvPr/>
        </p:nvSpPr>
        <p:spPr>
          <a:xfrm>
            <a:off x="10366553"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1</a:t>
            </a:r>
            <a:endParaRPr lang="en-US" sz="1100" dirty="0"/>
          </a:p>
        </p:txBody>
      </p:sp>
      <p:sp>
        <p:nvSpPr>
          <p:cNvPr id="67" name="Text 65"/>
          <p:cNvSpPr txBox="1"/>
          <p:nvPr/>
        </p:nvSpPr>
        <p:spPr>
          <a:xfrm>
            <a:off x="10778947"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19</a:t>
            </a:r>
            <a:endParaRPr lang="en-US" sz="1050" dirty="0"/>
          </a:p>
        </p:txBody>
      </p:sp>
      <p:sp>
        <p:nvSpPr>
          <p:cNvPr id="68" name="Text 66"/>
          <p:cNvSpPr txBox="1"/>
          <p:nvPr/>
        </p:nvSpPr>
        <p:spPr>
          <a:xfrm>
            <a:off x="10778947"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69" name="Text 67"/>
          <p:cNvSpPr txBox="1"/>
          <p:nvPr/>
        </p:nvSpPr>
        <p:spPr>
          <a:xfrm>
            <a:off x="10815523"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2</a:t>
            </a:r>
            <a:endParaRPr lang="en-US" sz="1100" dirty="0"/>
          </a:p>
        </p:txBody>
      </p:sp>
      <p:sp>
        <p:nvSpPr>
          <p:cNvPr id="70" name="Text 68"/>
          <p:cNvSpPr txBox="1"/>
          <p:nvPr/>
        </p:nvSpPr>
        <p:spPr>
          <a:xfrm>
            <a:off x="11227918" y="1645920"/>
            <a:ext cx="402336" cy="256032"/>
          </a:xfrm>
          <a:prstGeom prst="rect">
            <a:avLst/>
          </a:prstGeom>
          <a:noFill/>
          <a:ln/>
        </p:spPr>
        <p:txBody>
          <a:bodyPr wrap="square" lIns="0" tIns="0" rIns="0" bIns="0" rtlCol="0" anchor="t"/>
          <a:lstStyle/>
          <a:p>
            <a:pPr algn="ctr" indent="0" marL="0">
              <a:buNone/>
            </a:pPr>
            <a:r>
              <a:rPr lang="en-US" sz="1050" dirty="0">
                <a:solidFill>
                  <a:srgbClr val="667085"/>
                </a:solidFill>
                <a:latin typeface="Consolas" pitchFamily="34" charset="0"/>
                <a:ea typeface="Consolas" pitchFamily="34" charset="-122"/>
                <a:cs typeface="Consolas" pitchFamily="34" charset="-120"/>
              </a:rPr>
              <a:t>20</a:t>
            </a:r>
            <a:endParaRPr lang="en-US" sz="1050" dirty="0"/>
          </a:p>
        </p:txBody>
      </p:sp>
      <p:sp>
        <p:nvSpPr>
          <p:cNvPr id="71" name="Text 69"/>
          <p:cNvSpPr txBox="1"/>
          <p:nvPr/>
        </p:nvSpPr>
        <p:spPr>
          <a:xfrm>
            <a:off x="11227918" y="1965960"/>
            <a:ext cx="402336" cy="475488"/>
          </a:xfrm>
          <a:prstGeom prst="roundRect">
            <a:avLst>
              <a:gd name="adj" fmla="val 11364"/>
            </a:avLst>
          </a:prstGeom>
          <a:solidFill>
            <a:srgbClr val="3DD68C">
              <a:alpha val="30000"/>
            </a:srgbClr>
          </a:solidFill>
          <a:ln/>
        </p:spPr>
        <p:txBody>
          <a:bodyPr wrap="square" lIns="0" tIns="0" rIns="0" bIns="0" rtlCol="0" anchor="ctr"/>
          <a:lstStyle/>
          <a:p>
            <a:pPr algn="ctr" indent="0" marL="0">
              <a:buNone/>
            </a:pPr>
            <a:r>
              <a:rPr lang="en-US" sz="1200" b="1" dirty="0">
                <a:solidFill>
                  <a:srgbClr val="3DD68C"/>
                </a:solidFill>
                <a:latin typeface="Calibri" pitchFamily="34" charset="0"/>
                <a:ea typeface="Calibri" pitchFamily="34" charset="-122"/>
                <a:cs typeface="Calibri" pitchFamily="34" charset="-120"/>
              </a:rPr>
              <a:t>S</a:t>
            </a:r>
            <a:endParaRPr lang="en-US" sz="1200" dirty="0"/>
          </a:p>
        </p:txBody>
      </p:sp>
      <p:sp>
        <p:nvSpPr>
          <p:cNvPr id="72" name="Text 70"/>
          <p:cNvSpPr txBox="1"/>
          <p:nvPr/>
        </p:nvSpPr>
        <p:spPr>
          <a:xfrm>
            <a:off x="11264494" y="2624328"/>
            <a:ext cx="329184" cy="329184"/>
          </a:xfrm>
          <a:prstGeom prst="ellipse">
            <a:avLst/>
          </a:prstGeom>
          <a:solidFill>
            <a:srgbClr val="1E252F"/>
          </a:solidFill>
          <a:ln/>
        </p:spPr>
        <p:txBody>
          <a:bodyPr wrap="square" lIns="0" tIns="0" rIns="0" bIns="0" rtlCol="0" anchor="ctr"/>
          <a:lstStyle/>
          <a:p>
            <a:pPr algn="ctr" indent="0" marL="0">
              <a:buNone/>
            </a:pPr>
            <a:r>
              <a:rPr lang="en-US" sz="1100" b="1" dirty="0">
                <a:solidFill>
                  <a:srgbClr val="F2F4F7"/>
                </a:solidFill>
                <a:latin typeface="Calibri" pitchFamily="34" charset="0"/>
                <a:ea typeface="Calibri" pitchFamily="34" charset="-122"/>
                <a:cs typeface="Calibri" pitchFamily="34" charset="-120"/>
              </a:rPr>
              <a:t>3</a:t>
            </a:r>
            <a:endParaRPr lang="en-US" sz="1100" dirty="0"/>
          </a:p>
        </p:txBody>
      </p:sp>
      <p:sp>
        <p:nvSpPr>
          <p:cNvPr id="73" name="Text 71"/>
          <p:cNvSpPr txBox="1"/>
          <p:nvPr/>
        </p:nvSpPr>
        <p:spPr>
          <a:xfrm>
            <a:off x="2697480" y="3154680"/>
            <a:ext cx="5341010" cy="475488"/>
          </a:xfrm>
          <a:prstGeom prst="roundRect">
            <a:avLst>
              <a:gd name="adj" fmla="val 11538"/>
            </a:avLst>
          </a:prstGeom>
          <a:solidFill>
            <a:srgbClr val="F2545B"/>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WAIT</a:t>
            </a:r>
            <a:endParaRPr lang="en-US" sz="1400" dirty="0"/>
          </a:p>
        </p:txBody>
      </p:sp>
      <p:sp>
        <p:nvSpPr>
          <p:cNvPr id="74" name="Text 72"/>
          <p:cNvSpPr txBox="1"/>
          <p:nvPr/>
        </p:nvSpPr>
        <p:spPr>
          <a:xfrm>
            <a:off x="8085125" y="3154680"/>
            <a:ext cx="1300277" cy="475488"/>
          </a:xfrm>
          <a:prstGeom prst="roundRect">
            <a:avLst>
              <a:gd name="adj" fmla="val 11538"/>
            </a:avLst>
          </a:prstGeom>
          <a:solidFill>
            <a:srgbClr val="3DD68C"/>
          </a:solidFill>
          <a:ln/>
        </p:spPr>
        <p:txBody>
          <a:bodyPr wrap="square" lIns="50800" tIns="50800" rIns="50800" bIns="50800" rtlCol="0" anchor="ctr"/>
          <a:lstStyle/>
          <a:p>
            <a:pPr algn="ctr" indent="0" marL="0">
              <a:buNone/>
            </a:pPr>
            <a:r>
              <a:rPr lang="en-US" sz="1400" b="1" dirty="0">
                <a:solidFill>
                  <a:srgbClr val="0E1116"/>
                </a:solidFill>
                <a:latin typeface="Calibri" pitchFamily="34" charset="0"/>
                <a:ea typeface="Calibri" pitchFamily="34" charset="-122"/>
                <a:cs typeface="Calibri" pitchFamily="34" charset="-120"/>
              </a:rPr>
              <a:t>SAFE</a:t>
            </a:r>
            <a:endParaRPr lang="en-US" sz="1400" dirty="0"/>
          </a:p>
        </p:txBody>
      </p:sp>
      <p:sp>
        <p:nvSpPr>
          <p:cNvPr id="75" name="Text 73"/>
          <p:cNvSpPr txBox="1"/>
          <p:nvPr/>
        </p:nvSpPr>
        <p:spPr>
          <a:xfrm>
            <a:off x="9432036" y="3154680"/>
            <a:ext cx="2198218" cy="475488"/>
          </a:xfrm>
          <a:prstGeom prst="roundRect">
            <a:avLst>
              <a:gd name="adj" fmla="val 11538"/>
            </a:avLst>
          </a:prstGeom>
          <a:solidFill>
            <a:srgbClr val="F2545B"/>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WAIT</a:t>
            </a:r>
            <a:endParaRPr lang="en-US" sz="1400" dirty="0"/>
          </a:p>
        </p:txBody>
      </p:sp>
      <p:sp>
        <p:nvSpPr>
          <p:cNvPr id="76" name="Shape 74"/>
          <p:cNvSpPr/>
          <p:nvPr/>
        </p:nvSpPr>
        <p:spPr>
          <a:xfrm flipV="1">
            <a:off x="4694530" y="2962656"/>
            <a:ext cx="0" cy="896112"/>
          </a:xfrm>
          <a:prstGeom prst="line">
            <a:avLst/>
          </a:prstGeom>
          <a:noFill/>
          <a:ln w="15875">
            <a:solidFill>
              <a:srgbClr val="F5B43C"/>
            </a:solidFill>
            <a:prstDash val="solid"/>
            <a:tailEnd type="triangle"/>
          </a:ln>
        </p:spPr>
      </p:sp>
      <p:sp>
        <p:nvSpPr>
          <p:cNvPr id="77" name="Text 75"/>
          <p:cNvSpPr txBox="1"/>
          <p:nvPr/>
        </p:nvSpPr>
        <p:spPr>
          <a:xfrm>
            <a:off x="3944722" y="3886200"/>
            <a:ext cx="1554480" cy="457200"/>
          </a:xfrm>
          <a:prstGeom prst="rect">
            <a:avLst/>
          </a:prstGeom>
          <a:noFill/>
          <a:ln/>
        </p:spPr>
        <p:txBody>
          <a:bodyPr wrap="square" lIns="0" tIns="0" rIns="0" bIns="0" rtlCol="0" anchor="t"/>
          <a:lstStyle/>
          <a:p>
            <a:pPr algn="ctr" indent="0" marL="0">
              <a:buNone/>
            </a:pPr>
            <a:r>
              <a:rPr lang="en-US" sz="1150" b="1" dirty="0">
                <a:solidFill>
                  <a:srgbClr val="F5B43C"/>
                </a:solidFill>
                <a:latin typeface="Calibri" pitchFamily="34" charset="0"/>
                <a:ea typeface="Calibri" pitchFamily="34" charset="-122"/>
                <a:cs typeface="Calibri" pitchFamily="34" charset="-120"/>
              </a:rPr>
              <a:t>one flicker resets</a:t>
            </a:r>
            <a:endParaRPr lang="en-US" sz="1150" dirty="0"/>
          </a:p>
          <a:p>
            <a:pPr algn="ctr" indent="0" marL="0">
              <a:buNone/>
            </a:pPr>
            <a:r>
              <a:rPr lang="en-US" sz="1150" b="1" dirty="0">
                <a:solidFill>
                  <a:srgbClr val="F5B43C"/>
                </a:solidFill>
                <a:latin typeface="Calibri" pitchFamily="34" charset="0"/>
                <a:ea typeface="Calibri" pitchFamily="34" charset="-122"/>
                <a:cs typeface="Calibri" pitchFamily="34" charset="-120"/>
              </a:rPr>
              <a:t>the count</a:t>
            </a:r>
            <a:endParaRPr lang="en-US" sz="1150" dirty="0"/>
          </a:p>
        </p:txBody>
      </p:sp>
      <p:sp>
        <p:nvSpPr>
          <p:cNvPr id="78" name="Shape 76"/>
          <p:cNvSpPr/>
          <p:nvPr/>
        </p:nvSpPr>
        <p:spPr>
          <a:xfrm>
            <a:off x="4942332" y="3977640"/>
            <a:ext cx="3545129" cy="0"/>
          </a:xfrm>
          <a:prstGeom prst="line">
            <a:avLst/>
          </a:prstGeom>
          <a:noFill/>
          <a:ln w="15875">
            <a:solidFill>
              <a:srgbClr val="3DD68C"/>
            </a:solidFill>
            <a:prstDash val="solid"/>
            <a:headEnd type="triangle"/>
            <a:tailEnd type="triangle"/>
          </a:ln>
        </p:spPr>
      </p:sp>
      <p:sp>
        <p:nvSpPr>
          <p:cNvPr id="79" name="Text 77"/>
          <p:cNvSpPr txBox="1"/>
          <p:nvPr/>
        </p:nvSpPr>
        <p:spPr>
          <a:xfrm>
            <a:off x="4942332" y="4041648"/>
            <a:ext cx="3545129" cy="457200"/>
          </a:xfrm>
          <a:prstGeom prst="rect">
            <a:avLst/>
          </a:prstGeom>
          <a:noFill/>
          <a:ln/>
        </p:spPr>
        <p:txBody>
          <a:bodyPr wrap="square" lIns="0" tIns="0" rIns="0" bIns="0" rtlCol="0" anchor="t"/>
          <a:lstStyle/>
          <a:p>
            <a:pPr algn="ctr" indent="0" marL="0">
              <a:buNone/>
            </a:pPr>
            <a:r>
              <a:rPr lang="en-US" sz="1150" b="1" dirty="0">
                <a:solidFill>
                  <a:srgbClr val="3DD68C"/>
                </a:solidFill>
                <a:latin typeface="Calibri" pitchFamily="34" charset="0"/>
                <a:ea typeface="Calibri" pitchFamily="34" charset="-122"/>
                <a:cs typeface="Calibri" pitchFamily="34" charset="-120"/>
              </a:rPr>
              <a:t>8 consecutive agreeing frames before SAFE is announced</a:t>
            </a:r>
            <a:endParaRPr lang="en-US" sz="1150" dirty="0"/>
          </a:p>
        </p:txBody>
      </p:sp>
      <p:sp>
        <p:nvSpPr>
          <p:cNvPr id="80" name="Shape 78"/>
          <p:cNvSpPr/>
          <p:nvPr/>
        </p:nvSpPr>
        <p:spPr>
          <a:xfrm flipV="1">
            <a:off x="9633204" y="3648456"/>
            <a:ext cx="0" cy="210312"/>
          </a:xfrm>
          <a:prstGeom prst="line">
            <a:avLst/>
          </a:prstGeom>
          <a:noFill/>
          <a:ln w="31750">
            <a:solidFill>
              <a:srgbClr val="F2545B"/>
            </a:solidFill>
            <a:prstDash val="solid"/>
            <a:tailEnd type="triangle"/>
          </a:ln>
        </p:spPr>
      </p:sp>
      <p:sp>
        <p:nvSpPr>
          <p:cNvPr id="81" name="Text 79"/>
          <p:cNvSpPr txBox="1"/>
          <p:nvPr/>
        </p:nvSpPr>
        <p:spPr>
          <a:xfrm>
            <a:off x="8800186" y="3886200"/>
            <a:ext cx="2103120" cy="457200"/>
          </a:xfrm>
          <a:prstGeom prst="rect">
            <a:avLst/>
          </a:prstGeom>
          <a:noFill/>
          <a:ln/>
        </p:spPr>
        <p:txBody>
          <a:bodyPr wrap="square" lIns="0" tIns="0" rIns="0" bIns="0" rtlCol="0" anchor="t"/>
          <a:lstStyle/>
          <a:p>
            <a:pPr algn="ctr" indent="0" marL="0">
              <a:buNone/>
            </a:pPr>
            <a:r>
              <a:rPr lang="en-US" sz="1150" b="1" dirty="0">
                <a:solidFill>
                  <a:srgbClr val="F2545B"/>
                </a:solidFill>
                <a:latin typeface="Calibri" pitchFamily="34" charset="0"/>
                <a:ea typeface="Calibri" pitchFamily="34" charset="-122"/>
                <a:cs typeface="Calibri" pitchFamily="34" charset="-120"/>
              </a:rPr>
              <a:t>one disagreeing frame:</a:t>
            </a:r>
            <a:endParaRPr lang="en-US" sz="1150" dirty="0"/>
          </a:p>
          <a:p>
            <a:pPr algn="ctr" indent="0" marL="0">
              <a:buNone/>
            </a:pPr>
            <a:r>
              <a:rPr lang="en-US" sz="1150" b="1" dirty="0">
                <a:solidFill>
                  <a:srgbClr val="F2545B"/>
                </a:solidFill>
                <a:latin typeface="Calibri" pitchFamily="34" charset="0"/>
                <a:ea typeface="Calibri" pitchFamily="34" charset="-122"/>
                <a:cs typeface="Calibri" pitchFamily="34" charset="-120"/>
              </a:rPr>
              <a:t>WAIT on the very same frame</a:t>
            </a:r>
            <a:endParaRPr lang="en-US" sz="1150" dirty="0"/>
          </a:p>
        </p:txBody>
      </p:sp>
      <p:sp>
        <p:nvSpPr>
          <p:cNvPr id="82" name="Shape 80"/>
          <p:cNvSpPr/>
          <p:nvPr/>
        </p:nvSpPr>
        <p:spPr>
          <a:xfrm>
            <a:off x="548640" y="4754880"/>
            <a:ext cx="5440680" cy="1371600"/>
          </a:xfrm>
          <a:prstGeom prst="roundRect">
            <a:avLst>
              <a:gd name="adj" fmla="val 6667"/>
            </a:avLst>
          </a:prstGeom>
          <a:solidFill>
            <a:srgbClr val="3DD68C">
              <a:alpha val="12000"/>
            </a:srgbClr>
          </a:solidFill>
          <a:ln w="12700">
            <a:solidFill>
              <a:srgbClr val="3DD68C"/>
            </a:solidFill>
            <a:prstDash val="solid"/>
          </a:ln>
        </p:spPr>
      </p:sp>
      <p:sp>
        <p:nvSpPr>
          <p:cNvPr id="83" name="Text 81"/>
          <p:cNvSpPr txBox="1"/>
          <p:nvPr/>
        </p:nvSpPr>
        <p:spPr>
          <a:xfrm>
            <a:off x="822960" y="4892040"/>
            <a:ext cx="4937760" cy="347472"/>
          </a:xfrm>
          <a:prstGeom prst="rect">
            <a:avLst/>
          </a:prstGeom>
          <a:noFill/>
          <a:ln/>
        </p:spPr>
        <p:txBody>
          <a:bodyPr wrap="square" lIns="0" tIns="0" rIns="0" bIns="0" rtlCol="0" anchor="t"/>
          <a:lstStyle/>
          <a:p>
            <a:pPr indent="0" marL="0">
              <a:buNone/>
            </a:pPr>
            <a:r>
              <a:rPr lang="en-US" sz="1700" b="1" dirty="0">
                <a:solidFill>
                  <a:srgbClr val="3DD68C"/>
                </a:solidFill>
                <a:latin typeface="Calibri" pitchFamily="34" charset="0"/>
                <a:ea typeface="Calibri" pitchFamily="34" charset="-122"/>
                <a:cs typeface="Calibri" pitchFamily="34" charset="-120"/>
              </a:rPr>
              <a:t>Entering SAFE: an 8-frame vote</a:t>
            </a:r>
            <a:endParaRPr lang="en-US" sz="1700" dirty="0"/>
          </a:p>
        </p:txBody>
      </p:sp>
      <p:sp>
        <p:nvSpPr>
          <p:cNvPr id="84" name="Text 82"/>
          <p:cNvSpPr txBox="1"/>
          <p:nvPr/>
        </p:nvSpPr>
        <p:spPr>
          <a:xfrm>
            <a:off x="822960" y="5303520"/>
            <a:ext cx="4937760" cy="685800"/>
          </a:xfrm>
          <a:prstGeom prst="rect">
            <a:avLst/>
          </a:prstGeom>
          <a:noFill/>
          <a:ln/>
        </p:spPr>
        <p:txBody>
          <a:bodyPr wrap="square" lIns="0" tIns="0" rIns="0" bIns="0" rtlCol="0" anchor="t"/>
          <a:lstStyle/>
          <a:p>
            <a:pPr indent="0" marL="0">
              <a:buNone/>
            </a:pPr>
            <a:r>
              <a:rPr lang="en-US" sz="1350" dirty="0">
                <a:solidFill>
                  <a:srgbClr val="F2F4F7"/>
                </a:solidFill>
                <a:latin typeface="Calibri" pitchFamily="34" charset="0"/>
                <a:ea typeface="Calibri" pitchFamily="34" charset="-122"/>
                <a:cs typeface="Calibri" pitchFamily="34" charset="-120"/>
              </a:rPr>
              <a:t>A single flickered green detection must never tell someone to step into the road.</a:t>
            </a:r>
            <a:endParaRPr lang="en-US" sz="1350" dirty="0"/>
          </a:p>
        </p:txBody>
      </p:sp>
      <p:sp>
        <p:nvSpPr>
          <p:cNvPr id="85" name="Shape 83"/>
          <p:cNvSpPr/>
          <p:nvPr/>
        </p:nvSpPr>
        <p:spPr>
          <a:xfrm>
            <a:off x="6199632" y="4754880"/>
            <a:ext cx="5440680" cy="1371600"/>
          </a:xfrm>
          <a:prstGeom prst="roundRect">
            <a:avLst>
              <a:gd name="adj" fmla="val 6667"/>
            </a:avLst>
          </a:prstGeom>
          <a:solidFill>
            <a:srgbClr val="F2545B">
              <a:alpha val="12000"/>
            </a:srgbClr>
          </a:solidFill>
          <a:ln w="12700">
            <a:solidFill>
              <a:srgbClr val="F2545B"/>
            </a:solidFill>
            <a:prstDash val="solid"/>
          </a:ln>
        </p:spPr>
      </p:sp>
      <p:sp>
        <p:nvSpPr>
          <p:cNvPr id="86" name="Text 84"/>
          <p:cNvSpPr txBox="1"/>
          <p:nvPr/>
        </p:nvSpPr>
        <p:spPr>
          <a:xfrm>
            <a:off x="6473952" y="4892040"/>
            <a:ext cx="4937760" cy="347472"/>
          </a:xfrm>
          <a:prstGeom prst="rect">
            <a:avLst/>
          </a:prstGeom>
          <a:noFill/>
          <a:ln/>
        </p:spPr>
        <p:txBody>
          <a:bodyPr wrap="square" lIns="0" tIns="0" rIns="0" bIns="0" rtlCol="0" anchor="t"/>
          <a:lstStyle/>
          <a:p>
            <a:pPr indent="0" marL="0">
              <a:buNone/>
            </a:pPr>
            <a:r>
              <a:rPr lang="en-US" sz="1700" b="1" dirty="0">
                <a:solidFill>
                  <a:srgbClr val="F2545B"/>
                </a:solidFill>
                <a:latin typeface="Calibri" pitchFamily="34" charset="0"/>
                <a:ea typeface="Calibri" pitchFamily="34" charset="-122"/>
                <a:cs typeface="Calibri" pitchFamily="34" charset="-120"/>
              </a:rPr>
              <a:t>Leaving SAFE: immediate, no vote</a:t>
            </a:r>
            <a:endParaRPr lang="en-US" sz="1700" dirty="0"/>
          </a:p>
        </p:txBody>
      </p:sp>
      <p:sp>
        <p:nvSpPr>
          <p:cNvPr id="87" name="Text 85"/>
          <p:cNvSpPr txBox="1"/>
          <p:nvPr/>
        </p:nvSpPr>
        <p:spPr>
          <a:xfrm>
            <a:off x="6473952" y="5303520"/>
            <a:ext cx="4937760" cy="685800"/>
          </a:xfrm>
          <a:prstGeom prst="rect">
            <a:avLst/>
          </a:prstGeom>
          <a:noFill/>
          <a:ln/>
        </p:spPr>
        <p:txBody>
          <a:bodyPr wrap="square" lIns="0" tIns="0" rIns="0" bIns="0" rtlCol="0" anchor="t"/>
          <a:lstStyle/>
          <a:p>
            <a:pPr indent="0" marL="0">
              <a:buNone/>
            </a:pPr>
            <a:r>
              <a:rPr lang="en-US" sz="1350" dirty="0">
                <a:solidFill>
                  <a:srgbClr val="F2F4F7"/>
                </a:solidFill>
                <a:latin typeface="Calibri" pitchFamily="34" charset="0"/>
                <a:ea typeface="Calibri" pitchFamily="34" charset="-122"/>
                <a:cs typeface="Calibri" pitchFamily="34" charset="-120"/>
              </a:rPr>
              <a:t>The one state where being slow to change is dangerous is the one being left.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WORKFLOW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F2F4F7"/>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Three states, one default</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19</a:t>
            </a:r>
            <a:endParaRPr lang="en-US" sz="1000" dirty="0"/>
          </a:p>
        </p:txBody>
      </p:sp>
      <p:sp>
        <p:nvSpPr>
          <p:cNvPr id="15" name="Shape 13"/>
          <p:cNvSpPr/>
          <p:nvPr/>
        </p:nvSpPr>
        <p:spPr>
          <a:xfrm>
            <a:off x="1417320" y="2743200"/>
            <a:ext cx="1828800" cy="1828800"/>
          </a:xfrm>
          <a:prstGeom prst="ellipse">
            <a:avLst/>
          </a:prstGeom>
          <a:solidFill>
            <a:srgbClr val="F5B43C">
              <a:alpha val="18000"/>
            </a:srgbClr>
          </a:solidFill>
          <a:ln w="25400">
            <a:solidFill>
              <a:srgbClr val="F5B43C"/>
            </a:solidFill>
            <a:prstDash val="solid"/>
          </a:ln>
        </p:spPr>
      </p:sp>
      <p:sp>
        <p:nvSpPr>
          <p:cNvPr id="16" name="Text 14"/>
          <p:cNvSpPr txBox="1"/>
          <p:nvPr/>
        </p:nvSpPr>
        <p:spPr>
          <a:xfrm>
            <a:off x="1417320" y="3383280"/>
            <a:ext cx="1828800" cy="365760"/>
          </a:xfrm>
          <a:prstGeom prst="rect">
            <a:avLst/>
          </a:prstGeom>
          <a:noFill/>
          <a:ln/>
        </p:spPr>
        <p:txBody>
          <a:bodyPr wrap="square" lIns="0" tIns="0" rIns="0" bIns="0" rtlCol="0" anchor="t"/>
          <a:lstStyle/>
          <a:p>
            <a:pPr algn="ctr" indent="0" marL="0">
              <a:buNone/>
            </a:pPr>
            <a:r>
              <a:rPr lang="en-US" sz="1500" b="1" dirty="0">
                <a:solidFill>
                  <a:srgbClr val="F5B43C"/>
                </a:solidFill>
                <a:latin typeface="Calibri" pitchFamily="34" charset="0"/>
                <a:ea typeface="Calibri" pitchFamily="34" charset="-122"/>
                <a:cs typeface="Calibri" pitchFamily="34" charset="-120"/>
              </a:rPr>
              <a:t>SEARCHING</a:t>
            </a:r>
            <a:endParaRPr lang="en-US" sz="1500" dirty="0"/>
          </a:p>
        </p:txBody>
      </p:sp>
      <p:sp>
        <p:nvSpPr>
          <p:cNvPr id="17" name="Text 15"/>
          <p:cNvSpPr txBox="1"/>
          <p:nvPr/>
        </p:nvSpPr>
        <p:spPr>
          <a:xfrm>
            <a:off x="1508760" y="3767328"/>
            <a:ext cx="1645920" cy="27432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no confident crosswalk</a:t>
            </a:r>
            <a:endParaRPr lang="en-US" sz="1100" dirty="0"/>
          </a:p>
        </p:txBody>
      </p:sp>
      <p:sp>
        <p:nvSpPr>
          <p:cNvPr id="18" name="Shape 16"/>
          <p:cNvSpPr/>
          <p:nvPr/>
        </p:nvSpPr>
        <p:spPr>
          <a:xfrm>
            <a:off x="4864608" y="2423160"/>
            <a:ext cx="2468880" cy="2468880"/>
          </a:xfrm>
          <a:prstGeom prst="ellipse">
            <a:avLst/>
          </a:prstGeom>
          <a:solidFill>
            <a:srgbClr val="F2545B"/>
          </a:solidFill>
          <a:ln w="25400">
            <a:solidFill>
              <a:srgbClr val="F2545B"/>
            </a:solidFill>
            <a:prstDash val="solid"/>
          </a:ln>
        </p:spPr>
      </p:sp>
      <p:sp>
        <p:nvSpPr>
          <p:cNvPr id="19" name="Text 17"/>
          <p:cNvSpPr txBox="1"/>
          <p:nvPr/>
        </p:nvSpPr>
        <p:spPr>
          <a:xfrm>
            <a:off x="4864608" y="3383280"/>
            <a:ext cx="2468880" cy="365760"/>
          </a:xfrm>
          <a:prstGeom prst="rect">
            <a:avLst/>
          </a:prstGeom>
          <a:noFill/>
          <a:ln/>
        </p:spPr>
        <p:txBody>
          <a:bodyPr wrap="square" lIns="0" tIns="0" rIns="0" bIns="0" rtlCol="0" anchor="t"/>
          <a:lstStyle/>
          <a:p>
            <a:pPr algn="ctr" indent="0" marL="0">
              <a:buNone/>
            </a:pPr>
            <a:r>
              <a:rPr lang="en-US" sz="2200" b="1" dirty="0">
                <a:solidFill>
                  <a:srgbClr val="FFFFFF"/>
                </a:solidFill>
                <a:latin typeface="Calibri" pitchFamily="34" charset="0"/>
                <a:ea typeface="Calibri" pitchFamily="34" charset="-122"/>
                <a:cs typeface="Calibri" pitchFamily="34" charset="-120"/>
              </a:rPr>
              <a:t>WAITING</a:t>
            </a:r>
            <a:endParaRPr lang="en-US" sz="2200" dirty="0"/>
          </a:p>
        </p:txBody>
      </p:sp>
      <p:sp>
        <p:nvSpPr>
          <p:cNvPr id="20" name="Text 18"/>
          <p:cNvSpPr txBox="1"/>
          <p:nvPr/>
        </p:nvSpPr>
        <p:spPr>
          <a:xfrm>
            <a:off x="4956048" y="3767328"/>
            <a:ext cx="22860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the default</a:t>
            </a:r>
            <a:endParaRPr lang="en-US" sz="1100" dirty="0"/>
          </a:p>
        </p:txBody>
      </p:sp>
      <p:sp>
        <p:nvSpPr>
          <p:cNvPr id="21" name="Shape 19"/>
          <p:cNvSpPr/>
          <p:nvPr/>
        </p:nvSpPr>
        <p:spPr>
          <a:xfrm>
            <a:off x="8961120" y="2743200"/>
            <a:ext cx="1828800" cy="1828800"/>
          </a:xfrm>
          <a:prstGeom prst="ellipse">
            <a:avLst/>
          </a:prstGeom>
          <a:solidFill>
            <a:srgbClr val="3DD68C">
              <a:alpha val="18000"/>
            </a:srgbClr>
          </a:solidFill>
          <a:ln w="25400">
            <a:solidFill>
              <a:srgbClr val="3DD68C"/>
            </a:solidFill>
            <a:prstDash val="solid"/>
          </a:ln>
        </p:spPr>
      </p:sp>
      <p:sp>
        <p:nvSpPr>
          <p:cNvPr id="22" name="Text 20"/>
          <p:cNvSpPr txBox="1"/>
          <p:nvPr/>
        </p:nvSpPr>
        <p:spPr>
          <a:xfrm>
            <a:off x="8961120" y="3383280"/>
            <a:ext cx="1828800" cy="365760"/>
          </a:xfrm>
          <a:prstGeom prst="rect">
            <a:avLst/>
          </a:prstGeom>
          <a:noFill/>
          <a:ln/>
        </p:spPr>
        <p:txBody>
          <a:bodyPr wrap="square" lIns="0" tIns="0" rIns="0" bIns="0" rtlCol="0" anchor="t"/>
          <a:lstStyle/>
          <a:p>
            <a:pPr algn="ctr" indent="0" marL="0">
              <a:buNone/>
            </a:pPr>
            <a:r>
              <a:rPr lang="en-US" sz="1500" b="1" dirty="0">
                <a:solidFill>
                  <a:srgbClr val="3DD68C"/>
                </a:solidFill>
                <a:latin typeface="Calibri" pitchFamily="34" charset="0"/>
                <a:ea typeface="Calibri" pitchFamily="34" charset="-122"/>
                <a:cs typeface="Calibri" pitchFamily="34" charset="-120"/>
              </a:rPr>
              <a:t>SAFE TO CROSS</a:t>
            </a:r>
            <a:endParaRPr lang="en-US" sz="1500" dirty="0"/>
          </a:p>
        </p:txBody>
      </p:sp>
      <p:sp>
        <p:nvSpPr>
          <p:cNvPr id="23" name="Text 21"/>
          <p:cNvSpPr txBox="1"/>
          <p:nvPr/>
        </p:nvSpPr>
        <p:spPr>
          <a:xfrm>
            <a:off x="9052560" y="3767328"/>
            <a:ext cx="1645920" cy="274320"/>
          </a:xfrm>
          <a:prstGeom prst="rect">
            <a:avLst/>
          </a:prstGeom>
          <a:noFill/>
          <a:ln/>
        </p:spPr>
        <p:txBody>
          <a:bodyPr wrap="square" lIns="0" tIns="0" rIns="0" bIns="0" rtlCol="0" anchor="t"/>
          <a:lstStyle/>
          <a:p>
            <a:pPr algn="ctr" indent="0" marL="0">
              <a:buNone/>
            </a:pPr>
            <a:r>
              <a:rPr lang="en-US" sz="1100" dirty="0">
                <a:solidFill>
                  <a:srgbClr val="A3ACBA"/>
                </a:solidFill>
                <a:latin typeface="Calibri" pitchFamily="34" charset="0"/>
                <a:ea typeface="Calibri" pitchFamily="34" charset="-122"/>
                <a:cs typeface="Calibri" pitchFamily="34" charset="-120"/>
              </a:rPr>
              <a:t>earned, never assumed</a:t>
            </a:r>
            <a:endParaRPr lang="en-US" sz="1100" dirty="0"/>
          </a:p>
        </p:txBody>
      </p:sp>
      <p:sp>
        <p:nvSpPr>
          <p:cNvPr id="24" name="Shape 22"/>
          <p:cNvSpPr/>
          <p:nvPr/>
        </p:nvSpPr>
        <p:spPr>
          <a:xfrm>
            <a:off x="3123614" y="3200400"/>
            <a:ext cx="1828783" cy="0"/>
          </a:xfrm>
          <a:prstGeom prst="line">
            <a:avLst/>
          </a:prstGeom>
          <a:noFill/>
          <a:ln w="19050">
            <a:solidFill>
              <a:srgbClr val="A3ACBA"/>
            </a:solidFill>
            <a:prstDash val="solid"/>
            <a:tailEnd type="triangle"/>
          </a:ln>
        </p:spPr>
      </p:sp>
      <p:sp>
        <p:nvSpPr>
          <p:cNvPr id="25" name="Text 23"/>
          <p:cNvSpPr txBox="1"/>
          <p:nvPr/>
        </p:nvSpPr>
        <p:spPr>
          <a:xfrm>
            <a:off x="3063240" y="2633472"/>
            <a:ext cx="2103120" cy="256032"/>
          </a:xfrm>
          <a:prstGeom prst="rect">
            <a:avLst/>
          </a:prstGeom>
          <a:noFill/>
          <a:ln/>
        </p:spPr>
        <p:txBody>
          <a:bodyPr wrap="square" lIns="0" tIns="0" rIns="0" bIns="0" rtlCol="0" anchor="t"/>
          <a:lstStyle/>
          <a:p>
            <a:pPr algn="ctr" indent="0" marL="0">
              <a:buNone/>
            </a:pPr>
            <a:r>
              <a:rPr lang="en-US" sz="1150" b="1" dirty="0">
                <a:solidFill>
                  <a:srgbClr val="F2F4F7"/>
                </a:solidFill>
                <a:latin typeface="Calibri" pitchFamily="34" charset="0"/>
                <a:ea typeface="Calibri" pitchFamily="34" charset="-122"/>
                <a:cs typeface="Calibri" pitchFamily="34" charset="-120"/>
              </a:rPr>
              <a:t>crosswalk found</a:t>
            </a:r>
            <a:endParaRPr lang="en-US" sz="1150" dirty="0"/>
          </a:p>
        </p:txBody>
      </p:sp>
      <p:sp>
        <p:nvSpPr>
          <p:cNvPr id="26" name="Text 24"/>
          <p:cNvSpPr txBox="1"/>
          <p:nvPr/>
        </p:nvSpPr>
        <p:spPr>
          <a:xfrm>
            <a:off x="3063240" y="2871216"/>
            <a:ext cx="2103120" cy="228600"/>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8-frame vote</a:t>
            </a:r>
            <a:endParaRPr lang="en-US" sz="1050" dirty="0"/>
          </a:p>
        </p:txBody>
      </p:sp>
      <p:sp>
        <p:nvSpPr>
          <p:cNvPr id="27" name="Shape 25"/>
          <p:cNvSpPr/>
          <p:nvPr/>
        </p:nvSpPr>
        <p:spPr>
          <a:xfrm flipH="1">
            <a:off x="3123614" y="4114800"/>
            <a:ext cx="1828783" cy="0"/>
          </a:xfrm>
          <a:prstGeom prst="line">
            <a:avLst/>
          </a:prstGeom>
          <a:noFill/>
          <a:ln w="19050">
            <a:solidFill>
              <a:srgbClr val="A3ACBA"/>
            </a:solidFill>
            <a:prstDash val="solid"/>
            <a:tailEnd type="triangle"/>
          </a:ln>
        </p:spPr>
      </p:sp>
      <p:sp>
        <p:nvSpPr>
          <p:cNvPr id="28" name="Text 26"/>
          <p:cNvSpPr txBox="1"/>
          <p:nvPr/>
        </p:nvSpPr>
        <p:spPr>
          <a:xfrm>
            <a:off x="3063240" y="4187952"/>
            <a:ext cx="2103120" cy="256032"/>
          </a:xfrm>
          <a:prstGeom prst="rect">
            <a:avLst/>
          </a:prstGeom>
          <a:noFill/>
          <a:ln/>
        </p:spPr>
        <p:txBody>
          <a:bodyPr wrap="square" lIns="0" tIns="0" rIns="0" bIns="0" rtlCol="0" anchor="t"/>
          <a:lstStyle/>
          <a:p>
            <a:pPr algn="ctr" indent="0" marL="0">
              <a:buNone/>
            </a:pPr>
            <a:r>
              <a:rPr lang="en-US" sz="1150" b="1" dirty="0">
                <a:solidFill>
                  <a:srgbClr val="F2F4F7"/>
                </a:solidFill>
                <a:latin typeface="Calibri" pitchFamily="34" charset="0"/>
                <a:ea typeface="Calibri" pitchFamily="34" charset="-122"/>
                <a:cs typeface="Calibri" pitchFamily="34" charset="-120"/>
              </a:rPr>
              <a:t>crosswalk lost</a:t>
            </a:r>
            <a:endParaRPr lang="en-US" sz="1150" dirty="0"/>
          </a:p>
        </p:txBody>
      </p:sp>
      <p:sp>
        <p:nvSpPr>
          <p:cNvPr id="29" name="Text 27"/>
          <p:cNvSpPr txBox="1"/>
          <p:nvPr/>
        </p:nvSpPr>
        <p:spPr>
          <a:xfrm>
            <a:off x="3063240" y="4425696"/>
            <a:ext cx="2103120" cy="228600"/>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8-frame vote</a:t>
            </a:r>
            <a:endParaRPr lang="en-US" sz="1050" dirty="0"/>
          </a:p>
        </p:txBody>
      </p:sp>
      <p:sp>
        <p:nvSpPr>
          <p:cNvPr id="30" name="Shape 28"/>
          <p:cNvSpPr/>
          <p:nvPr/>
        </p:nvSpPr>
        <p:spPr>
          <a:xfrm>
            <a:off x="7245700" y="3200400"/>
            <a:ext cx="1837927" cy="0"/>
          </a:xfrm>
          <a:prstGeom prst="line">
            <a:avLst/>
          </a:prstGeom>
          <a:noFill/>
          <a:ln w="15875">
            <a:solidFill>
              <a:srgbClr val="3DD68C"/>
            </a:solidFill>
            <a:prstDash val="solid"/>
            <a:tailEnd type="triangle"/>
          </a:ln>
        </p:spPr>
      </p:sp>
      <p:sp>
        <p:nvSpPr>
          <p:cNvPr id="31" name="Text 29"/>
          <p:cNvSpPr txBox="1"/>
          <p:nvPr/>
        </p:nvSpPr>
        <p:spPr>
          <a:xfrm>
            <a:off x="7223760" y="2633472"/>
            <a:ext cx="2011680" cy="256032"/>
          </a:xfrm>
          <a:prstGeom prst="rect">
            <a:avLst/>
          </a:prstGeom>
          <a:noFill/>
          <a:ln/>
        </p:spPr>
        <p:txBody>
          <a:bodyPr wrap="square" lIns="0" tIns="0" rIns="0" bIns="0" rtlCol="0" anchor="t"/>
          <a:lstStyle/>
          <a:p>
            <a:pPr algn="ctr" indent="0" marL="0">
              <a:buNone/>
            </a:pPr>
            <a:r>
              <a:rPr lang="en-US" sz="1150" b="1" dirty="0">
                <a:solidFill>
                  <a:srgbClr val="3DD68C"/>
                </a:solidFill>
                <a:latin typeface="Calibri" pitchFamily="34" charset="0"/>
                <a:ea typeface="Calibri" pitchFamily="34" charset="-122"/>
                <a:cs typeface="Calibri" pitchFamily="34" charset="-120"/>
              </a:rPr>
              <a:t>green + clear road</a:t>
            </a:r>
            <a:endParaRPr lang="en-US" sz="1150" dirty="0"/>
          </a:p>
        </p:txBody>
      </p:sp>
      <p:sp>
        <p:nvSpPr>
          <p:cNvPr id="32" name="Text 30"/>
          <p:cNvSpPr txBox="1"/>
          <p:nvPr/>
        </p:nvSpPr>
        <p:spPr>
          <a:xfrm>
            <a:off x="7223760" y="2871216"/>
            <a:ext cx="2011680" cy="228600"/>
          </a:xfrm>
          <a:prstGeom prst="rect">
            <a:avLst/>
          </a:prstGeom>
          <a:noFill/>
          <a:ln/>
        </p:spPr>
        <p:txBody>
          <a:bodyPr wrap="square" lIns="0" tIns="0" rIns="0" bIns="0" rtlCol="0" anchor="t"/>
          <a:lstStyle/>
          <a:p>
            <a:pPr algn="ctr" indent="0" marL="0">
              <a:buNone/>
            </a:pPr>
            <a:r>
              <a:rPr lang="en-US" sz="1050" dirty="0">
                <a:solidFill>
                  <a:srgbClr val="A3ACBA"/>
                </a:solidFill>
                <a:latin typeface="Calibri" pitchFamily="34" charset="0"/>
                <a:ea typeface="Calibri" pitchFamily="34" charset="-122"/>
                <a:cs typeface="Calibri" pitchFamily="34" charset="-120"/>
              </a:rPr>
              <a:t>8 consecutive frames</a:t>
            </a:r>
            <a:endParaRPr lang="en-US" sz="1050" dirty="0"/>
          </a:p>
        </p:txBody>
      </p:sp>
      <p:sp>
        <p:nvSpPr>
          <p:cNvPr id="33" name="Shape 31"/>
          <p:cNvSpPr/>
          <p:nvPr/>
        </p:nvSpPr>
        <p:spPr>
          <a:xfrm flipH="1">
            <a:off x="7245700" y="4114800"/>
            <a:ext cx="1837927" cy="0"/>
          </a:xfrm>
          <a:prstGeom prst="line">
            <a:avLst/>
          </a:prstGeom>
          <a:noFill/>
          <a:ln w="57150">
            <a:solidFill>
              <a:srgbClr val="F2545B"/>
            </a:solidFill>
            <a:prstDash val="solid"/>
            <a:tailEnd type="triangle"/>
          </a:ln>
        </p:spPr>
      </p:sp>
      <p:sp>
        <p:nvSpPr>
          <p:cNvPr id="34" name="Text 32"/>
          <p:cNvSpPr txBox="1"/>
          <p:nvPr/>
        </p:nvSpPr>
        <p:spPr>
          <a:xfrm>
            <a:off x="7223760" y="4206240"/>
            <a:ext cx="2011680" cy="256032"/>
          </a:xfrm>
          <a:prstGeom prst="rect">
            <a:avLst/>
          </a:prstGeom>
          <a:noFill/>
          <a:ln/>
        </p:spPr>
        <p:txBody>
          <a:bodyPr wrap="square" lIns="0" tIns="0" rIns="0" bIns="0" rtlCol="0" anchor="t"/>
          <a:lstStyle/>
          <a:p>
            <a:pPr algn="ctr" indent="0" marL="0">
              <a:buNone/>
            </a:pPr>
            <a:r>
              <a:rPr lang="en-US" sz="1150" b="1" dirty="0">
                <a:solidFill>
                  <a:srgbClr val="F2545B"/>
                </a:solidFill>
                <a:latin typeface="Calibri" pitchFamily="34" charset="0"/>
                <a:ea typeface="Calibri" pitchFamily="34" charset="-122"/>
                <a:cs typeface="Calibri" pitchFamily="34" charset="-120"/>
              </a:rPr>
              <a:t>any danger</a:t>
            </a:r>
            <a:endParaRPr lang="en-US" sz="1150" dirty="0"/>
          </a:p>
        </p:txBody>
      </p:sp>
      <p:sp>
        <p:nvSpPr>
          <p:cNvPr id="35" name="Text 33"/>
          <p:cNvSpPr txBox="1"/>
          <p:nvPr/>
        </p:nvSpPr>
        <p:spPr>
          <a:xfrm>
            <a:off x="7223760" y="4443984"/>
            <a:ext cx="2011680" cy="228600"/>
          </a:xfrm>
          <a:prstGeom prst="rect">
            <a:avLst/>
          </a:prstGeom>
          <a:noFill/>
          <a:ln/>
        </p:spPr>
        <p:txBody>
          <a:bodyPr wrap="square" lIns="0" tIns="0" rIns="0" bIns="0" rtlCol="0" anchor="t"/>
          <a:lstStyle/>
          <a:p>
            <a:pPr algn="ctr" indent="0" marL="0">
              <a:buNone/>
            </a:pPr>
            <a:r>
              <a:rPr lang="en-US" sz="1050" dirty="0">
                <a:solidFill>
                  <a:srgbClr val="F2545B"/>
                </a:solidFill>
                <a:latin typeface="Calibri" pitchFamily="34" charset="0"/>
                <a:ea typeface="Calibri" pitchFamily="34" charset="-122"/>
                <a:cs typeface="Calibri" pitchFamily="34" charset="-120"/>
              </a:rPr>
              <a:t>next frame, no vote</a:t>
            </a:r>
            <a:endParaRPr lang="en-US" sz="1050" dirty="0"/>
          </a:p>
        </p:txBody>
      </p:sp>
      <p:sp>
        <p:nvSpPr>
          <p:cNvPr id="36" name="Shape 34"/>
          <p:cNvSpPr/>
          <p:nvPr/>
        </p:nvSpPr>
        <p:spPr>
          <a:xfrm>
            <a:off x="9875520" y="4572000"/>
            <a:ext cx="0" cy="960120"/>
          </a:xfrm>
          <a:prstGeom prst="line">
            <a:avLst/>
          </a:prstGeom>
          <a:noFill/>
          <a:ln w="31750">
            <a:solidFill>
              <a:srgbClr val="F2545B"/>
            </a:solidFill>
            <a:prstDash val="solid"/>
          </a:ln>
        </p:spPr>
      </p:sp>
      <p:sp>
        <p:nvSpPr>
          <p:cNvPr id="37" name="Shape 35"/>
          <p:cNvSpPr/>
          <p:nvPr/>
        </p:nvSpPr>
        <p:spPr>
          <a:xfrm flipH="1">
            <a:off x="2331720" y="5532120"/>
            <a:ext cx="7543800" cy="0"/>
          </a:xfrm>
          <a:prstGeom prst="line">
            <a:avLst/>
          </a:prstGeom>
          <a:noFill/>
          <a:ln w="31750">
            <a:solidFill>
              <a:srgbClr val="F2545B"/>
            </a:solidFill>
            <a:prstDash val="solid"/>
          </a:ln>
        </p:spPr>
      </p:sp>
      <p:sp>
        <p:nvSpPr>
          <p:cNvPr id="38" name="Shape 36"/>
          <p:cNvSpPr/>
          <p:nvPr/>
        </p:nvSpPr>
        <p:spPr>
          <a:xfrm flipV="1">
            <a:off x="2331720" y="4590288"/>
            <a:ext cx="0" cy="941832"/>
          </a:xfrm>
          <a:prstGeom prst="line">
            <a:avLst/>
          </a:prstGeom>
          <a:noFill/>
          <a:ln w="31750">
            <a:solidFill>
              <a:srgbClr val="F2545B"/>
            </a:solidFill>
            <a:prstDash val="solid"/>
            <a:tailEnd type="triangle"/>
          </a:ln>
        </p:spPr>
      </p:sp>
      <p:sp>
        <p:nvSpPr>
          <p:cNvPr id="39" name="Text 37"/>
          <p:cNvSpPr txBox="1"/>
          <p:nvPr/>
        </p:nvSpPr>
        <p:spPr>
          <a:xfrm>
            <a:off x="3840480" y="5596128"/>
            <a:ext cx="4572000" cy="256032"/>
          </a:xfrm>
          <a:prstGeom prst="rect">
            <a:avLst/>
          </a:prstGeom>
          <a:noFill/>
          <a:ln/>
        </p:spPr>
        <p:txBody>
          <a:bodyPr wrap="square" lIns="0" tIns="0" rIns="0" bIns="0" rtlCol="0" anchor="t"/>
          <a:lstStyle/>
          <a:p>
            <a:pPr algn="ctr" indent="0" marL="0">
              <a:buNone/>
            </a:pPr>
            <a:r>
              <a:rPr lang="en-US" sz="1150" b="1" dirty="0">
                <a:solidFill>
                  <a:srgbClr val="F2545B"/>
                </a:solidFill>
                <a:latin typeface="Calibri" pitchFamily="34" charset="0"/>
                <a:ea typeface="Calibri" pitchFamily="34" charset="-122"/>
                <a:cs typeface="Calibri" pitchFamily="34" charset="-120"/>
              </a:rPr>
              <a:t>crosswalk lost while SAFE: immediate, no vote</a:t>
            </a:r>
            <a:endParaRPr lang="en-US" sz="1150" dirty="0"/>
          </a:p>
        </p:txBody>
      </p:sp>
      <p:sp>
        <p:nvSpPr>
          <p:cNvPr id="40" name="Shape 38"/>
          <p:cNvSpPr/>
          <p:nvPr/>
        </p:nvSpPr>
        <p:spPr>
          <a:xfrm>
            <a:off x="594360" y="2331720"/>
            <a:ext cx="1170432" cy="594360"/>
          </a:xfrm>
          <a:prstGeom prst="line">
            <a:avLst/>
          </a:prstGeom>
          <a:noFill/>
          <a:ln w="19050">
            <a:solidFill>
              <a:srgbClr val="A3ACBA"/>
            </a:solidFill>
            <a:prstDash val="solid"/>
            <a:tailEnd type="triangle"/>
          </a:ln>
        </p:spPr>
      </p:sp>
      <p:sp>
        <p:nvSpPr>
          <p:cNvPr id="41" name="Text 39"/>
          <p:cNvSpPr txBox="1"/>
          <p:nvPr/>
        </p:nvSpPr>
        <p:spPr>
          <a:xfrm>
            <a:off x="548640" y="2011680"/>
            <a:ext cx="731520" cy="256032"/>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start</a:t>
            </a:r>
            <a:endParaRPr lang="en-US" sz="1150" dirty="0"/>
          </a:p>
        </p:txBody>
      </p:sp>
      <p:sp>
        <p:nvSpPr>
          <p:cNvPr id="42" name="Text 40"/>
          <p:cNvSpPr txBox="1"/>
          <p:nvPr/>
        </p:nvSpPr>
        <p:spPr>
          <a:xfrm>
            <a:off x="548640" y="1371600"/>
            <a:ext cx="11091672" cy="365760"/>
          </a:xfrm>
          <a:prstGeom prst="rect">
            <a:avLst/>
          </a:prstGeom>
          <a:noFill/>
          <a:ln/>
        </p:spPr>
        <p:txBody>
          <a:bodyPr wrap="square" lIns="0" tIns="0" rIns="0" bIns="0" rtlCol="0" anchor="t"/>
          <a:lstStyle/>
          <a:p>
            <a:pPr indent="0" marL="0">
              <a:buNone/>
            </a:pPr>
            <a:r>
              <a:rPr lang="en-US" sz="1400" dirty="0">
                <a:solidFill>
                  <a:srgbClr val="A3ACBA"/>
                </a:solidFill>
                <a:latin typeface="Calibri" pitchFamily="34" charset="0"/>
                <a:ea typeface="Calibri" pitchFamily="34" charset="-122"/>
                <a:cs typeface="Calibri" pitchFamily="34" charset="-120"/>
              </a:rPr>
              <a:t>Every transition needs an 8-frame vote, with one exception: </a:t>
            </a:r>
            <a:pPr indent="0" marL="0">
              <a:buNone/>
            </a:pPr>
            <a:r>
              <a:rPr lang="en-US" sz="1400" b="1" dirty="0">
                <a:solidFill>
                  <a:srgbClr val="F2545B"/>
                </a:solidFill>
                <a:latin typeface="Calibri" pitchFamily="34" charset="0"/>
                <a:ea typeface="Calibri" pitchFamily="34" charset="-122"/>
                <a:cs typeface="Calibri" pitchFamily="34" charset="-120"/>
              </a:rPr>
              <a:t>leaving SAFE is instant.</a:t>
            </a:r>
            <a:pPr indent="0" marL="0">
              <a:buNone/>
            </a:pPr>
            <a:r>
              <a:rPr lang="en-US" sz="1400" dirty="0">
                <a:solidFill>
                  <a:srgbClr val="A3ACBA"/>
                </a:solidFill>
                <a:latin typeface="Calibri" pitchFamily="34" charset="0"/>
                <a:ea typeface="Calibri" pitchFamily="34" charset="-122"/>
                <a:cs typeface="Calibri" pitchFamily="34" charset="-120"/>
              </a:rPr>
              <a:t>  Only SAFE TO CROSS ever produces a “safe to cross” announcement.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ellipse">
            <a:avLst/>
          </a:prstGeom>
          <a:solidFill>
            <a:srgbClr val="F2545B"/>
          </a:solidFill>
          <a:ln/>
        </p:spPr>
      </p:sp>
      <p:sp>
        <p:nvSpPr>
          <p:cNvPr id="3" name="Shape 1"/>
          <p:cNvSpPr/>
          <p:nvPr/>
        </p:nvSpPr>
        <p:spPr>
          <a:xfrm>
            <a:off x="740664" y="448056"/>
            <a:ext cx="128016" cy="128016"/>
          </a:xfrm>
          <a:prstGeom prst="ellipse">
            <a:avLst/>
          </a:prstGeom>
          <a:solidFill>
            <a:srgbClr val="F5B43C">
              <a:alpha val="20000"/>
            </a:srgbClr>
          </a:solidFill>
          <a:ln/>
        </p:spPr>
      </p:sp>
      <p:sp>
        <p:nvSpPr>
          <p:cNvPr id="4" name="Shape 2"/>
          <p:cNvSpPr/>
          <p:nvPr/>
        </p:nvSpPr>
        <p:spPr>
          <a:xfrm>
            <a:off x="932688" y="448056"/>
            <a:ext cx="128016" cy="128016"/>
          </a:xfrm>
          <a:prstGeom prst="ellipse">
            <a:avLst/>
          </a:prstGeom>
          <a:solidFill>
            <a:srgbClr val="3DD68C">
              <a:alpha val="20000"/>
            </a:srgbClr>
          </a:solidFill>
          <a:ln/>
        </p:spPr>
      </p:sp>
      <p:sp>
        <p:nvSpPr>
          <p:cNvPr id="5" name="Text 3"/>
          <p:cNvSpPr txBox="1"/>
          <p:nvPr/>
        </p:nvSpPr>
        <p:spPr>
          <a:xfrm>
            <a:off x="1234440" y="393192"/>
            <a:ext cx="5486400" cy="237744"/>
          </a:xfrm>
          <a:prstGeom prst="rect">
            <a:avLst/>
          </a:prstGeom>
          <a:noFill/>
          <a:ln/>
        </p:spPr>
        <p:txBody>
          <a:bodyPr wrap="square" lIns="0" tIns="0" rIns="0" bIns="0" rtlCol="0" anchor="t"/>
          <a:lstStyle/>
          <a:p>
            <a:pPr indent="0" marL="0">
              <a:buNone/>
            </a:pPr>
            <a:r>
              <a:rPr lang="en-US" sz="1100" b="1" spc="200" kern="0" dirty="0">
                <a:solidFill>
                  <a:srgbClr val="A3ACBA"/>
                </a:solidFill>
                <a:latin typeface="Calibri" pitchFamily="34" charset="0"/>
                <a:ea typeface="Calibri" pitchFamily="34" charset="-122"/>
                <a:cs typeface="Calibri" pitchFamily="34" charset="-120"/>
              </a:rPr>
              <a:t>WORKFLOW</a:t>
            </a:r>
            <a:endParaRPr lang="en-US" sz="1100" dirty="0"/>
          </a:p>
        </p:txBody>
      </p:sp>
      <p:sp>
        <p:nvSpPr>
          <p:cNvPr id="6" name="Shape 4"/>
          <p:cNvSpPr/>
          <p:nvPr/>
        </p:nvSpPr>
        <p:spPr>
          <a:xfrm>
            <a:off x="9902952" y="484632"/>
            <a:ext cx="237744" cy="54864"/>
          </a:xfrm>
          <a:prstGeom prst="rect">
            <a:avLst/>
          </a:prstGeom>
          <a:solidFill>
            <a:srgbClr val="2E3845"/>
          </a:solidFill>
          <a:ln/>
        </p:spPr>
      </p:sp>
      <p:sp>
        <p:nvSpPr>
          <p:cNvPr id="7" name="Shape 5"/>
          <p:cNvSpPr/>
          <p:nvPr/>
        </p:nvSpPr>
        <p:spPr>
          <a:xfrm>
            <a:off x="10195560" y="484632"/>
            <a:ext cx="237744" cy="54864"/>
          </a:xfrm>
          <a:prstGeom prst="rect">
            <a:avLst/>
          </a:prstGeom>
          <a:solidFill>
            <a:srgbClr val="2E3845"/>
          </a:solidFill>
          <a:ln/>
        </p:spPr>
      </p:sp>
      <p:sp>
        <p:nvSpPr>
          <p:cNvPr id="8" name="Shape 6"/>
          <p:cNvSpPr/>
          <p:nvPr/>
        </p:nvSpPr>
        <p:spPr>
          <a:xfrm>
            <a:off x="10488168" y="484632"/>
            <a:ext cx="237744" cy="54864"/>
          </a:xfrm>
          <a:prstGeom prst="rect">
            <a:avLst/>
          </a:prstGeom>
          <a:solidFill>
            <a:srgbClr val="2E3845"/>
          </a:solidFill>
          <a:ln/>
        </p:spPr>
      </p:sp>
      <p:sp>
        <p:nvSpPr>
          <p:cNvPr id="9" name="Shape 7"/>
          <p:cNvSpPr/>
          <p:nvPr/>
        </p:nvSpPr>
        <p:spPr>
          <a:xfrm>
            <a:off x="10780776" y="484632"/>
            <a:ext cx="237744" cy="54864"/>
          </a:xfrm>
          <a:prstGeom prst="rect">
            <a:avLst/>
          </a:prstGeom>
          <a:solidFill>
            <a:srgbClr val="2E3845"/>
          </a:solidFill>
          <a:ln/>
        </p:spPr>
      </p:sp>
      <p:sp>
        <p:nvSpPr>
          <p:cNvPr id="10" name="Shape 8"/>
          <p:cNvSpPr/>
          <p:nvPr/>
        </p:nvSpPr>
        <p:spPr>
          <a:xfrm>
            <a:off x="11073384" y="484632"/>
            <a:ext cx="237744" cy="54864"/>
          </a:xfrm>
          <a:prstGeom prst="rect">
            <a:avLst/>
          </a:prstGeom>
          <a:solidFill>
            <a:srgbClr val="2E3845"/>
          </a:solidFill>
          <a:ln/>
        </p:spPr>
      </p:sp>
      <p:sp>
        <p:nvSpPr>
          <p:cNvPr id="11" name="Shape 9"/>
          <p:cNvSpPr/>
          <p:nvPr/>
        </p:nvSpPr>
        <p:spPr>
          <a:xfrm>
            <a:off x="11365992" y="484632"/>
            <a:ext cx="237744" cy="54864"/>
          </a:xfrm>
          <a:prstGeom prst="rect">
            <a:avLst/>
          </a:prstGeom>
          <a:solidFill>
            <a:srgbClr val="F2F4F7"/>
          </a:solidFill>
          <a:ln/>
        </p:spPr>
      </p:sp>
      <p:sp>
        <p:nvSpPr>
          <p:cNvPr id="12" name="Text 10"/>
          <p:cNvSpPr txBox="1"/>
          <p:nvPr/>
        </p:nvSpPr>
        <p:spPr>
          <a:xfrm>
            <a:off x="548640" y="713232"/>
            <a:ext cx="11091672" cy="640080"/>
          </a:xfrm>
          <a:prstGeom prst="rect">
            <a:avLst/>
          </a:prstGeom>
          <a:noFill/>
          <a:ln/>
        </p:spPr>
        <p:txBody>
          <a:bodyPr wrap="square" lIns="0" tIns="0" rIns="0" bIns="0" rtlCol="0" anchor="t"/>
          <a:lstStyle/>
          <a:p>
            <a:pPr indent="0" marL="0">
              <a:buNone/>
            </a:pPr>
            <a:r>
              <a:rPr lang="en-US" sz="3000" b="1" dirty="0">
                <a:solidFill>
                  <a:srgbClr val="F2F4F7"/>
                </a:solidFill>
                <a:latin typeface="Calibri" pitchFamily="34" charset="0"/>
                <a:ea typeface="Calibri" pitchFamily="34" charset="-122"/>
                <a:cs typeface="Calibri" pitchFamily="34" charset="-120"/>
              </a:rPr>
              <a:t>Project workflow: from data to decisions you can audit</a:t>
            </a:r>
            <a:endParaRPr lang="en-US" sz="3000" dirty="0"/>
          </a:p>
        </p:txBody>
      </p:sp>
      <p:sp>
        <p:nvSpPr>
          <p:cNvPr id="13" name="Text 11"/>
          <p:cNvSpPr txBox="1"/>
          <p:nvPr/>
        </p:nvSpPr>
        <p:spPr>
          <a:xfrm>
            <a:off x="548640" y="6428232"/>
            <a:ext cx="5486400" cy="228600"/>
          </a:xfrm>
          <a:prstGeom prst="rect">
            <a:avLst/>
          </a:prstGeom>
          <a:noFill/>
          <a:ln/>
        </p:spPr>
        <p:txBody>
          <a:bodyPr wrap="square" lIns="0" tIns="0" rIns="0" bIns="0" rtlCol="0" anchor="t"/>
          <a:lstStyle/>
          <a:p>
            <a:pPr indent="0" marL="0">
              <a:buNone/>
            </a:pPr>
            <a:r>
              <a:rPr lang="en-US" sz="1000" dirty="0">
                <a:solidFill>
                  <a:srgbClr val="667085"/>
                </a:solidFill>
                <a:latin typeface="Calibri" pitchFamily="34" charset="0"/>
                <a:ea typeface="Calibri" pitchFamily="34" charset="-122"/>
                <a:cs typeface="Calibri" pitchFamily="34" charset="-120"/>
              </a:rPr>
              <a:t>Safe Road-Crossing Assistance System  ·  Review Round 1</a:t>
            </a:r>
            <a:endParaRPr lang="en-US" sz="1000" dirty="0"/>
          </a:p>
        </p:txBody>
      </p:sp>
      <p:sp>
        <p:nvSpPr>
          <p:cNvPr id="14" name="Text 12"/>
          <p:cNvSpPr txBox="1"/>
          <p:nvPr/>
        </p:nvSpPr>
        <p:spPr>
          <a:xfrm>
            <a:off x="11183112" y="6428232"/>
            <a:ext cx="457200" cy="228600"/>
          </a:xfrm>
          <a:prstGeom prst="rect">
            <a:avLst/>
          </a:prstGeom>
          <a:noFill/>
          <a:ln/>
        </p:spPr>
        <p:txBody>
          <a:bodyPr wrap="square" lIns="0" tIns="0" rIns="0" bIns="0" rtlCol="0" anchor="t"/>
          <a:lstStyle/>
          <a:p>
            <a:pPr algn="r" indent="0" marL="0">
              <a:buNone/>
            </a:pPr>
            <a:r>
              <a:rPr lang="en-US" sz="1000" dirty="0">
                <a:solidFill>
                  <a:srgbClr val="667085"/>
                </a:solidFill>
                <a:latin typeface="Calibri" pitchFamily="34" charset="0"/>
                <a:ea typeface="Calibri" pitchFamily="34" charset="-122"/>
                <a:cs typeface="Calibri" pitchFamily="34" charset="-120"/>
              </a:rPr>
              <a:t>20</a:t>
            </a:r>
            <a:endParaRPr lang="en-US" sz="1000" dirty="0"/>
          </a:p>
        </p:txBody>
      </p:sp>
      <p:sp>
        <p:nvSpPr>
          <p:cNvPr id="15" name="Shape 13"/>
          <p:cNvSpPr/>
          <p:nvPr/>
        </p:nvSpPr>
        <p:spPr>
          <a:xfrm>
            <a:off x="548640" y="1645920"/>
            <a:ext cx="1664208" cy="1920240"/>
          </a:xfrm>
          <a:prstGeom prst="roundRect">
            <a:avLst>
              <a:gd name="adj" fmla="val 5495"/>
            </a:avLst>
          </a:prstGeom>
          <a:solidFill>
            <a:srgbClr val="161B22"/>
          </a:solidFill>
          <a:ln w="9525">
            <a:solidFill>
              <a:srgbClr val="2E3845"/>
            </a:solidFill>
            <a:prstDash val="solid"/>
          </a:ln>
        </p:spPr>
      </p:sp>
      <p:sp>
        <p:nvSpPr>
          <p:cNvPr id="16" name="Text 14"/>
          <p:cNvSpPr txBox="1"/>
          <p:nvPr/>
        </p:nvSpPr>
        <p:spPr>
          <a:xfrm>
            <a:off x="713232"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01</a:t>
            </a:r>
            <a:endParaRPr lang="en-US" sz="1200" dirty="0"/>
          </a:p>
        </p:txBody>
      </p:sp>
      <p:sp>
        <p:nvSpPr>
          <p:cNvPr id="17" name="Shape 15"/>
          <p:cNvSpPr/>
          <p:nvPr/>
        </p:nvSpPr>
        <p:spPr>
          <a:xfrm>
            <a:off x="1554480" y="1783080"/>
            <a:ext cx="502920" cy="502920"/>
          </a:xfrm>
          <a:prstGeom prst="ellipse">
            <a:avLst/>
          </a:prstGeom>
          <a:solidFill>
            <a:srgbClr val="5EC8E5">
              <a:alpha val="18000"/>
            </a:srgbClr>
          </a:solidFill>
          <a:ln/>
        </p:spPr>
      </p:sp>
      <p:pic>
        <p:nvPicPr>
          <p:cNvPr id="18" name="Image 0" descr="preencoded.png">    </p:cNvPr>
          <p:cNvPicPr>
            <a:picLocks noChangeAspect="1"/>
          </p:cNvPicPr>
          <p:nvPr/>
        </p:nvPicPr>
        <p:blipFill>
          <a:blip r:embed="rId1"/>
          <a:stretch>
            <a:fillRect/>
          </a:stretch>
        </p:blipFill>
        <p:spPr>
          <a:xfrm>
            <a:off x="1675181" y="1903781"/>
            <a:ext cx="261518" cy="261518"/>
          </a:xfrm>
          <a:prstGeom prst="rect">
            <a:avLst/>
          </a:prstGeom>
        </p:spPr>
      </p:pic>
      <p:sp>
        <p:nvSpPr>
          <p:cNvPr id="19" name="Text 16"/>
          <p:cNvSpPr txBox="1"/>
          <p:nvPr/>
        </p:nvSpPr>
        <p:spPr>
          <a:xfrm>
            <a:off x="713232"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Collect</a:t>
            </a:r>
            <a:endParaRPr lang="en-US" sz="1600" dirty="0"/>
          </a:p>
        </p:txBody>
      </p:sp>
      <p:sp>
        <p:nvSpPr>
          <p:cNvPr id="20" name="Text 17"/>
          <p:cNvSpPr txBox="1"/>
          <p:nvPr/>
        </p:nvSpPr>
        <p:spPr>
          <a:xfrm>
            <a:off x="713232"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public datasets + own crossing footage</a:t>
            </a:r>
            <a:endParaRPr lang="en-US" sz="1150" dirty="0"/>
          </a:p>
        </p:txBody>
      </p:sp>
      <p:sp>
        <p:nvSpPr>
          <p:cNvPr id="21" name="Shape 18"/>
          <p:cNvSpPr/>
          <p:nvPr/>
        </p:nvSpPr>
        <p:spPr>
          <a:xfrm>
            <a:off x="2231136" y="2606040"/>
            <a:ext cx="184709" cy="0"/>
          </a:xfrm>
          <a:prstGeom prst="line">
            <a:avLst/>
          </a:prstGeom>
          <a:noFill/>
          <a:ln w="19050">
            <a:solidFill>
              <a:srgbClr val="667085"/>
            </a:solidFill>
            <a:prstDash val="solid"/>
            <a:tailEnd type="triangle"/>
          </a:ln>
        </p:spPr>
      </p:sp>
      <p:sp>
        <p:nvSpPr>
          <p:cNvPr id="22" name="Shape 19"/>
          <p:cNvSpPr/>
          <p:nvPr/>
        </p:nvSpPr>
        <p:spPr>
          <a:xfrm>
            <a:off x="2434133" y="1645920"/>
            <a:ext cx="1664208" cy="1920240"/>
          </a:xfrm>
          <a:prstGeom prst="roundRect">
            <a:avLst>
              <a:gd name="adj" fmla="val 5495"/>
            </a:avLst>
          </a:prstGeom>
          <a:solidFill>
            <a:srgbClr val="161B22"/>
          </a:solidFill>
          <a:ln w="9525">
            <a:solidFill>
              <a:srgbClr val="2E3845"/>
            </a:solidFill>
            <a:prstDash val="solid"/>
          </a:ln>
        </p:spPr>
      </p:sp>
      <p:sp>
        <p:nvSpPr>
          <p:cNvPr id="23" name="Text 20"/>
          <p:cNvSpPr txBox="1"/>
          <p:nvPr/>
        </p:nvSpPr>
        <p:spPr>
          <a:xfrm>
            <a:off x="2598725"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02</a:t>
            </a:r>
            <a:endParaRPr lang="en-US" sz="1200" dirty="0"/>
          </a:p>
        </p:txBody>
      </p:sp>
      <p:sp>
        <p:nvSpPr>
          <p:cNvPr id="24" name="Shape 21"/>
          <p:cNvSpPr/>
          <p:nvPr/>
        </p:nvSpPr>
        <p:spPr>
          <a:xfrm>
            <a:off x="3439973" y="1783080"/>
            <a:ext cx="502920" cy="502920"/>
          </a:xfrm>
          <a:prstGeom prst="ellipse">
            <a:avLst/>
          </a:prstGeom>
          <a:solidFill>
            <a:srgbClr val="5EC8E5">
              <a:alpha val="18000"/>
            </a:srgbClr>
          </a:solidFill>
          <a:ln/>
        </p:spPr>
      </p:sp>
      <p:pic>
        <p:nvPicPr>
          <p:cNvPr id="25" name="Image 1" descr="preencoded.png">    </p:cNvPr>
          <p:cNvPicPr>
            <a:picLocks noChangeAspect="1"/>
          </p:cNvPicPr>
          <p:nvPr/>
        </p:nvPicPr>
        <p:blipFill>
          <a:blip r:embed="rId2"/>
          <a:stretch>
            <a:fillRect/>
          </a:stretch>
        </p:blipFill>
        <p:spPr>
          <a:xfrm>
            <a:off x="3560674" y="1903781"/>
            <a:ext cx="261518" cy="261518"/>
          </a:xfrm>
          <a:prstGeom prst="rect">
            <a:avLst/>
          </a:prstGeom>
        </p:spPr>
      </p:pic>
      <p:sp>
        <p:nvSpPr>
          <p:cNvPr id="26" name="Text 22"/>
          <p:cNvSpPr txBox="1"/>
          <p:nvPr/>
        </p:nvSpPr>
        <p:spPr>
          <a:xfrm>
            <a:off x="2598725"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Unify</a:t>
            </a:r>
            <a:endParaRPr lang="en-US" sz="1600" dirty="0"/>
          </a:p>
        </p:txBody>
      </p:sp>
      <p:sp>
        <p:nvSpPr>
          <p:cNvPr id="27" name="Text 23"/>
          <p:cNvSpPr txBox="1"/>
          <p:nvPr/>
        </p:nvSpPr>
        <p:spPr>
          <a:xfrm>
            <a:off x="2598725"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remap every source to the same 10 classes</a:t>
            </a:r>
            <a:endParaRPr lang="en-US" sz="1150" dirty="0"/>
          </a:p>
        </p:txBody>
      </p:sp>
      <p:sp>
        <p:nvSpPr>
          <p:cNvPr id="28" name="Shape 24"/>
          <p:cNvSpPr/>
          <p:nvPr/>
        </p:nvSpPr>
        <p:spPr>
          <a:xfrm>
            <a:off x="4116629" y="2606040"/>
            <a:ext cx="184709" cy="0"/>
          </a:xfrm>
          <a:prstGeom prst="line">
            <a:avLst/>
          </a:prstGeom>
          <a:noFill/>
          <a:ln w="19050">
            <a:solidFill>
              <a:srgbClr val="667085"/>
            </a:solidFill>
            <a:prstDash val="solid"/>
            <a:tailEnd type="triangle"/>
          </a:ln>
        </p:spPr>
      </p:sp>
      <p:sp>
        <p:nvSpPr>
          <p:cNvPr id="29" name="Shape 25"/>
          <p:cNvSpPr/>
          <p:nvPr/>
        </p:nvSpPr>
        <p:spPr>
          <a:xfrm>
            <a:off x="4319626" y="1645920"/>
            <a:ext cx="1664208" cy="1920240"/>
          </a:xfrm>
          <a:prstGeom prst="roundRect">
            <a:avLst>
              <a:gd name="adj" fmla="val 5495"/>
            </a:avLst>
          </a:prstGeom>
          <a:solidFill>
            <a:srgbClr val="161B22"/>
          </a:solidFill>
          <a:ln w="9525">
            <a:solidFill>
              <a:srgbClr val="2E3845"/>
            </a:solidFill>
            <a:prstDash val="solid"/>
          </a:ln>
        </p:spPr>
      </p:sp>
      <p:sp>
        <p:nvSpPr>
          <p:cNvPr id="30" name="Text 26"/>
          <p:cNvSpPr txBox="1"/>
          <p:nvPr/>
        </p:nvSpPr>
        <p:spPr>
          <a:xfrm>
            <a:off x="4484218"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03</a:t>
            </a:r>
            <a:endParaRPr lang="en-US" sz="1200" dirty="0"/>
          </a:p>
        </p:txBody>
      </p:sp>
      <p:sp>
        <p:nvSpPr>
          <p:cNvPr id="31" name="Shape 27"/>
          <p:cNvSpPr/>
          <p:nvPr/>
        </p:nvSpPr>
        <p:spPr>
          <a:xfrm>
            <a:off x="5325466" y="1783080"/>
            <a:ext cx="502920" cy="502920"/>
          </a:xfrm>
          <a:prstGeom prst="ellipse">
            <a:avLst/>
          </a:prstGeom>
          <a:solidFill>
            <a:srgbClr val="5EC8E5">
              <a:alpha val="18000"/>
            </a:srgbClr>
          </a:solidFill>
          <a:ln/>
        </p:spPr>
      </p:sp>
      <p:pic>
        <p:nvPicPr>
          <p:cNvPr id="32" name="Image 2" descr="preencoded.png">    </p:cNvPr>
          <p:cNvPicPr>
            <a:picLocks noChangeAspect="1"/>
          </p:cNvPicPr>
          <p:nvPr/>
        </p:nvPicPr>
        <p:blipFill>
          <a:blip r:embed="rId3"/>
          <a:stretch>
            <a:fillRect/>
          </a:stretch>
        </p:blipFill>
        <p:spPr>
          <a:xfrm>
            <a:off x="5446166" y="1903781"/>
            <a:ext cx="261518" cy="261518"/>
          </a:xfrm>
          <a:prstGeom prst="rect">
            <a:avLst/>
          </a:prstGeom>
        </p:spPr>
      </p:pic>
      <p:sp>
        <p:nvSpPr>
          <p:cNvPr id="33" name="Text 28"/>
          <p:cNvSpPr txBox="1"/>
          <p:nvPr/>
        </p:nvSpPr>
        <p:spPr>
          <a:xfrm>
            <a:off x="4484218"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Label</a:t>
            </a:r>
            <a:endParaRPr lang="en-US" sz="1600" dirty="0"/>
          </a:p>
        </p:txBody>
      </p:sp>
      <p:sp>
        <p:nvSpPr>
          <p:cNvPr id="34" name="Text 29"/>
          <p:cNvSpPr txBox="1"/>
          <p:nvPr/>
        </p:nvSpPr>
        <p:spPr>
          <a:xfrm>
            <a:off x="4484218"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model-assisted pre-labels, human-checked</a:t>
            </a:r>
            <a:endParaRPr lang="en-US" sz="1150" dirty="0"/>
          </a:p>
        </p:txBody>
      </p:sp>
      <p:sp>
        <p:nvSpPr>
          <p:cNvPr id="35" name="Shape 30"/>
          <p:cNvSpPr/>
          <p:nvPr/>
        </p:nvSpPr>
        <p:spPr>
          <a:xfrm>
            <a:off x="6002122" y="2606040"/>
            <a:ext cx="184709" cy="0"/>
          </a:xfrm>
          <a:prstGeom prst="line">
            <a:avLst/>
          </a:prstGeom>
          <a:noFill/>
          <a:ln w="19050">
            <a:solidFill>
              <a:srgbClr val="667085"/>
            </a:solidFill>
            <a:prstDash val="solid"/>
            <a:tailEnd type="triangle"/>
          </a:ln>
        </p:spPr>
      </p:sp>
      <p:sp>
        <p:nvSpPr>
          <p:cNvPr id="36" name="Shape 31"/>
          <p:cNvSpPr/>
          <p:nvPr/>
        </p:nvSpPr>
        <p:spPr>
          <a:xfrm>
            <a:off x="6205118" y="1645920"/>
            <a:ext cx="1664208" cy="1920240"/>
          </a:xfrm>
          <a:prstGeom prst="roundRect">
            <a:avLst>
              <a:gd name="adj" fmla="val 5495"/>
            </a:avLst>
          </a:prstGeom>
          <a:solidFill>
            <a:srgbClr val="161B22"/>
          </a:solidFill>
          <a:ln w="9525">
            <a:solidFill>
              <a:srgbClr val="2E3845"/>
            </a:solidFill>
            <a:prstDash val="solid"/>
          </a:ln>
        </p:spPr>
      </p:sp>
      <p:sp>
        <p:nvSpPr>
          <p:cNvPr id="37" name="Text 32"/>
          <p:cNvSpPr txBox="1"/>
          <p:nvPr/>
        </p:nvSpPr>
        <p:spPr>
          <a:xfrm>
            <a:off x="6369710"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04</a:t>
            </a:r>
            <a:endParaRPr lang="en-US" sz="1200" dirty="0"/>
          </a:p>
        </p:txBody>
      </p:sp>
      <p:sp>
        <p:nvSpPr>
          <p:cNvPr id="38" name="Shape 33"/>
          <p:cNvSpPr/>
          <p:nvPr/>
        </p:nvSpPr>
        <p:spPr>
          <a:xfrm>
            <a:off x="7210958" y="1783080"/>
            <a:ext cx="502920" cy="502920"/>
          </a:xfrm>
          <a:prstGeom prst="ellipse">
            <a:avLst/>
          </a:prstGeom>
          <a:solidFill>
            <a:srgbClr val="5EC8E5">
              <a:alpha val="18000"/>
            </a:srgbClr>
          </a:solidFill>
          <a:ln/>
        </p:spPr>
      </p:sp>
      <p:pic>
        <p:nvPicPr>
          <p:cNvPr id="39" name="Image 3" descr="preencoded.png">    </p:cNvPr>
          <p:cNvPicPr>
            <a:picLocks noChangeAspect="1"/>
          </p:cNvPicPr>
          <p:nvPr/>
        </p:nvPicPr>
        <p:blipFill>
          <a:blip r:embed="rId4"/>
          <a:stretch>
            <a:fillRect/>
          </a:stretch>
        </p:blipFill>
        <p:spPr>
          <a:xfrm>
            <a:off x="7331659" y="1903781"/>
            <a:ext cx="261518" cy="261518"/>
          </a:xfrm>
          <a:prstGeom prst="rect">
            <a:avLst/>
          </a:prstGeom>
        </p:spPr>
      </p:pic>
      <p:sp>
        <p:nvSpPr>
          <p:cNvPr id="40" name="Text 34"/>
          <p:cNvSpPr txBox="1"/>
          <p:nvPr/>
        </p:nvSpPr>
        <p:spPr>
          <a:xfrm>
            <a:off x="6369710"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Train</a:t>
            </a:r>
            <a:endParaRPr lang="en-US" sz="1600" dirty="0"/>
          </a:p>
        </p:txBody>
      </p:sp>
      <p:sp>
        <p:nvSpPr>
          <p:cNvPr id="41" name="Text 35"/>
          <p:cNvSpPr txBox="1"/>
          <p:nvPr/>
        </p:nvSpPr>
        <p:spPr>
          <a:xfrm>
            <a:off x="6369710"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YOLOv8 detector, 960 px input</a:t>
            </a:r>
            <a:endParaRPr lang="en-US" sz="1150" dirty="0"/>
          </a:p>
        </p:txBody>
      </p:sp>
      <p:sp>
        <p:nvSpPr>
          <p:cNvPr id="42" name="Shape 36"/>
          <p:cNvSpPr/>
          <p:nvPr/>
        </p:nvSpPr>
        <p:spPr>
          <a:xfrm>
            <a:off x="7887614" y="2606040"/>
            <a:ext cx="184709" cy="0"/>
          </a:xfrm>
          <a:prstGeom prst="line">
            <a:avLst/>
          </a:prstGeom>
          <a:noFill/>
          <a:ln w="19050">
            <a:solidFill>
              <a:srgbClr val="667085"/>
            </a:solidFill>
            <a:prstDash val="solid"/>
            <a:tailEnd type="triangle"/>
          </a:ln>
        </p:spPr>
      </p:sp>
      <p:sp>
        <p:nvSpPr>
          <p:cNvPr id="43" name="Shape 37"/>
          <p:cNvSpPr/>
          <p:nvPr/>
        </p:nvSpPr>
        <p:spPr>
          <a:xfrm>
            <a:off x="8090611" y="1645920"/>
            <a:ext cx="1664208" cy="1920240"/>
          </a:xfrm>
          <a:prstGeom prst="roundRect">
            <a:avLst>
              <a:gd name="adj" fmla="val 5495"/>
            </a:avLst>
          </a:prstGeom>
          <a:solidFill>
            <a:srgbClr val="161B22"/>
          </a:solidFill>
          <a:ln w="9525">
            <a:solidFill>
              <a:srgbClr val="2E3845"/>
            </a:solidFill>
            <a:prstDash val="solid"/>
          </a:ln>
        </p:spPr>
      </p:sp>
      <p:sp>
        <p:nvSpPr>
          <p:cNvPr id="44" name="Text 38"/>
          <p:cNvSpPr txBox="1"/>
          <p:nvPr/>
        </p:nvSpPr>
        <p:spPr>
          <a:xfrm>
            <a:off x="8255203"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05</a:t>
            </a:r>
            <a:endParaRPr lang="en-US" sz="1200" dirty="0"/>
          </a:p>
        </p:txBody>
      </p:sp>
      <p:sp>
        <p:nvSpPr>
          <p:cNvPr id="45" name="Shape 39"/>
          <p:cNvSpPr/>
          <p:nvPr/>
        </p:nvSpPr>
        <p:spPr>
          <a:xfrm>
            <a:off x="9096451" y="1783080"/>
            <a:ext cx="502920" cy="502920"/>
          </a:xfrm>
          <a:prstGeom prst="ellipse">
            <a:avLst/>
          </a:prstGeom>
          <a:solidFill>
            <a:srgbClr val="5EC8E5">
              <a:alpha val="18000"/>
            </a:srgbClr>
          </a:solidFill>
          <a:ln/>
        </p:spPr>
      </p:sp>
      <p:pic>
        <p:nvPicPr>
          <p:cNvPr id="46" name="Image 4" descr="preencoded.png">    </p:cNvPr>
          <p:cNvPicPr>
            <a:picLocks noChangeAspect="1"/>
          </p:cNvPicPr>
          <p:nvPr/>
        </p:nvPicPr>
        <p:blipFill>
          <a:blip r:embed="rId5"/>
          <a:stretch>
            <a:fillRect/>
          </a:stretch>
        </p:blipFill>
        <p:spPr>
          <a:xfrm>
            <a:off x="9217152" y="1903781"/>
            <a:ext cx="261518" cy="261518"/>
          </a:xfrm>
          <a:prstGeom prst="rect">
            <a:avLst/>
          </a:prstGeom>
        </p:spPr>
      </p:pic>
      <p:sp>
        <p:nvSpPr>
          <p:cNvPr id="47" name="Text 40"/>
          <p:cNvSpPr txBox="1"/>
          <p:nvPr/>
        </p:nvSpPr>
        <p:spPr>
          <a:xfrm>
            <a:off x="8255203"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Integrate</a:t>
            </a:r>
            <a:endParaRPr lang="en-US" sz="1600" dirty="0"/>
          </a:p>
        </p:txBody>
      </p:sp>
      <p:sp>
        <p:nvSpPr>
          <p:cNvPr id="48" name="Text 41"/>
          <p:cNvSpPr txBox="1"/>
          <p:nvPr/>
        </p:nvSpPr>
        <p:spPr>
          <a:xfrm>
            <a:off x="8255203"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one phase at a time, each run end-to-end</a:t>
            </a:r>
            <a:endParaRPr lang="en-US" sz="1150" dirty="0"/>
          </a:p>
        </p:txBody>
      </p:sp>
      <p:sp>
        <p:nvSpPr>
          <p:cNvPr id="49" name="Shape 42"/>
          <p:cNvSpPr/>
          <p:nvPr/>
        </p:nvSpPr>
        <p:spPr>
          <a:xfrm>
            <a:off x="9773107" y="2606040"/>
            <a:ext cx="184709" cy="0"/>
          </a:xfrm>
          <a:prstGeom prst="line">
            <a:avLst/>
          </a:prstGeom>
          <a:noFill/>
          <a:ln w="19050">
            <a:solidFill>
              <a:srgbClr val="667085"/>
            </a:solidFill>
            <a:prstDash val="solid"/>
            <a:tailEnd type="triangle"/>
          </a:ln>
        </p:spPr>
      </p:sp>
      <p:sp>
        <p:nvSpPr>
          <p:cNvPr id="50" name="Shape 43"/>
          <p:cNvSpPr/>
          <p:nvPr/>
        </p:nvSpPr>
        <p:spPr>
          <a:xfrm>
            <a:off x="9976104" y="1645920"/>
            <a:ext cx="1664208" cy="1920240"/>
          </a:xfrm>
          <a:prstGeom prst="roundRect">
            <a:avLst>
              <a:gd name="adj" fmla="val 5495"/>
            </a:avLst>
          </a:prstGeom>
          <a:solidFill>
            <a:srgbClr val="161B22"/>
          </a:solidFill>
          <a:ln w="9525">
            <a:solidFill>
              <a:srgbClr val="2E3845"/>
            </a:solidFill>
            <a:prstDash val="solid"/>
          </a:ln>
        </p:spPr>
      </p:sp>
      <p:sp>
        <p:nvSpPr>
          <p:cNvPr id="51" name="Text 44"/>
          <p:cNvSpPr txBox="1"/>
          <p:nvPr/>
        </p:nvSpPr>
        <p:spPr>
          <a:xfrm>
            <a:off x="10140696" y="1783080"/>
            <a:ext cx="548640" cy="274320"/>
          </a:xfrm>
          <a:prstGeom prst="rect">
            <a:avLst/>
          </a:prstGeom>
          <a:noFill/>
          <a:ln/>
        </p:spPr>
        <p:txBody>
          <a:bodyPr wrap="square" lIns="0" tIns="0" rIns="0" bIns="0" rtlCol="0" anchor="t"/>
          <a:lstStyle/>
          <a:p>
            <a:pPr indent="0" marL="0">
              <a:buNone/>
            </a:pPr>
            <a:r>
              <a:rPr lang="en-US" sz="1200" b="1" dirty="0">
                <a:solidFill>
                  <a:srgbClr val="667085"/>
                </a:solidFill>
                <a:latin typeface="Consolas" pitchFamily="34" charset="0"/>
                <a:ea typeface="Consolas" pitchFamily="34" charset="-122"/>
                <a:cs typeface="Consolas" pitchFamily="34" charset="-120"/>
              </a:rPr>
              <a:t>06</a:t>
            </a:r>
            <a:endParaRPr lang="en-US" sz="1200" dirty="0"/>
          </a:p>
        </p:txBody>
      </p:sp>
      <p:sp>
        <p:nvSpPr>
          <p:cNvPr id="52" name="Shape 45"/>
          <p:cNvSpPr/>
          <p:nvPr/>
        </p:nvSpPr>
        <p:spPr>
          <a:xfrm>
            <a:off x="10981944" y="1783080"/>
            <a:ext cx="502920" cy="502920"/>
          </a:xfrm>
          <a:prstGeom prst="ellipse">
            <a:avLst/>
          </a:prstGeom>
          <a:solidFill>
            <a:srgbClr val="5EC8E5">
              <a:alpha val="18000"/>
            </a:srgbClr>
          </a:solidFill>
          <a:ln/>
        </p:spPr>
      </p:sp>
      <p:pic>
        <p:nvPicPr>
          <p:cNvPr id="53" name="Image 5" descr="preencoded.png">    </p:cNvPr>
          <p:cNvPicPr>
            <a:picLocks noChangeAspect="1"/>
          </p:cNvPicPr>
          <p:nvPr/>
        </p:nvPicPr>
        <p:blipFill>
          <a:blip r:embed="rId6"/>
          <a:stretch>
            <a:fillRect/>
          </a:stretch>
        </p:blipFill>
        <p:spPr>
          <a:xfrm>
            <a:off x="11102645" y="1903781"/>
            <a:ext cx="261518" cy="261518"/>
          </a:xfrm>
          <a:prstGeom prst="rect">
            <a:avLst/>
          </a:prstGeom>
        </p:spPr>
      </p:pic>
      <p:sp>
        <p:nvSpPr>
          <p:cNvPr id="54" name="Text 46"/>
          <p:cNvSpPr txBox="1"/>
          <p:nvPr/>
        </p:nvSpPr>
        <p:spPr>
          <a:xfrm>
            <a:off x="10140696" y="2423160"/>
            <a:ext cx="1389888" cy="320040"/>
          </a:xfrm>
          <a:prstGeom prst="rect">
            <a:avLst/>
          </a:prstGeom>
          <a:noFill/>
          <a:ln/>
        </p:spPr>
        <p:txBody>
          <a:bodyPr wrap="square" lIns="0" tIns="0" rIns="0" bIns="0" rtlCol="0" anchor="t"/>
          <a:lstStyle/>
          <a:p>
            <a:pPr indent="0" marL="0">
              <a:buNone/>
            </a:pPr>
            <a:r>
              <a:rPr lang="en-US" sz="1600" b="1" dirty="0">
                <a:solidFill>
                  <a:srgbClr val="F2F4F7"/>
                </a:solidFill>
                <a:latin typeface="Calibri" pitchFamily="34" charset="0"/>
                <a:ea typeface="Calibri" pitchFamily="34" charset="-122"/>
                <a:cs typeface="Calibri" pitchFamily="34" charset="-120"/>
              </a:rPr>
              <a:t>Log</a:t>
            </a:r>
            <a:endParaRPr lang="en-US" sz="1600" dirty="0"/>
          </a:p>
        </p:txBody>
      </p:sp>
      <p:sp>
        <p:nvSpPr>
          <p:cNvPr id="55" name="Text 47"/>
          <p:cNvSpPr txBox="1"/>
          <p:nvPr/>
        </p:nvSpPr>
        <p:spPr>
          <a:xfrm>
            <a:off x="10140696" y="2761488"/>
            <a:ext cx="1389888" cy="731520"/>
          </a:xfrm>
          <a:prstGeom prst="rect">
            <a:avLst/>
          </a:prstGeom>
          <a:noFill/>
          <a:ln/>
        </p:spPr>
        <p:txBody>
          <a:bodyPr wrap="square" lIns="0" tIns="0" rIns="0" bIns="0" rtlCol="0" anchor="t"/>
          <a:lstStyle/>
          <a:p>
            <a:pPr indent="0" marL="0">
              <a:buNone/>
            </a:pPr>
            <a:r>
              <a:rPr lang="en-US" sz="1150" dirty="0">
                <a:solidFill>
                  <a:srgbClr val="A3ACBA"/>
                </a:solidFill>
                <a:latin typeface="Calibri" pitchFamily="34" charset="0"/>
                <a:ea typeface="Calibri" pitchFamily="34" charset="-122"/>
                <a:cs typeface="Calibri" pitchFamily="34" charset="-120"/>
              </a:rPr>
              <a:t>every decision to SQLite</a:t>
            </a:r>
            <a:endParaRPr lang="en-US" sz="1150" dirty="0"/>
          </a:p>
        </p:txBody>
      </p:sp>
      <p:sp>
        <p:nvSpPr>
          <p:cNvPr id="56" name="Shape 48"/>
          <p:cNvSpPr/>
          <p:nvPr/>
        </p:nvSpPr>
        <p:spPr>
          <a:xfrm>
            <a:off x="548640" y="3840480"/>
            <a:ext cx="11091672" cy="2331720"/>
          </a:xfrm>
          <a:prstGeom prst="roundRect">
            <a:avLst>
              <a:gd name="adj" fmla="val 3922"/>
            </a:avLst>
          </a:prstGeom>
          <a:solidFill>
            <a:srgbClr val="161B22"/>
          </a:solidFill>
          <a:ln w="9525">
            <a:solidFill>
              <a:srgbClr val="2E3845"/>
            </a:solidFill>
            <a:prstDash val="solid"/>
          </a:ln>
        </p:spPr>
      </p:sp>
      <p:sp>
        <p:nvSpPr>
          <p:cNvPr id="57" name="Text 49"/>
          <p:cNvSpPr txBox="1"/>
          <p:nvPr/>
        </p:nvSpPr>
        <p:spPr>
          <a:xfrm>
            <a:off x="777240" y="3977640"/>
            <a:ext cx="5486400" cy="256032"/>
          </a:xfrm>
          <a:prstGeom prst="rect">
            <a:avLst/>
          </a:prstGeom>
          <a:noFill/>
          <a:ln/>
        </p:spPr>
        <p:txBody>
          <a:bodyPr wrap="square" lIns="0" tIns="0" rIns="0" bIns="0" rtlCol="0" anchor="t"/>
          <a:lstStyle/>
          <a:p>
            <a:pPr indent="0" marL="0">
              <a:buNone/>
            </a:pPr>
            <a:r>
              <a:rPr lang="en-US" sz="1100" b="1" spc="200" kern="0" dirty="0">
                <a:solidFill>
                  <a:srgbClr val="F5B43C"/>
                </a:solidFill>
                <a:latin typeface="Calibri" pitchFamily="34" charset="0"/>
                <a:ea typeface="Calibri" pitchFamily="34" charset="-122"/>
                <a:cs typeface="Calibri" pitchFamily="34" charset="-120"/>
              </a:rPr>
              <a:t>PLANNED EVALUATION  ·  LATER ROUNDS</a:t>
            </a:r>
            <a:endParaRPr lang="en-US" sz="1100" dirty="0"/>
          </a:p>
        </p:txBody>
      </p:sp>
      <p:sp>
        <p:nvSpPr>
          <p:cNvPr id="58" name="Text 50"/>
          <p:cNvSpPr txBox="1"/>
          <p:nvPr/>
        </p:nvSpPr>
        <p:spPr>
          <a:xfrm>
            <a:off x="777240" y="4297680"/>
            <a:ext cx="3291840" cy="1737360"/>
          </a:xfrm>
          <a:prstGeom prst="rect">
            <a:avLst/>
          </a:prstGeom>
          <a:noFill/>
          <a:ln/>
        </p:spPr>
        <p:txBody>
          <a:bodyPr wrap="square" lIns="0" tIns="0" rIns="0" bIns="0" rtlCol="0" anchor="t"/>
          <a:lstStyle/>
          <a:p>
            <a:pPr indent="0" marL="0">
              <a:buNone/>
            </a:pPr>
            <a:r>
              <a:rPr lang="en-US" sz="1300" dirty="0">
                <a:solidFill>
                  <a:srgbClr val="F2F4F7"/>
                </a:solidFill>
                <a:latin typeface="Calibri" pitchFamily="34" charset="0"/>
                <a:ea typeface="Calibri" pitchFamily="34" charset="-122"/>
                <a:cs typeface="Calibri" pitchFamily="34" charset="-120"/>
              </a:rPr>
              <a:t>Replay recorded crossings, compare every logged decision with hand-annotated ground truth, and score the two kinds of error separately, never averaged together.</a:t>
            </a:r>
            <a:endParaRPr lang="en-US" sz="1300" dirty="0"/>
          </a:p>
        </p:txBody>
      </p:sp>
      <p:sp>
        <p:nvSpPr>
          <p:cNvPr id="59" name="Shape 51"/>
          <p:cNvSpPr/>
          <p:nvPr/>
        </p:nvSpPr>
        <p:spPr>
          <a:xfrm>
            <a:off x="4297680" y="4069080"/>
            <a:ext cx="1719072" cy="1920240"/>
          </a:xfrm>
          <a:prstGeom prst="roundRect">
            <a:avLst>
              <a:gd name="adj" fmla="val 4255"/>
            </a:avLst>
          </a:prstGeom>
          <a:solidFill>
            <a:srgbClr val="F2545B">
              <a:alpha val="22000"/>
            </a:srgbClr>
          </a:solidFill>
          <a:ln w="25400">
            <a:solidFill>
              <a:srgbClr val="F2545B"/>
            </a:solidFill>
            <a:prstDash val="solid"/>
          </a:ln>
        </p:spPr>
      </p:sp>
      <p:sp>
        <p:nvSpPr>
          <p:cNvPr id="60" name="Text 52"/>
          <p:cNvSpPr txBox="1"/>
          <p:nvPr/>
        </p:nvSpPr>
        <p:spPr>
          <a:xfrm>
            <a:off x="4434840" y="4206240"/>
            <a:ext cx="1463040" cy="594360"/>
          </a:xfrm>
          <a:prstGeom prst="rect">
            <a:avLst/>
          </a:prstGeom>
          <a:noFill/>
          <a:ln/>
        </p:spPr>
        <p:txBody>
          <a:bodyPr wrap="square" lIns="0" tIns="0" rIns="0" bIns="0" rtlCol="0" anchor="t"/>
          <a:lstStyle/>
          <a:p>
            <a:pPr indent="0" marL="0">
              <a:buNone/>
            </a:pPr>
            <a:r>
              <a:rPr lang="en-US" sz="1500" b="1" dirty="0">
                <a:solidFill>
                  <a:srgbClr val="F2545B"/>
                </a:solidFill>
                <a:latin typeface="Calibri" pitchFamily="34" charset="0"/>
                <a:ea typeface="Calibri" pitchFamily="34" charset="-122"/>
                <a:cs typeface="Calibri" pitchFamily="34" charset="-120"/>
              </a:rPr>
              <a:t>False-SAFE rate</a:t>
            </a:r>
            <a:endParaRPr lang="en-US" sz="1500" dirty="0"/>
          </a:p>
        </p:txBody>
      </p:sp>
      <p:sp>
        <p:nvSpPr>
          <p:cNvPr id="61" name="Text 53"/>
          <p:cNvSpPr txBox="1"/>
          <p:nvPr/>
        </p:nvSpPr>
        <p:spPr>
          <a:xfrm>
            <a:off x="4434840" y="4846320"/>
            <a:ext cx="1463040" cy="105156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primary metric: SAFE said while the road was dangerous</a:t>
            </a:r>
            <a:endParaRPr lang="en-US" sz="1150" dirty="0"/>
          </a:p>
        </p:txBody>
      </p:sp>
      <p:sp>
        <p:nvSpPr>
          <p:cNvPr id="62" name="Shape 54"/>
          <p:cNvSpPr/>
          <p:nvPr/>
        </p:nvSpPr>
        <p:spPr>
          <a:xfrm>
            <a:off x="6126480" y="4069080"/>
            <a:ext cx="1719072" cy="1920240"/>
          </a:xfrm>
          <a:prstGeom prst="roundRect">
            <a:avLst>
              <a:gd name="adj" fmla="val 4255"/>
            </a:avLst>
          </a:prstGeom>
          <a:solidFill>
            <a:srgbClr val="F5B43C">
              <a:alpha val="10000"/>
            </a:srgbClr>
          </a:solidFill>
          <a:ln w="9525">
            <a:solidFill>
              <a:srgbClr val="F5B43C"/>
            </a:solidFill>
            <a:prstDash val="solid"/>
          </a:ln>
        </p:spPr>
      </p:sp>
      <p:sp>
        <p:nvSpPr>
          <p:cNvPr id="63" name="Text 55"/>
          <p:cNvSpPr txBox="1"/>
          <p:nvPr/>
        </p:nvSpPr>
        <p:spPr>
          <a:xfrm>
            <a:off x="6263640" y="4206240"/>
            <a:ext cx="1463040" cy="594360"/>
          </a:xfrm>
          <a:prstGeom prst="rect">
            <a:avLst/>
          </a:prstGeom>
          <a:noFill/>
          <a:ln/>
        </p:spPr>
        <p:txBody>
          <a:bodyPr wrap="square" lIns="0" tIns="0" rIns="0" bIns="0" rtlCol="0" anchor="t"/>
          <a:lstStyle/>
          <a:p>
            <a:pPr indent="0" marL="0">
              <a:buNone/>
            </a:pPr>
            <a:r>
              <a:rPr lang="en-US" sz="1500" b="1" dirty="0">
                <a:solidFill>
                  <a:srgbClr val="F5B43C"/>
                </a:solidFill>
                <a:latin typeface="Calibri" pitchFamily="34" charset="0"/>
                <a:ea typeface="Calibri" pitchFamily="34" charset="-122"/>
                <a:cs typeface="Calibri" pitchFamily="34" charset="-120"/>
              </a:rPr>
              <a:t>False-WAIT rate</a:t>
            </a:r>
            <a:endParaRPr lang="en-US" sz="1500" dirty="0"/>
          </a:p>
        </p:txBody>
      </p:sp>
      <p:sp>
        <p:nvSpPr>
          <p:cNvPr id="64" name="Text 56"/>
          <p:cNvSpPr txBox="1"/>
          <p:nvPr/>
        </p:nvSpPr>
        <p:spPr>
          <a:xfrm>
            <a:off x="6263640" y="4846320"/>
            <a:ext cx="1463040" cy="105156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secondary: the usability cost of caution</a:t>
            </a:r>
            <a:endParaRPr lang="en-US" sz="1150" dirty="0"/>
          </a:p>
        </p:txBody>
      </p:sp>
      <p:sp>
        <p:nvSpPr>
          <p:cNvPr id="65" name="Shape 57"/>
          <p:cNvSpPr/>
          <p:nvPr/>
        </p:nvSpPr>
        <p:spPr>
          <a:xfrm>
            <a:off x="7955280" y="4069080"/>
            <a:ext cx="1719072" cy="1920240"/>
          </a:xfrm>
          <a:prstGeom prst="roundRect">
            <a:avLst>
              <a:gd name="adj" fmla="val 4255"/>
            </a:avLst>
          </a:prstGeom>
          <a:solidFill>
            <a:srgbClr val="5EC8E5">
              <a:alpha val="10000"/>
            </a:srgbClr>
          </a:solidFill>
          <a:ln w="9525">
            <a:solidFill>
              <a:srgbClr val="5EC8E5"/>
            </a:solidFill>
            <a:prstDash val="solid"/>
          </a:ln>
        </p:spPr>
      </p:sp>
      <p:sp>
        <p:nvSpPr>
          <p:cNvPr id="66" name="Text 58"/>
          <p:cNvSpPr txBox="1"/>
          <p:nvPr/>
        </p:nvSpPr>
        <p:spPr>
          <a:xfrm>
            <a:off x="8092440" y="4206240"/>
            <a:ext cx="1463040" cy="594360"/>
          </a:xfrm>
          <a:prstGeom prst="rect">
            <a:avLst/>
          </a:prstGeom>
          <a:noFill/>
          <a:ln/>
        </p:spPr>
        <p:txBody>
          <a:bodyPr wrap="square" lIns="0" tIns="0" rIns="0" bIns="0" rtlCol="0" anchor="t"/>
          <a:lstStyle/>
          <a:p>
            <a:pPr indent="0" marL="0">
              <a:buNone/>
            </a:pPr>
            <a:r>
              <a:rPr lang="en-US" sz="1500" b="1" dirty="0">
                <a:solidFill>
                  <a:srgbClr val="5EC8E5"/>
                </a:solidFill>
                <a:latin typeface="Calibri" pitchFamily="34" charset="0"/>
                <a:ea typeface="Calibri" pitchFamily="34" charset="-122"/>
                <a:cs typeface="Calibri" pitchFamily="34" charset="-120"/>
              </a:rPr>
              <a:t>Withdraw latency</a:t>
            </a:r>
            <a:endParaRPr lang="en-US" sz="1500" dirty="0"/>
          </a:p>
        </p:txBody>
      </p:sp>
      <p:sp>
        <p:nvSpPr>
          <p:cNvPr id="67" name="Text 59"/>
          <p:cNvSpPr txBox="1"/>
          <p:nvPr/>
        </p:nvSpPr>
        <p:spPr>
          <a:xfrm>
            <a:off x="8092440" y="4846320"/>
            <a:ext cx="1463040" cy="105156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frames from danger appearing to WAIT</a:t>
            </a:r>
            <a:endParaRPr lang="en-US" sz="1150" dirty="0"/>
          </a:p>
        </p:txBody>
      </p:sp>
      <p:sp>
        <p:nvSpPr>
          <p:cNvPr id="68" name="Shape 60"/>
          <p:cNvSpPr/>
          <p:nvPr/>
        </p:nvSpPr>
        <p:spPr>
          <a:xfrm>
            <a:off x="9784080" y="4069080"/>
            <a:ext cx="1719072" cy="1920240"/>
          </a:xfrm>
          <a:prstGeom prst="roundRect">
            <a:avLst>
              <a:gd name="adj" fmla="val 4255"/>
            </a:avLst>
          </a:prstGeom>
          <a:solidFill>
            <a:srgbClr val="7B8595">
              <a:alpha val="10000"/>
            </a:srgbClr>
          </a:solidFill>
          <a:ln w="9525">
            <a:solidFill>
              <a:srgbClr val="7B8595"/>
            </a:solidFill>
            <a:prstDash val="solid"/>
          </a:ln>
        </p:spPr>
      </p:sp>
      <p:sp>
        <p:nvSpPr>
          <p:cNvPr id="69" name="Text 61"/>
          <p:cNvSpPr txBox="1"/>
          <p:nvPr/>
        </p:nvSpPr>
        <p:spPr>
          <a:xfrm>
            <a:off x="9921240" y="4206240"/>
            <a:ext cx="1463040" cy="594360"/>
          </a:xfrm>
          <a:prstGeom prst="rect">
            <a:avLst/>
          </a:prstGeom>
          <a:noFill/>
          <a:ln/>
        </p:spPr>
        <p:txBody>
          <a:bodyPr wrap="square" lIns="0" tIns="0" rIns="0" bIns="0" rtlCol="0" anchor="t"/>
          <a:lstStyle/>
          <a:p>
            <a:pPr indent="0" marL="0">
              <a:buNone/>
            </a:pPr>
            <a:r>
              <a:rPr lang="en-US" sz="1500" b="1" dirty="0">
                <a:solidFill>
                  <a:srgbClr val="7B8595"/>
                </a:solidFill>
                <a:latin typeface="Calibri" pitchFamily="34" charset="0"/>
                <a:ea typeface="Calibri" pitchFamily="34" charset="-122"/>
                <a:cs typeface="Calibri" pitchFamily="34" charset="-120"/>
              </a:rPr>
              <a:t>Throughput</a:t>
            </a:r>
            <a:endParaRPr lang="en-US" sz="1500" dirty="0"/>
          </a:p>
        </p:txBody>
      </p:sp>
      <p:sp>
        <p:nvSpPr>
          <p:cNvPr id="70" name="Text 62"/>
          <p:cNvSpPr txBox="1"/>
          <p:nvPr/>
        </p:nvSpPr>
        <p:spPr>
          <a:xfrm>
            <a:off x="9921240" y="4846320"/>
            <a:ext cx="1463040" cy="1051560"/>
          </a:xfrm>
          <a:prstGeom prst="rect">
            <a:avLst/>
          </a:prstGeom>
          <a:noFill/>
          <a:ln/>
        </p:spPr>
        <p:txBody>
          <a:bodyPr wrap="square" lIns="0" tIns="0" rIns="0" bIns="0" rtlCol="0" anchor="t"/>
          <a:lstStyle/>
          <a:p>
            <a:pPr indent="0" marL="0">
              <a:buNone/>
            </a:pPr>
            <a:r>
              <a:rPr lang="en-US" sz="1150" dirty="0">
                <a:solidFill>
                  <a:srgbClr val="F2F4F7"/>
                </a:solidFill>
                <a:latin typeface="Calibri" pitchFamily="34" charset="0"/>
                <a:ea typeface="Calibri" pitchFamily="34" charset="-122"/>
                <a:cs typeface="Calibri" pitchFamily="34" charset="-120"/>
              </a:rPr>
              <a:t>frames per second on a CPU</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Road-Crossing Assistance System — Round 1</dc:title>
  <dc:subject>PptxGenJS Presentation</dc:subject>
  <dc:creator>Parth Agrawal, Atul Bharathi, Sarvesh Pande, Kishan Shakya, Abhishek Dixit</dc:creator>
  <cp:lastModifiedBy>Parth Agrawal, Atul Bharathi, Sarvesh Pande, Kishan Shakya, Abhishek Dixit</cp:lastModifiedBy>
  <cp:revision>1</cp:revision>
  <dcterms:created xsi:type="dcterms:W3CDTF">2026-09-26T12:26:49Z</dcterms:created>
  <dcterms:modified xsi:type="dcterms:W3CDTF">2026-09-26T12:26:49Z</dcterms:modified>
</cp:coreProperties>
</file>