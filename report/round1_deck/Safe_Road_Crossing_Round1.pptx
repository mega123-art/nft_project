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mAP50</c:v>
                </c:pt>
              </c:strCache>
            </c:strRef>
          </c:tx>
          <c:spPr>
            <a:solidFill>
              <a:srgbClr val="D97706"/>
            </a:solidFill>
            <a:effectLst/>
          </c:spPr>
          <c:invertIfNegative val="0"/>
          <c:dLbls>
            <c:numFmt formatCode="0.000" sourceLinked="0"/>
            <c:txPr>
              <a:bodyPr/>
              <a:lstStyle/>
              <a:p>
                <a:pPr>
                  <a:defRPr b="0" i="0" strike="noStrike" sz="1100" u="none">
                    <a:solidFill>
                      <a:srgbClr val="1A1F26"/>
                    </a:solidFill>
                    <a:latin typeface="Arial"/>
                  </a:defRPr>
                </a:pPr>
              </a:p>
            </c:txPr>
            <c:showLegendKey val="0"/>
            <c:showVal val="1"/>
            <c:showCatName val="0"/>
            <c:showSerName val="0"/>
            <c:showPercent val="0"/>
            <c:showBubbleSize val="0"/>
            <c:showLeaderLines val="0"/>
          </c:dLbls>
          <c:cat>
            <c:multiLvlStrRef>
              <c:f>Sheet1!$A$2:$A$10</c:f>
              <c:multiLvlStrCache>
                <c:ptCount val="9"/>
                <c:lvl>
                  <c:pt idx="0">
                    <c:v>car</c:v>
                  </c:pt>
                  <c:pt idx="1">
                    <c:v>crosswalk</c:v>
                  </c:pt>
                  <c:pt idx="2">
                    <c:v>autorickshaw</c:v>
                  </c:pt>
                  <c:pt idx="3">
                    <c:v>motorcycle</c:v>
                  </c:pt>
                  <c:pt idx="4">
                    <c:v>truck</c:v>
                  </c:pt>
                  <c:pt idx="5">
                    <c:v>person</c:v>
                  </c:pt>
                  <c:pt idx="6">
                    <c:v>bus</c:v>
                  </c:pt>
                  <c:pt idx="7">
                    <c:v>signal_red</c:v>
                  </c:pt>
                  <c:pt idx="8">
                    <c:v>signal_green</c:v>
                  </c:pt>
                </c:lvl>
              </c:multiLvlStrCache>
            </c:multiLvlStrRef>
          </c:cat>
          <c:val>
            <c:numRef>
              <c:f>Sheet1!$B$2:$B$10</c:f>
              <c:numCache>
                <c:formatCode>General</c:formatCode>
                <c:ptCount val="9"/>
                <c:pt idx="0">
                  <c:v>0.939</c:v>
                </c:pt>
                <c:pt idx="1">
                  <c:v>0.932</c:v>
                </c:pt>
                <c:pt idx="2">
                  <c:v>0.921</c:v>
                </c:pt>
                <c:pt idx="3">
                  <c:v>0.877</c:v>
                </c:pt>
                <c:pt idx="4">
                  <c:v>0.839</c:v>
                </c:pt>
                <c:pt idx="5">
                  <c:v>0.765</c:v>
                </c:pt>
                <c:pt idx="6">
                  <c:v>0.738</c:v>
                </c:pt>
                <c:pt idx="7">
                  <c:v>0.731</c:v>
                </c:pt>
                <c:pt idx="8">
                  <c:v>0.721</c:v>
                </c:pt>
              </c:numCache>
            </c:numRef>
          </c:val>
        </c:ser>
        <c:dLbls>
          <c:numFmt formatCode="0.000" sourceLinked="0"/>
          <c:txPr>
            <a:bodyPr/>
            <a:lstStyle/>
            <a:p>
              <a:pPr>
                <a:defRPr b="0" i="0" strike="noStrike" sz="1100" u="none">
                  <a:solidFill>
                    <a:srgbClr val="1A1F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26"/>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12700" cap="flat">
              <a:solidFill>
                <a:srgbClr val="DDE1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56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fps</c:v>
                </c:pt>
              </c:strCache>
            </c:strRef>
          </c:tx>
          <c:spPr>
            <a:solidFill>
              <a:srgbClr val="D97706"/>
            </a:solidFill>
            <a:effectLst/>
          </c:spPr>
          <c:invertIfNegative val="0"/>
          <c:dLbls>
            <c:numFmt formatCode="#,##0" sourceLinked="0"/>
            <c:txPr>
              <a:bodyPr/>
              <a:lstStyle/>
              <a:p>
                <a:pPr>
                  <a:defRPr b="0" i="0" strike="noStrike" sz="1100" u="none">
                    <a:solidFill>
                      <a:srgbClr val="1A1F26"/>
                    </a:solidFill>
                    <a:latin typeface="Arial"/>
                  </a:defRPr>
                </a:pPr>
              </a:p>
            </c:txPr>
            <c:showLegendKey val="0"/>
            <c:showVal val="1"/>
            <c:showCatName val="0"/>
            <c:showSerName val="0"/>
            <c:showPercent val="0"/>
            <c:showBubbleSize val="0"/>
            <c:showLeaderLines val="0"/>
          </c:dLbls>
          <c:cat>
            <c:multiLvlStrRef>
              <c:f>Sheet1!$A$2:$A$4</c:f>
              <c:multiLvlStrCache>
                <c:ptCount val="3"/>
                <c:lvl>
                  <c:pt idx="0">
                    <c:v>detect-every 1</c:v>
                  </c:pt>
                  <c:pt idx="1">
                    <c:v>detect-every 2</c:v>
                  </c:pt>
                  <c:pt idx="2">
                    <c:v>detect-every 3</c:v>
                  </c:pt>
                </c:lvl>
              </c:multiLvlStrCache>
            </c:multiLvlStrRef>
          </c:cat>
          <c:val>
            <c:numRef>
              <c:f>Sheet1!$B$2:$B$4</c:f>
              <c:numCache>
                <c:formatCode>General</c:formatCode>
                <c:ptCount val="3"/>
                <c:pt idx="0">
                  <c:v>9.4</c:v>
                </c:pt>
                <c:pt idx="1">
                  <c:v>16.5</c:v>
                </c:pt>
                <c:pt idx="2">
                  <c:v>21.6</c:v>
                </c:pt>
              </c:numCache>
            </c:numRef>
          </c:val>
        </c:ser>
        <c:dLbls>
          <c:numFmt formatCode="#,##0" sourceLinked="0"/>
          <c:txPr>
            <a:bodyPr/>
            <a:lstStyle/>
            <a:p>
              <a:pPr>
                <a:defRPr b="0" i="0" strike="noStrike" sz="1100" u="none">
                  <a:solidFill>
                    <a:srgbClr val="1A1F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A1F2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Round 1. All six sections are proposal-stage: design and justification, not results. Emphasize up front that end-to-end validation is ongoing — this talk is about why the system is built this way, not a claim that it works. Likely question: "why isn't there a results section?" Answer: this round is scoped to design; Round [X] covers evaluation once ground-truth annotation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an assistive aid, not a replacement for a white cane or the user's own judgement — say that explicitly if asked. Likely question: "why a fixed camera and not a wearable?" Answer: proposal scope is a fixed-installation assistive system at a known crossing; a wearable form factor is future work, not what's being evaluated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thesis statement of the whole project — refer back to it in every later section ("this is why confidence gating is asymmetric", "this is why hysteresis is asymmetric"). Likely question: "isn't excessive WAIT its own safety problem, since users stop trusting the system?" Answer: yes — that's exactly why UNKNOWN vehicle states and the crossing-time margin exist, so caution doesn't collapse into permanent, useless WAIT (see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FOR THE STUDENT: rows marked [CITATION NEEDED] must be filled with real, verified references before submission — do not present them to examiners as-is. I did not fabricate authors/years/DOIs for the TTC and assistive-crossing rows because I'm not confident enough in specific paper identities to state them as fact; verify Lee's 1976 tau-function paper and find real assistive-pedestrian-crossing CV papers (search terms: 'pedestrian traffic signal recognition blind', 'crosswalk detection assistive vision'). Likely question: "what specifically does ByteTrack do differently from SORT?" Answer: it keeps low-confidence detection boxes in the association step instead of discarding them, which recovers tracks during occlusion — useful here because a partially-occluded approaching vehicle is exactly the dangerous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Research Gap directly — each of these three bullets becomes one gap on the next section. Likely question: "can you name a specific paper that uses a symmetric metric here?" Answer: point to mAP itself as the standard detection metric (used by essentially all YOLO/Ultralytics benchmarking, including our own training runs) — it is class-symmetric by construction, weighting every class's AP equally regardless of the real-world cost of an error in that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"isn't a decision tree over detector outputs pretty simple — where's the research contribution?" Answer: the contribution isn't the branching logic's complexity, it's the derivation of every threshold and asymmetry from an explicit safety criterion (confidence gating, hysteresis asymmetry, the TTC noise horizon) rather than hand-tuned constants — that derivation is what Methodology covers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if questioned: this is one preliminary observation from one real-world clip, not a measured domain-gap rate — do not let it be quoted back as a validated statistic. Likely question: "so does the system just fail in practice?" Answer: this is exactly why Round 1 is proposal-stage — it's the motivating evidence for why validation methodology (Round [X]) must test on real, out-of-distribution footage rather than trust the validation-split number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not a smaller/faster model given CPU-only inference?" Answer: the resolution requirement (960px, driven by signal-head size) dominates the speed budget more than model size does — see the frame-skipping slide for how the fps floor is actually met. Likely question: "is 0.829 good?" Answer: don't claim so in isolation — the per-class table (next-but-one slide) is the honest picture, since it's an average over classes with very different amounts of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is signal_green/signal_red the weakest pair?" Answer: they had zero training data from public datasets (checked against the actual data.yaml of every source dataset) and were entirely bootstrapped from three small CC traffic-light datasets added later in the project — they're the newest classes, not a flaw in the approach. Likely question: "why exclude signal_countdown from this chart entirely rather than showing 0.0?" Answer: 0.0 mAP50 would misleadingly read as 'the model tried and failed' — the honest fact is no public dataset has boxed countdown annotations, so the class has never been trained; that's a data-collection gap, addressed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"what if the vehicle accelerates rather than moving at constant velocity?" Answer: an accelerating vehicle is still estimated optimistically under this constant-velocity model — this is a known, documented limitation, and it's exactly why the decision layer keeps its own 3-second crossing-time margin on top of TTC rather than trusting the number as exact (see Decision Logic). Likely question: "why synthetic data and not real footage for this number?" Answer: honest answer — the available real clips barely produce sustained vehicle tracks, so 'it looked right on video' would prove nothing; synthetic constant-velocity sequences give exact ground truth to measure error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viva favorite — be ready to trace the exact failure mode by hand. Likely question: "walk me through why a turning vehicle would be misread without this fix." Answer: a vehicle turning across the crossing moves mostly sideways, so its box grows slowly — weak box growth alone looks identical to a distant/parked vehicle and would satisfy the 'beyond noise horizon' condition for NOT_APPROACHING, which fsm.py treats as safety evidence. The fix checks a lateral crossing_ratio first and forces UNKNOWN when it's set, before the growth-based classification ever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0.6 and 8 frames specifically, not some other number?" Answer: be honest — these are engineering choices consistent with the safety asymmetry, not derived from a measured false-positive rate (unlike the TTC noise horizon, which IS derived). Flag this if asked: validating and possibly re-tuning these two constants against real false-accept/false-reject rates is exactly what the ground-truth evaluation phase (mentioned in Workflow's last slide)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"doesn't skipping frames mean you might miss a hazard that appears and disappears within the skip?" Answer: yes, and that's a stated residual risk, not eliminated — a hazard first appearing on a skipped frame is unevaluated for up to N-1 frames. N=2 (the default) is the conservative choice for exactly this reason, not N=3 which was also measured and is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"where exactly does frame-skipping sit in this diagram?" Answer: it gates entry to the Detector box — on a skipped video frame, the Detector box doesn't run at all and every stage after it (Tracker onward) simply reuses the last real output, per the previous slide. Likely question: "why log every frame, including skipped ones?" Answer: so evaluate.py's fps calculation counts real video frame rate, not just detection rate — logged separately with an is_detection_frame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"why plain if/elif instead of a state-machine library?" Answer: PLAN.md's own ground rule — every branch must be individually explainable in a viva; a library state machine adds indirection with no behavioral benefit at this scale (three real output states: SEARCHING, WAITING, SAFE_TO_CROSS). Likely question: "why is 'vehicle turning' checked before the TTC rule rather than folded into it?" Answer: TTC models head-on closing distance and literally cannot represent a turning vehicle's risk — folding it into the TTC check would silently misrepresent what's being measured, so it's a structurally separate rule with its own veto.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to get right visually — the point is that WAIT is the fat basin and SAFE is one narrow gate at the very bottom. Likely question: "what happens on a caught exception mid-pipeline?" Answer: the whole update() call is wrapped so any exception anywhere in decision-making returns WAITING — deliberately bare, because there's no failure mode this system is willing to let fall through to SAFE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slide deliberately — it pre-empts the most likely panel question ("where are your results?") by stating plainly that this round is proposal-stage and naming the specific next steps rather than dodging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6"/>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32A34"/>
          </a:solidFill>
          <a:ln/>
        </p:spPr>
      </p:sp>
      <p:sp>
        <p:nvSpPr>
          <p:cNvPr id="3" name="Shape 1"/>
          <p:cNvSpPr/>
          <p:nvPr/>
        </p:nvSpPr>
        <p:spPr>
          <a:xfrm>
            <a:off x="9692640" y="-548640"/>
            <a:ext cx="3291840" cy="3291840"/>
          </a:xfrm>
          <a:prstGeom prst="ellipse">
            <a:avLst/>
          </a:prstGeom>
          <a:solidFill>
            <a:srgbClr val="2B3340"/>
          </a:solidFill>
          <a:ln/>
        </p:spPr>
      </p:sp>
      <p:sp>
        <p:nvSpPr>
          <p:cNvPr id="4" name="Shape 2"/>
          <p:cNvSpPr/>
          <p:nvPr/>
        </p:nvSpPr>
        <p:spPr>
          <a:xfrm>
            <a:off x="10561320" y="320040"/>
            <a:ext cx="1554480" cy="1554480"/>
          </a:xfrm>
          <a:prstGeom prst="ellipse">
            <a:avLst/>
          </a:prstGeom>
          <a:solidFill>
            <a:srgbClr val="D97706"/>
          </a:solidFill>
          <a:ln/>
          <a:effectLst>
            <a:outerShdw sx="100000" sy="100000" kx="0" ky="0" algn="bl" rotWithShape="0" blurRad="76200" dist="25400" dir="5400000">
              <a:srgbClr val="8A94A0">
                <a:alpha val="35000"/>
              </a:srgbClr>
            </a:outerShdw>
          </a:effectLst>
        </p:spPr>
      </p:sp>
      <p:sp>
        <p:nvSpPr>
          <p:cNvPr id="5" name="Text 3"/>
          <p:cNvSpPr txBox="1"/>
          <p:nvPr/>
        </p:nvSpPr>
        <p:spPr>
          <a:xfrm>
            <a:off x="548640" y="1234440"/>
            <a:ext cx="8686800" cy="365760"/>
          </a:xfrm>
          <a:prstGeom prst="rect">
            <a:avLst/>
          </a:prstGeom>
          <a:noFill/>
          <a:ln/>
        </p:spPr>
        <p:txBody>
          <a:bodyPr wrap="square" lIns="0" tIns="0" rIns="0" bIns="0" rtlCol="0" anchor="ctr"/>
          <a:lstStyle/>
          <a:p>
            <a:pPr indent="0" marL="0">
              <a:buNone/>
            </a:pPr>
            <a:r>
              <a:rPr lang="en-US" sz="1400" b="1" spc="200" kern="0" dirty="0">
                <a:solidFill>
                  <a:srgbClr val="D97706"/>
                </a:solidFill>
                <a:latin typeface="Calibri" pitchFamily="34" charset="0"/>
                <a:ea typeface="Calibri" pitchFamily="34" charset="-122"/>
                <a:cs typeface="Calibri" pitchFamily="34" charset="-120"/>
              </a:rPr>
              <a:t>ROUND 1 · PROPOSAL PRESENTATION</a:t>
            </a:r>
            <a:endParaRPr lang="en-US" sz="1400" dirty="0"/>
          </a:p>
        </p:txBody>
      </p:sp>
      <p:sp>
        <p:nvSpPr>
          <p:cNvPr id="6" name="Text 4"/>
          <p:cNvSpPr txBox="1"/>
          <p:nvPr/>
        </p:nvSpPr>
        <p:spPr>
          <a:xfrm>
            <a:off x="548640" y="1691640"/>
            <a:ext cx="8778240" cy="18288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Safe Road-Crossing</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Assistance System</a:t>
            </a:r>
            <a:endParaRPr lang="en-US" sz="4400" dirty="0"/>
          </a:p>
        </p:txBody>
      </p:sp>
      <p:sp>
        <p:nvSpPr>
          <p:cNvPr id="7" name="Text 5"/>
          <p:cNvSpPr txBox="1"/>
          <p:nvPr/>
        </p:nvSpPr>
        <p:spPr>
          <a:xfrm>
            <a:off x="548640" y="3611880"/>
            <a:ext cx="7863840" cy="822960"/>
          </a:xfrm>
          <a:prstGeom prst="rect">
            <a:avLst/>
          </a:prstGeom>
          <a:noFill/>
          <a:ln/>
        </p:spPr>
        <p:txBody>
          <a:bodyPr wrap="square" lIns="0" tIns="0" rIns="0" bIns="0" rtlCol="0" anchor="ctr"/>
          <a:lstStyle/>
          <a:p>
            <a:pPr indent="0" marL="0">
              <a:lnSpc>
                <a:spcPct val="120000"/>
              </a:lnSpc>
              <a:buNone/>
            </a:pPr>
            <a:r>
              <a:rPr lang="en-US" sz="1500" dirty="0">
                <a:solidFill>
                  <a:srgbClr val="C9D0D8"/>
                </a:solidFill>
                <a:latin typeface="Calibri" pitchFamily="34" charset="0"/>
                <a:ea typeface="Calibri" pitchFamily="34" charset="-122"/>
                <a:cs typeface="Calibri" pitchFamily="34" charset="-120"/>
              </a:rPr>
              <a:t>A computer-vision system that watches a road crossing and gives spoken guidance on when it is safe to cross — for visually impaired and elderly pedestrians.</a:t>
            </a:r>
            <a:endParaRPr lang="en-US" sz="1500" dirty="0"/>
          </a:p>
        </p:txBody>
      </p:sp>
      <p:sp>
        <p:nvSpPr>
          <p:cNvPr id="8" name="Shape 6"/>
          <p:cNvSpPr/>
          <p:nvPr/>
        </p:nvSpPr>
        <p:spPr>
          <a:xfrm>
            <a:off x="548640" y="4617720"/>
            <a:ext cx="7863840" cy="868680"/>
          </a:xfrm>
          <a:prstGeom prst="roundRect">
            <a:avLst>
              <a:gd name="adj" fmla="val 8421"/>
            </a:avLst>
          </a:prstGeom>
          <a:solidFill>
            <a:srgbClr val="232A34"/>
          </a:solidFill>
          <a:ln w="12700">
            <a:solidFill>
              <a:srgbClr val="3A4350"/>
            </a:solidFill>
            <a:prstDash val="solid"/>
          </a:ln>
        </p:spPr>
      </p:sp>
      <p:sp>
        <p:nvSpPr>
          <p:cNvPr id="9" name="Text 7"/>
          <p:cNvSpPr txBox="1"/>
          <p:nvPr/>
        </p:nvSpPr>
        <p:spPr>
          <a:xfrm>
            <a:off x="777240" y="4617720"/>
            <a:ext cx="7406640" cy="868680"/>
          </a:xfrm>
          <a:prstGeom prst="rect">
            <a:avLst/>
          </a:prstGeom>
          <a:noFill/>
          <a:ln/>
        </p:spPr>
        <p:txBody>
          <a:bodyPr wrap="square" lIns="0" tIns="0" rIns="0" bIns="0" rtlCol="0" anchor="ctr"/>
          <a:lstStyle/>
          <a:p>
            <a:pPr indent="0" marL="0">
              <a:lnSpc>
                <a:spcPct val="115000"/>
              </a:lnSpc>
              <a:buNone/>
            </a:pPr>
            <a:r>
              <a:rPr lang="en-US" sz="1350" b="1" dirty="0">
                <a:solidFill>
                  <a:srgbClr val="D97706"/>
                </a:solidFill>
                <a:latin typeface="Calibri" pitchFamily="34" charset="0"/>
                <a:ea typeface="Calibri" pitchFamily="34" charset="-122"/>
                <a:cs typeface="Calibri" pitchFamily="34" charset="-120"/>
              </a:rPr>
              <a:t>Governing design rule:  </a:t>
            </a:r>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default output is always </a:t>
            </a:r>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WAIT</a:t>
            </a:r>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 Only explicit positive evidence produces “safe to cross.”</a:t>
            </a:r>
            <a:endParaRPr lang="en-US" sz="1350" dirty="0"/>
          </a:p>
        </p:txBody>
      </p:sp>
      <p:sp>
        <p:nvSpPr>
          <p:cNvPr id="10" name="Text 8"/>
          <p:cNvSpPr txBox="1"/>
          <p:nvPr/>
        </p:nvSpPr>
        <p:spPr>
          <a:xfrm>
            <a:off x="548640" y="5806440"/>
            <a:ext cx="7863840" cy="320040"/>
          </a:xfrm>
          <a:prstGeom prst="rect">
            <a:avLst/>
          </a:prstGeom>
          <a:noFill/>
          <a:ln/>
        </p:spPr>
        <p:txBody>
          <a:bodyPr wrap="square" lIns="0" tIns="0" rIns="0" bIns="0" rtlCol="0" anchor="ctr"/>
          <a:lstStyle/>
          <a:p>
            <a:pPr indent="0" marL="0">
              <a:buNone/>
            </a:pPr>
            <a:r>
              <a:rPr lang="en-US" sz="1300" i="1" dirty="0">
                <a:solidFill>
                  <a:srgbClr val="9AA4B0"/>
                </a:solidFill>
                <a:latin typeface="Calibri" pitchFamily="34" charset="0"/>
                <a:ea typeface="Calibri" pitchFamily="34" charset="-122"/>
                <a:cs typeface="Calibri" pitchFamily="34" charset="-120"/>
              </a:rPr>
              <a:t>[Team Member Name 1]   ·   [Team Member Name 2]   ·   [Team Member Name 3]</a:t>
            </a:r>
            <a:endParaRPr lang="en-US" sz="1300" dirty="0"/>
          </a:p>
        </p:txBody>
      </p:sp>
      <p:sp>
        <p:nvSpPr>
          <p:cNvPr id="11" name="Text 9"/>
          <p:cNvSpPr txBox="1"/>
          <p:nvPr/>
        </p:nvSpPr>
        <p:spPr>
          <a:xfrm>
            <a:off x="548640" y="6144768"/>
            <a:ext cx="7863840" cy="292608"/>
          </a:xfrm>
          <a:prstGeom prst="rect">
            <a:avLst/>
          </a:prstGeom>
          <a:noFill/>
          <a:ln/>
        </p:spPr>
        <p:txBody>
          <a:bodyPr wrap="square" lIns="0" tIns="0" rIns="0" bIns="0" rtlCol="0" anchor="ctr"/>
          <a:lstStyle/>
          <a:p>
            <a:pPr indent="0" marL="0">
              <a:buNone/>
            </a:pPr>
            <a:r>
              <a:rPr lang="en-US" sz="1200" dirty="0">
                <a:solidFill>
                  <a:srgbClr val="808996"/>
                </a:solidFill>
                <a:latin typeface="Calibri" pitchFamily="34" charset="0"/>
                <a:ea typeface="Calibri" pitchFamily="34" charset="-122"/>
                <a:cs typeface="Calibri" pitchFamily="34" charset="-120"/>
              </a:rPr>
              <a:t>Guide: [Guide Name]                                                              [Presentation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ROUND 1 AGENDA</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Six sections, one governing idea</a:t>
            </a:r>
            <a:endParaRPr lang="en-US" sz="3000" dirty="0"/>
          </a:p>
        </p:txBody>
      </p:sp>
      <p:sp>
        <p:nvSpPr>
          <p:cNvPr id="4" name="Shape 2"/>
          <p:cNvSpPr/>
          <p:nvPr/>
        </p:nvSpPr>
        <p:spPr>
          <a:xfrm>
            <a:off x="548640" y="1600200"/>
            <a:ext cx="5364328" cy="1417320"/>
          </a:xfrm>
          <a:prstGeom prst="roundRect">
            <a:avLst>
              <a:gd name="adj" fmla="val 3871"/>
            </a:avLst>
          </a:prstGeom>
          <a:solidFill>
            <a:srgbClr val="F3F4F6"/>
          </a:solidFill>
          <a:ln/>
        </p:spPr>
      </p:sp>
      <p:sp>
        <p:nvSpPr>
          <p:cNvPr id="5" name="Text 3"/>
          <p:cNvSpPr txBox="1"/>
          <p:nvPr/>
        </p:nvSpPr>
        <p:spPr>
          <a:xfrm>
            <a:off x="777240" y="1764792"/>
            <a:ext cx="822960" cy="548640"/>
          </a:xfrm>
          <a:prstGeom prst="rect">
            <a:avLst/>
          </a:prstGeom>
          <a:noFill/>
          <a:ln/>
        </p:spPr>
        <p:txBody>
          <a:bodyPr wrap="square" lIns="0" tIns="0" rIns="0" bIns="0" rtlCol="0" anchor="ctr"/>
          <a:lstStyle/>
          <a:p>
            <a:pPr indent="0" marL="0">
              <a:buNone/>
            </a:pPr>
            <a:r>
              <a:rPr lang="en-US" sz="2600" b="1" dirty="0">
                <a:solidFill>
                  <a:srgbClr val="D97706"/>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1508760" y="1783080"/>
            <a:ext cx="4175608"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Introduction</a:t>
            </a:r>
            <a:endParaRPr lang="en-US" sz="1500" dirty="0"/>
          </a:p>
        </p:txBody>
      </p:sp>
      <p:sp>
        <p:nvSpPr>
          <p:cNvPr id="7" name="Text 5"/>
          <p:cNvSpPr txBox="1"/>
          <p:nvPr/>
        </p:nvSpPr>
        <p:spPr>
          <a:xfrm>
            <a:off x="1508760" y="2167128"/>
            <a:ext cx="4175608" cy="731520"/>
          </a:xfrm>
          <a:prstGeom prst="rect">
            <a:avLst/>
          </a:prstGeom>
          <a:noFill/>
          <a:ln/>
        </p:spPr>
        <p:txBody>
          <a:bodyPr wrap="square" lIns="0" tIns="0" rIns="0" bIns="0" rtlCol="0" anchor="ctr"/>
          <a:lstStyle/>
          <a:p>
            <a:pPr indent="0" marL="0">
              <a:lnSpc>
                <a:spcPct val="115000"/>
              </a:lnSpc>
              <a:buNone/>
            </a:pPr>
            <a:r>
              <a:rPr lang="en-US" sz="1150" dirty="0">
                <a:solidFill>
                  <a:srgbClr val="4A5560"/>
                </a:solidFill>
                <a:latin typeface="Calibri" pitchFamily="34" charset="0"/>
                <a:ea typeface="Calibri" pitchFamily="34" charset="-122"/>
                <a:cs typeface="Calibri" pitchFamily="34" charset="-120"/>
              </a:rPr>
              <a:t>The problem, the user, and the one rule everything else follows from</a:t>
            </a:r>
            <a:endParaRPr lang="en-US" sz="1150" dirty="0"/>
          </a:p>
        </p:txBody>
      </p:sp>
      <p:sp>
        <p:nvSpPr>
          <p:cNvPr id="8" name="Shape 6"/>
          <p:cNvSpPr/>
          <p:nvPr/>
        </p:nvSpPr>
        <p:spPr>
          <a:xfrm>
            <a:off x="6278728" y="1600200"/>
            <a:ext cx="5364328" cy="1417320"/>
          </a:xfrm>
          <a:prstGeom prst="roundRect">
            <a:avLst>
              <a:gd name="adj" fmla="val 3871"/>
            </a:avLst>
          </a:prstGeom>
          <a:solidFill>
            <a:srgbClr val="F3F4F6"/>
          </a:solidFill>
          <a:ln/>
        </p:spPr>
      </p:sp>
      <p:sp>
        <p:nvSpPr>
          <p:cNvPr id="9" name="Text 7"/>
          <p:cNvSpPr txBox="1"/>
          <p:nvPr/>
        </p:nvSpPr>
        <p:spPr>
          <a:xfrm>
            <a:off x="6507328" y="1764792"/>
            <a:ext cx="822960" cy="548640"/>
          </a:xfrm>
          <a:prstGeom prst="rect">
            <a:avLst/>
          </a:prstGeom>
          <a:noFill/>
          <a:ln/>
        </p:spPr>
        <p:txBody>
          <a:bodyPr wrap="square" lIns="0" tIns="0" rIns="0" bIns="0" rtlCol="0" anchor="ctr"/>
          <a:lstStyle/>
          <a:p>
            <a:pPr indent="0" marL="0">
              <a:buNone/>
            </a:pPr>
            <a:r>
              <a:rPr lang="en-US" sz="2600" b="1" dirty="0">
                <a:solidFill>
                  <a:srgbClr val="D97706"/>
                </a:solidFill>
                <a:latin typeface="Cambria" pitchFamily="34" charset="0"/>
                <a:ea typeface="Cambria" pitchFamily="34" charset="-122"/>
                <a:cs typeface="Cambria" pitchFamily="34" charset="-120"/>
              </a:rPr>
              <a:t>02</a:t>
            </a:r>
            <a:endParaRPr lang="en-US" sz="2600" dirty="0"/>
          </a:p>
        </p:txBody>
      </p:sp>
      <p:sp>
        <p:nvSpPr>
          <p:cNvPr id="10" name="Text 8"/>
          <p:cNvSpPr txBox="1"/>
          <p:nvPr/>
        </p:nvSpPr>
        <p:spPr>
          <a:xfrm>
            <a:off x="7238848" y="1783080"/>
            <a:ext cx="4175608"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Literature Review</a:t>
            </a:r>
            <a:endParaRPr lang="en-US" sz="1500" dirty="0"/>
          </a:p>
        </p:txBody>
      </p:sp>
      <p:sp>
        <p:nvSpPr>
          <p:cNvPr id="11" name="Text 9"/>
          <p:cNvSpPr txBox="1"/>
          <p:nvPr/>
        </p:nvSpPr>
        <p:spPr>
          <a:xfrm>
            <a:off x="7238848" y="2167128"/>
            <a:ext cx="4175608" cy="731520"/>
          </a:xfrm>
          <a:prstGeom prst="rect">
            <a:avLst/>
          </a:prstGeom>
          <a:noFill/>
          <a:ln/>
        </p:spPr>
        <p:txBody>
          <a:bodyPr wrap="square" lIns="0" tIns="0" rIns="0" bIns="0" rtlCol="0" anchor="ctr"/>
          <a:lstStyle/>
          <a:p>
            <a:pPr indent="0" marL="0">
              <a:lnSpc>
                <a:spcPct val="115000"/>
              </a:lnSpc>
              <a:buNone/>
            </a:pPr>
            <a:r>
              <a:rPr lang="en-US" sz="1150" dirty="0">
                <a:solidFill>
                  <a:srgbClr val="4A5560"/>
                </a:solidFill>
                <a:latin typeface="Calibri" pitchFamily="34" charset="0"/>
                <a:ea typeface="Calibri" pitchFamily="34" charset="-122"/>
                <a:cs typeface="Calibri" pitchFamily="34" charset="-120"/>
              </a:rPr>
              <a:t>What existing work covers — and what it assumes away</a:t>
            </a:r>
            <a:endParaRPr lang="en-US" sz="1150" dirty="0"/>
          </a:p>
        </p:txBody>
      </p:sp>
      <p:sp>
        <p:nvSpPr>
          <p:cNvPr id="12" name="Shape 10"/>
          <p:cNvSpPr/>
          <p:nvPr/>
        </p:nvSpPr>
        <p:spPr>
          <a:xfrm>
            <a:off x="548640" y="3182112"/>
            <a:ext cx="5364328" cy="1417320"/>
          </a:xfrm>
          <a:prstGeom prst="roundRect">
            <a:avLst>
              <a:gd name="adj" fmla="val 3871"/>
            </a:avLst>
          </a:prstGeom>
          <a:solidFill>
            <a:srgbClr val="F3F4F6"/>
          </a:solidFill>
          <a:ln/>
        </p:spPr>
      </p:sp>
      <p:sp>
        <p:nvSpPr>
          <p:cNvPr id="13" name="Text 11"/>
          <p:cNvSpPr txBox="1"/>
          <p:nvPr/>
        </p:nvSpPr>
        <p:spPr>
          <a:xfrm>
            <a:off x="777240" y="3346704"/>
            <a:ext cx="822960" cy="548640"/>
          </a:xfrm>
          <a:prstGeom prst="rect">
            <a:avLst/>
          </a:prstGeom>
          <a:noFill/>
          <a:ln/>
        </p:spPr>
        <p:txBody>
          <a:bodyPr wrap="square" lIns="0" tIns="0" rIns="0" bIns="0" rtlCol="0" anchor="ctr"/>
          <a:lstStyle/>
          <a:p>
            <a:pPr indent="0" marL="0">
              <a:buNone/>
            </a:pPr>
            <a:r>
              <a:rPr lang="en-US" sz="2600" b="1" dirty="0">
                <a:solidFill>
                  <a:srgbClr val="D97706"/>
                </a:solidFill>
                <a:latin typeface="Cambria" pitchFamily="34" charset="0"/>
                <a:ea typeface="Cambria" pitchFamily="34" charset="-122"/>
                <a:cs typeface="Cambria" pitchFamily="34" charset="-120"/>
              </a:rPr>
              <a:t>03</a:t>
            </a:r>
            <a:endParaRPr lang="en-US" sz="2600" dirty="0"/>
          </a:p>
        </p:txBody>
      </p:sp>
      <p:sp>
        <p:nvSpPr>
          <p:cNvPr id="14" name="Text 12"/>
          <p:cNvSpPr txBox="1"/>
          <p:nvPr/>
        </p:nvSpPr>
        <p:spPr>
          <a:xfrm>
            <a:off x="1508760" y="3364992"/>
            <a:ext cx="4175608"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Research Gap</a:t>
            </a:r>
            <a:endParaRPr lang="en-US" sz="1500" dirty="0"/>
          </a:p>
        </p:txBody>
      </p:sp>
      <p:sp>
        <p:nvSpPr>
          <p:cNvPr id="15" name="Text 13"/>
          <p:cNvSpPr txBox="1"/>
          <p:nvPr/>
        </p:nvSpPr>
        <p:spPr>
          <a:xfrm>
            <a:off x="1508760" y="3749040"/>
            <a:ext cx="4175608" cy="731520"/>
          </a:xfrm>
          <a:prstGeom prst="rect">
            <a:avLst/>
          </a:prstGeom>
          <a:noFill/>
          <a:ln/>
        </p:spPr>
        <p:txBody>
          <a:bodyPr wrap="square" lIns="0" tIns="0" rIns="0" bIns="0" rtlCol="0" anchor="ctr"/>
          <a:lstStyle/>
          <a:p>
            <a:pPr indent="0" marL="0">
              <a:lnSpc>
                <a:spcPct val="115000"/>
              </a:lnSpc>
              <a:buNone/>
            </a:pPr>
            <a:r>
              <a:rPr lang="en-US" sz="1150" dirty="0">
                <a:solidFill>
                  <a:srgbClr val="4A5560"/>
                </a:solidFill>
                <a:latin typeface="Calibri" pitchFamily="34" charset="0"/>
                <a:ea typeface="Calibri" pitchFamily="34" charset="-122"/>
                <a:cs typeface="Calibri" pitchFamily="34" charset="-120"/>
              </a:rPr>
              <a:t>Pieces exist; an integrated, safety-asymmetric decision layer doesn't</a:t>
            </a:r>
            <a:endParaRPr lang="en-US" sz="1150" dirty="0"/>
          </a:p>
        </p:txBody>
      </p:sp>
      <p:sp>
        <p:nvSpPr>
          <p:cNvPr id="16" name="Shape 14"/>
          <p:cNvSpPr/>
          <p:nvPr/>
        </p:nvSpPr>
        <p:spPr>
          <a:xfrm>
            <a:off x="6278728" y="3182112"/>
            <a:ext cx="5364328" cy="1417320"/>
          </a:xfrm>
          <a:prstGeom prst="roundRect">
            <a:avLst>
              <a:gd name="adj" fmla="val 3871"/>
            </a:avLst>
          </a:prstGeom>
          <a:solidFill>
            <a:srgbClr val="F3F4F6"/>
          </a:solidFill>
          <a:ln/>
        </p:spPr>
      </p:sp>
      <p:sp>
        <p:nvSpPr>
          <p:cNvPr id="17" name="Text 15"/>
          <p:cNvSpPr txBox="1"/>
          <p:nvPr/>
        </p:nvSpPr>
        <p:spPr>
          <a:xfrm>
            <a:off x="6507328" y="3346704"/>
            <a:ext cx="822960" cy="548640"/>
          </a:xfrm>
          <a:prstGeom prst="rect">
            <a:avLst/>
          </a:prstGeom>
          <a:noFill/>
          <a:ln/>
        </p:spPr>
        <p:txBody>
          <a:bodyPr wrap="square" lIns="0" tIns="0" rIns="0" bIns="0" rtlCol="0" anchor="ctr"/>
          <a:lstStyle/>
          <a:p>
            <a:pPr indent="0" marL="0">
              <a:buNone/>
            </a:pPr>
            <a:r>
              <a:rPr lang="en-US" sz="2600" b="1" dirty="0">
                <a:solidFill>
                  <a:srgbClr val="D97706"/>
                </a:solidFill>
                <a:latin typeface="Cambria" pitchFamily="34" charset="0"/>
                <a:ea typeface="Cambria" pitchFamily="34" charset="-122"/>
                <a:cs typeface="Cambria" pitchFamily="34" charset="-120"/>
              </a:rPr>
              <a:t>04</a:t>
            </a:r>
            <a:endParaRPr lang="en-US" sz="2600" dirty="0"/>
          </a:p>
        </p:txBody>
      </p:sp>
      <p:sp>
        <p:nvSpPr>
          <p:cNvPr id="18" name="Text 16"/>
          <p:cNvSpPr txBox="1"/>
          <p:nvPr/>
        </p:nvSpPr>
        <p:spPr>
          <a:xfrm>
            <a:off x="7238848" y="3364992"/>
            <a:ext cx="4175608"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Methodology</a:t>
            </a:r>
            <a:endParaRPr lang="en-US" sz="1500" dirty="0"/>
          </a:p>
        </p:txBody>
      </p:sp>
      <p:sp>
        <p:nvSpPr>
          <p:cNvPr id="19" name="Text 17"/>
          <p:cNvSpPr txBox="1"/>
          <p:nvPr/>
        </p:nvSpPr>
        <p:spPr>
          <a:xfrm>
            <a:off x="7238848" y="3749040"/>
            <a:ext cx="4175608" cy="731520"/>
          </a:xfrm>
          <a:prstGeom prst="rect">
            <a:avLst/>
          </a:prstGeom>
          <a:noFill/>
          <a:ln/>
        </p:spPr>
        <p:txBody>
          <a:bodyPr wrap="square" lIns="0" tIns="0" rIns="0" bIns="0" rtlCol="0" anchor="ctr"/>
          <a:lstStyle/>
          <a:p>
            <a:pPr indent="0" marL="0">
              <a:lnSpc>
                <a:spcPct val="115000"/>
              </a:lnSpc>
              <a:buNone/>
            </a:pPr>
            <a:r>
              <a:rPr lang="en-US" sz="1150" dirty="0">
                <a:solidFill>
                  <a:srgbClr val="4A5560"/>
                </a:solidFill>
                <a:latin typeface="Calibri" pitchFamily="34" charset="0"/>
                <a:ea typeface="Calibri" pitchFamily="34" charset="-122"/>
                <a:cs typeface="Calibri" pitchFamily="34" charset="-120"/>
              </a:rPr>
              <a:t>Detection, tracking, monocular TTC, and a 6-rule decision layer</a:t>
            </a:r>
            <a:endParaRPr lang="en-US" sz="1150" dirty="0"/>
          </a:p>
        </p:txBody>
      </p:sp>
      <p:sp>
        <p:nvSpPr>
          <p:cNvPr id="20" name="Shape 18"/>
          <p:cNvSpPr/>
          <p:nvPr/>
        </p:nvSpPr>
        <p:spPr>
          <a:xfrm>
            <a:off x="548640" y="4764024"/>
            <a:ext cx="5364328" cy="1417320"/>
          </a:xfrm>
          <a:prstGeom prst="roundRect">
            <a:avLst>
              <a:gd name="adj" fmla="val 3871"/>
            </a:avLst>
          </a:prstGeom>
          <a:solidFill>
            <a:srgbClr val="F3F4F6"/>
          </a:solidFill>
          <a:ln/>
        </p:spPr>
      </p:sp>
      <p:sp>
        <p:nvSpPr>
          <p:cNvPr id="21" name="Text 19"/>
          <p:cNvSpPr txBox="1"/>
          <p:nvPr/>
        </p:nvSpPr>
        <p:spPr>
          <a:xfrm>
            <a:off x="777240" y="4928616"/>
            <a:ext cx="822960" cy="548640"/>
          </a:xfrm>
          <a:prstGeom prst="rect">
            <a:avLst/>
          </a:prstGeom>
          <a:noFill/>
          <a:ln/>
        </p:spPr>
        <p:txBody>
          <a:bodyPr wrap="square" lIns="0" tIns="0" rIns="0" bIns="0" rtlCol="0" anchor="ctr"/>
          <a:lstStyle/>
          <a:p>
            <a:pPr indent="0" marL="0">
              <a:buNone/>
            </a:pPr>
            <a:r>
              <a:rPr lang="en-US" sz="2600" b="1" dirty="0">
                <a:solidFill>
                  <a:srgbClr val="D97706"/>
                </a:solidFill>
                <a:latin typeface="Cambria" pitchFamily="34" charset="0"/>
                <a:ea typeface="Cambria" pitchFamily="34" charset="-122"/>
                <a:cs typeface="Cambria" pitchFamily="34" charset="-120"/>
              </a:rPr>
              <a:t>05</a:t>
            </a:r>
            <a:endParaRPr lang="en-US" sz="2600" dirty="0"/>
          </a:p>
        </p:txBody>
      </p:sp>
      <p:sp>
        <p:nvSpPr>
          <p:cNvPr id="22" name="Text 20"/>
          <p:cNvSpPr txBox="1"/>
          <p:nvPr/>
        </p:nvSpPr>
        <p:spPr>
          <a:xfrm>
            <a:off x="1508760" y="4946904"/>
            <a:ext cx="4175608"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System Architecture</a:t>
            </a:r>
            <a:endParaRPr lang="en-US" sz="1500" dirty="0"/>
          </a:p>
        </p:txBody>
      </p:sp>
      <p:sp>
        <p:nvSpPr>
          <p:cNvPr id="23" name="Text 21"/>
          <p:cNvSpPr txBox="1"/>
          <p:nvPr/>
        </p:nvSpPr>
        <p:spPr>
          <a:xfrm>
            <a:off x="1508760" y="5330952"/>
            <a:ext cx="4175608" cy="731520"/>
          </a:xfrm>
          <a:prstGeom prst="rect">
            <a:avLst/>
          </a:prstGeom>
          <a:noFill/>
          <a:ln/>
        </p:spPr>
        <p:txBody>
          <a:bodyPr wrap="square" lIns="0" tIns="0" rIns="0" bIns="0" rtlCol="0" anchor="ctr"/>
          <a:lstStyle/>
          <a:p>
            <a:pPr indent="0" marL="0">
              <a:lnSpc>
                <a:spcPct val="115000"/>
              </a:lnSpc>
              <a:buNone/>
            </a:pPr>
            <a:r>
              <a:rPr lang="en-US" sz="1150" dirty="0">
                <a:solidFill>
                  <a:srgbClr val="4A5560"/>
                </a:solidFill>
                <a:latin typeface="Calibri" pitchFamily="34" charset="0"/>
                <a:ea typeface="Calibri" pitchFamily="34" charset="-122"/>
                <a:cs typeface="Calibri" pitchFamily="34" charset="-120"/>
              </a:rPr>
              <a:t>How the pipeline is wired, end to end</a:t>
            </a:r>
            <a:endParaRPr lang="en-US" sz="1150" dirty="0"/>
          </a:p>
        </p:txBody>
      </p:sp>
      <p:sp>
        <p:nvSpPr>
          <p:cNvPr id="24" name="Shape 22"/>
          <p:cNvSpPr/>
          <p:nvPr/>
        </p:nvSpPr>
        <p:spPr>
          <a:xfrm>
            <a:off x="6278728" y="4764024"/>
            <a:ext cx="5364328" cy="1417320"/>
          </a:xfrm>
          <a:prstGeom prst="roundRect">
            <a:avLst>
              <a:gd name="adj" fmla="val 3871"/>
            </a:avLst>
          </a:prstGeom>
          <a:solidFill>
            <a:srgbClr val="F3F4F6"/>
          </a:solidFill>
          <a:ln/>
        </p:spPr>
      </p:sp>
      <p:sp>
        <p:nvSpPr>
          <p:cNvPr id="25" name="Text 23"/>
          <p:cNvSpPr txBox="1"/>
          <p:nvPr/>
        </p:nvSpPr>
        <p:spPr>
          <a:xfrm>
            <a:off x="6507328" y="4928616"/>
            <a:ext cx="822960" cy="548640"/>
          </a:xfrm>
          <a:prstGeom prst="rect">
            <a:avLst/>
          </a:prstGeom>
          <a:noFill/>
          <a:ln/>
        </p:spPr>
        <p:txBody>
          <a:bodyPr wrap="square" lIns="0" tIns="0" rIns="0" bIns="0" rtlCol="0" anchor="ctr"/>
          <a:lstStyle/>
          <a:p>
            <a:pPr indent="0" marL="0">
              <a:buNone/>
            </a:pPr>
            <a:r>
              <a:rPr lang="en-US" sz="2600" b="1" dirty="0">
                <a:solidFill>
                  <a:srgbClr val="D97706"/>
                </a:solidFill>
                <a:latin typeface="Cambria" pitchFamily="34" charset="0"/>
                <a:ea typeface="Cambria" pitchFamily="34" charset="-122"/>
                <a:cs typeface="Cambria" pitchFamily="34" charset="-120"/>
              </a:rPr>
              <a:t>06</a:t>
            </a:r>
            <a:endParaRPr lang="en-US" sz="2600" dirty="0"/>
          </a:p>
        </p:txBody>
      </p:sp>
      <p:sp>
        <p:nvSpPr>
          <p:cNvPr id="26" name="Text 24"/>
          <p:cNvSpPr txBox="1"/>
          <p:nvPr/>
        </p:nvSpPr>
        <p:spPr>
          <a:xfrm>
            <a:off x="7238848" y="4946904"/>
            <a:ext cx="4175608"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Workflow</a:t>
            </a:r>
            <a:endParaRPr lang="en-US" sz="1500" dirty="0"/>
          </a:p>
        </p:txBody>
      </p:sp>
      <p:sp>
        <p:nvSpPr>
          <p:cNvPr id="27" name="Text 25"/>
          <p:cNvSpPr txBox="1"/>
          <p:nvPr/>
        </p:nvSpPr>
        <p:spPr>
          <a:xfrm>
            <a:off x="7238848" y="5330952"/>
            <a:ext cx="4175608" cy="731520"/>
          </a:xfrm>
          <a:prstGeom prst="rect">
            <a:avLst/>
          </a:prstGeom>
          <a:noFill/>
          <a:ln/>
        </p:spPr>
        <p:txBody>
          <a:bodyPr wrap="square" lIns="0" tIns="0" rIns="0" bIns="0" rtlCol="0" anchor="ctr"/>
          <a:lstStyle/>
          <a:p>
            <a:pPr indent="0" marL="0">
              <a:lnSpc>
                <a:spcPct val="115000"/>
              </a:lnSpc>
              <a:buNone/>
            </a:pPr>
            <a:r>
              <a:rPr lang="en-US" sz="1150" dirty="0">
                <a:solidFill>
                  <a:srgbClr val="4A5560"/>
                </a:solidFill>
                <a:latin typeface="Calibri" pitchFamily="34" charset="0"/>
                <a:ea typeface="Calibri" pitchFamily="34" charset="-122"/>
                <a:cs typeface="Calibri" pitchFamily="34" charset="-120"/>
              </a:rPr>
              <a:t>The six sequential rules, and why WAIT is the default path</a:t>
            </a:r>
            <a:endParaRPr lang="en-US" sz="1150" dirty="0"/>
          </a:p>
        </p:txBody>
      </p:sp>
      <p:sp>
        <p:nvSpPr>
          <p:cNvPr id="28" name="Text 26"/>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Introduction</a:t>
            </a:r>
            <a:endParaRPr lang="en-US" sz="1000" dirty="0"/>
          </a:p>
        </p:txBody>
      </p:sp>
      <p:sp>
        <p:nvSpPr>
          <p:cNvPr id="29" name="Text 2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 / 17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INTRODUCTION</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The problem</a:t>
            </a:r>
            <a:endParaRPr lang="en-US" sz="3000" dirty="0"/>
          </a:p>
        </p:txBody>
      </p:sp>
      <p:sp>
        <p:nvSpPr>
          <p:cNvPr id="4" name="Shape 2"/>
          <p:cNvSpPr/>
          <p:nvPr/>
        </p:nvSpPr>
        <p:spPr>
          <a:xfrm>
            <a:off x="548640" y="1554480"/>
            <a:ext cx="6675120" cy="4572000"/>
          </a:xfrm>
          <a:prstGeom prst="roundRect">
            <a:avLst>
              <a:gd name="adj" fmla="val 1200"/>
            </a:avLst>
          </a:prstGeom>
          <a:solidFill>
            <a:srgbClr val="F3F4F6"/>
          </a:solidFill>
          <a:ln/>
        </p:spPr>
      </p:sp>
      <p:sp>
        <p:nvSpPr>
          <p:cNvPr id="5" name="Shape 3"/>
          <p:cNvSpPr/>
          <p:nvPr/>
        </p:nvSpPr>
        <p:spPr>
          <a:xfrm>
            <a:off x="822960" y="1901952"/>
            <a:ext cx="109728" cy="109728"/>
          </a:xfrm>
          <a:prstGeom prst="ellipse">
            <a:avLst/>
          </a:prstGeom>
          <a:solidFill>
            <a:srgbClr val="D97706"/>
          </a:solidFill>
          <a:ln/>
        </p:spPr>
      </p:sp>
      <p:sp>
        <p:nvSpPr>
          <p:cNvPr id="6" name="Text 4"/>
          <p:cNvSpPr txBox="1"/>
          <p:nvPr/>
        </p:nvSpPr>
        <p:spPr>
          <a:xfrm>
            <a:off x="1097280" y="1773936"/>
            <a:ext cx="5760720" cy="1188720"/>
          </a:xfrm>
          <a:prstGeom prst="rect">
            <a:avLst/>
          </a:prstGeom>
          <a:noFill/>
          <a:ln/>
        </p:spPr>
        <p:txBody>
          <a:bodyPr wrap="square" lIns="0" tIns="0" rIns="0" bIns="0" rtlCol="0" anchor="ctr"/>
          <a:lstStyle/>
          <a:p>
            <a:pPr indent="0" marL="0">
              <a:lnSpc>
                <a:spcPct val="125000"/>
              </a:lnSpc>
              <a:buNone/>
            </a:pPr>
            <a:r>
              <a:rPr lang="en-US" sz="1500" dirty="0">
                <a:solidFill>
                  <a:srgbClr val="1A1F26"/>
                </a:solidFill>
                <a:latin typeface="Calibri" pitchFamily="34" charset="0"/>
                <a:ea typeface="Calibri" pitchFamily="34" charset="-122"/>
                <a:cs typeface="Calibri" pitchFamily="34" charset="-120"/>
              </a:rPr>
              <a:t>Visually impaired and elderly pedestrians rely on audible or tactile cues that many crossings simply don't provide.</a:t>
            </a:r>
            <a:endParaRPr lang="en-US" sz="1500" dirty="0"/>
          </a:p>
        </p:txBody>
      </p:sp>
      <p:sp>
        <p:nvSpPr>
          <p:cNvPr id="7" name="Shape 5"/>
          <p:cNvSpPr/>
          <p:nvPr/>
        </p:nvSpPr>
        <p:spPr>
          <a:xfrm>
            <a:off x="822960" y="3319272"/>
            <a:ext cx="109728" cy="109728"/>
          </a:xfrm>
          <a:prstGeom prst="ellipse">
            <a:avLst/>
          </a:prstGeom>
          <a:solidFill>
            <a:srgbClr val="D97706"/>
          </a:solidFill>
          <a:ln/>
        </p:spPr>
      </p:sp>
      <p:sp>
        <p:nvSpPr>
          <p:cNvPr id="8" name="Text 6"/>
          <p:cNvSpPr txBox="1"/>
          <p:nvPr/>
        </p:nvSpPr>
        <p:spPr>
          <a:xfrm>
            <a:off x="1097280" y="3191256"/>
            <a:ext cx="5760720" cy="1188720"/>
          </a:xfrm>
          <a:prstGeom prst="rect">
            <a:avLst/>
          </a:prstGeom>
          <a:noFill/>
          <a:ln/>
        </p:spPr>
        <p:txBody>
          <a:bodyPr wrap="square" lIns="0" tIns="0" rIns="0" bIns="0" rtlCol="0" anchor="ctr"/>
          <a:lstStyle/>
          <a:p>
            <a:pPr indent="0" marL="0">
              <a:lnSpc>
                <a:spcPct val="125000"/>
              </a:lnSpc>
              <a:buNone/>
            </a:pPr>
            <a:r>
              <a:rPr lang="en-US" sz="1500" dirty="0">
                <a:solidFill>
                  <a:srgbClr val="1A1F26"/>
                </a:solidFill>
                <a:latin typeface="Calibri" pitchFamily="34" charset="0"/>
                <a:ea typeface="Calibri" pitchFamily="34" charset="-122"/>
                <a:cs typeface="Calibri" pitchFamily="34" charset="-120"/>
              </a:rPr>
              <a:t>Existing assistive tools (white cane, guide dog, hearing) detect obstacles at arm's length — not an approaching vehicle 40 metres away.</a:t>
            </a:r>
            <a:endParaRPr lang="en-US" sz="1500" dirty="0"/>
          </a:p>
        </p:txBody>
      </p:sp>
      <p:sp>
        <p:nvSpPr>
          <p:cNvPr id="9" name="Shape 7"/>
          <p:cNvSpPr/>
          <p:nvPr/>
        </p:nvSpPr>
        <p:spPr>
          <a:xfrm>
            <a:off x="822960" y="4736592"/>
            <a:ext cx="109728" cy="109728"/>
          </a:xfrm>
          <a:prstGeom prst="ellipse">
            <a:avLst/>
          </a:prstGeom>
          <a:solidFill>
            <a:srgbClr val="D97706"/>
          </a:solidFill>
          <a:ln/>
        </p:spPr>
      </p:sp>
      <p:sp>
        <p:nvSpPr>
          <p:cNvPr id="10" name="Text 8"/>
          <p:cNvSpPr txBox="1"/>
          <p:nvPr/>
        </p:nvSpPr>
        <p:spPr>
          <a:xfrm>
            <a:off x="1097280" y="4608576"/>
            <a:ext cx="5760720" cy="1188720"/>
          </a:xfrm>
          <a:prstGeom prst="rect">
            <a:avLst/>
          </a:prstGeom>
          <a:noFill/>
          <a:ln/>
        </p:spPr>
        <p:txBody>
          <a:bodyPr wrap="square" lIns="0" tIns="0" rIns="0" bIns="0" rtlCol="0" anchor="ctr"/>
          <a:lstStyle/>
          <a:p>
            <a:pPr indent="0" marL="0">
              <a:lnSpc>
                <a:spcPct val="125000"/>
              </a:lnSpc>
              <a:buNone/>
            </a:pPr>
            <a:r>
              <a:rPr lang="en-US" sz="1500" dirty="0">
                <a:solidFill>
                  <a:srgbClr val="1A1F26"/>
                </a:solidFill>
                <a:latin typeface="Calibri" pitchFamily="34" charset="0"/>
                <a:ea typeface="Calibri" pitchFamily="34" charset="-122"/>
                <a:cs typeface="Calibri" pitchFamily="34" charset="-120"/>
              </a:rPr>
              <a:t>A wrong “safe” costs a life. A wrong “wait” costs a few seconds.</a:t>
            </a:r>
            <a:endParaRPr lang="en-US" sz="1500" dirty="0"/>
          </a:p>
        </p:txBody>
      </p:sp>
      <p:sp>
        <p:nvSpPr>
          <p:cNvPr id="11" name="Shape 9"/>
          <p:cNvSpPr/>
          <p:nvPr/>
        </p:nvSpPr>
        <p:spPr>
          <a:xfrm>
            <a:off x="7406640" y="1554480"/>
            <a:ext cx="4236415" cy="4572000"/>
          </a:xfrm>
          <a:prstGeom prst="roundRect">
            <a:avLst>
              <a:gd name="adj" fmla="val 1295"/>
            </a:avLst>
          </a:prstGeom>
          <a:solidFill>
            <a:srgbClr val="1A1F26"/>
          </a:solidFill>
          <a:ln/>
        </p:spPr>
      </p:sp>
      <p:sp>
        <p:nvSpPr>
          <p:cNvPr id="12" name="Text 10"/>
          <p:cNvSpPr txBox="1"/>
          <p:nvPr/>
        </p:nvSpPr>
        <p:spPr>
          <a:xfrm>
            <a:off x="7680960" y="1783080"/>
            <a:ext cx="3383280" cy="365760"/>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What we're building</a:t>
            </a:r>
            <a:endParaRPr lang="en-US" sz="1300" dirty="0"/>
          </a:p>
        </p:txBody>
      </p:sp>
      <p:sp>
        <p:nvSpPr>
          <p:cNvPr id="13" name="Text 11"/>
          <p:cNvSpPr txBox="1"/>
          <p:nvPr/>
        </p:nvSpPr>
        <p:spPr>
          <a:xfrm>
            <a:off x="7680960" y="2240280"/>
            <a:ext cx="3383280" cy="3657600"/>
          </a:xfrm>
          <a:prstGeom prst="rect">
            <a:avLst/>
          </a:prstGeom>
          <a:noFill/>
          <a:ln/>
        </p:spPr>
        <p:txBody>
          <a:bodyPr wrap="square" lIns="0" tIns="0" rIns="0" bIns="0" rtlCol="0" anchor="ctr"/>
          <a:lstStyle/>
          <a:p>
            <a:pPr indent="0" marL="0">
              <a:lnSpc>
                <a:spcPct val="120000"/>
              </a:lnSpc>
              <a:buNone/>
            </a:pPr>
            <a:r>
              <a:rPr lang="en-US" sz="1300" dirty="0">
                <a:solidFill>
                  <a:srgbClr val="C9D0D8"/>
                </a:solidFill>
                <a:latin typeface="Calibri" pitchFamily="34" charset="0"/>
                <a:ea typeface="Calibri" pitchFamily="34" charset="-122"/>
                <a:cs typeface="Calibri" pitchFamily="34" charset="-120"/>
              </a:rPr>
              <a:t>A camera at the kerb watches a signalised crossing.
</a:t>
            </a:r>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Vision pipeline</a:t>
            </a:r>
            <a:pPr indent="0" marL="0">
              <a:lnSpc>
                <a:spcPct val="120000"/>
              </a:lnSpc>
              <a:buNone/>
            </a:pPr>
            <a:r>
              <a:rPr lang="en-US" sz="1300" dirty="0">
                <a:solidFill>
                  <a:srgbClr val="C9D0D8"/>
                </a:solidFill>
                <a:latin typeface="Calibri" pitchFamily="34" charset="0"/>
                <a:ea typeface="Calibri" pitchFamily="34" charset="-122"/>
                <a:cs typeface="Calibri" pitchFamily="34" charset="-120"/>
              </a:rPr>
              <a:t> detects vehicles, pedestrians, crosswalks and signals.
</a:t>
            </a:r>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Spoken guidance</a:t>
            </a:r>
            <a:pPr indent="0" marL="0">
              <a:lnSpc>
                <a:spcPct val="120000"/>
              </a:lnSpc>
              <a:buNone/>
            </a:pPr>
            <a:r>
              <a:rPr lang="en-US" sz="1300" dirty="0">
                <a:solidFill>
                  <a:srgbClr val="C9D0D8"/>
                </a:solidFill>
                <a:latin typeface="Calibri" pitchFamily="34" charset="0"/>
                <a:ea typeface="Calibri" pitchFamily="34" charset="-122"/>
                <a:cs typeface="Calibri" pitchFamily="34" charset="-120"/>
              </a:rPr>
              <a:t> tells the user when it is genuinely safe to cross.
</a:t>
            </a:r>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Runs on a PC</a:t>
            </a:r>
            <a:pPr indent="0" marL="0">
              <a:lnSpc>
                <a:spcPct val="120000"/>
              </a:lnSpc>
              <a:buNone/>
            </a:pPr>
            <a:r>
              <a:rPr lang="en-US" sz="1300" dirty="0">
                <a:solidFill>
                  <a:srgbClr val="C9D0D8"/>
                </a:solidFill>
                <a:latin typeface="Calibri" pitchFamily="34" charset="0"/>
                <a:ea typeface="Calibri" pitchFamily="34" charset="-122"/>
                <a:cs typeface="Calibri" pitchFamily="34" charset="-120"/>
              </a:rPr>
              <a:t>, CPU inference — no phone, no embedded hardware.</a:t>
            </a:r>
            <a:endParaRPr lang="en-US" sz="1300" dirty="0"/>
          </a:p>
        </p:txBody>
      </p:sp>
      <p:sp>
        <p:nvSpPr>
          <p:cNvPr id="14" name="Text 12"/>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Introduction</a:t>
            </a:r>
            <a:endParaRPr lang="en-US" sz="1000" dirty="0"/>
          </a:p>
        </p:txBody>
      </p:sp>
      <p:sp>
        <p:nvSpPr>
          <p:cNvPr id="15" name="Text 1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2 / 17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INTRODUCTION</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The governing design rule</a:t>
            </a:r>
            <a:endParaRPr lang="en-US" sz="3000" dirty="0"/>
          </a:p>
        </p:txBody>
      </p:sp>
      <p:sp>
        <p:nvSpPr>
          <p:cNvPr id="4" name="Text 2"/>
          <p:cNvSpPr txBox="1"/>
          <p:nvPr/>
        </p:nvSpPr>
        <p:spPr>
          <a:xfrm>
            <a:off x="548640" y="1508760"/>
            <a:ext cx="11094415" cy="548640"/>
          </a:xfrm>
          <a:prstGeom prst="rect">
            <a:avLst/>
          </a:prstGeom>
          <a:noFill/>
          <a:ln/>
        </p:spPr>
        <p:txBody>
          <a:bodyPr wrap="square" lIns="0" tIns="0" rIns="0" bIns="0" rtlCol="0" anchor="ctr"/>
          <a:lstStyle/>
          <a:p>
            <a:pPr indent="0" marL="0">
              <a:lnSpc>
                <a:spcPct val="120000"/>
              </a:lnSpc>
              <a:buNone/>
            </a:pPr>
            <a:r>
              <a:rPr lang="en-US" sz="1400" dirty="0">
                <a:solidFill>
                  <a:srgbClr val="4A5560"/>
                </a:solidFill>
                <a:latin typeface="Calibri" pitchFamily="34" charset="0"/>
                <a:ea typeface="Calibri" pitchFamily="34" charset="-122"/>
                <a:cs typeface="Calibri" pitchFamily="34" charset="-120"/>
              </a:rPr>
              <a:t>Every decision in this system — thresholds, hysteresis, confidence gates, even how frame-skipping is implemented — follows from one asymmetry.</a:t>
            </a:r>
            <a:endParaRPr lang="en-US" sz="1400" dirty="0"/>
          </a:p>
        </p:txBody>
      </p:sp>
      <p:sp>
        <p:nvSpPr>
          <p:cNvPr id="5" name="Shape 3"/>
          <p:cNvSpPr/>
          <p:nvPr/>
        </p:nvSpPr>
        <p:spPr>
          <a:xfrm>
            <a:off x="548640" y="2331720"/>
            <a:ext cx="5212080" cy="3566160"/>
          </a:xfrm>
          <a:prstGeom prst="roundRect">
            <a:avLst>
              <a:gd name="adj" fmla="val 1538"/>
            </a:avLst>
          </a:prstGeom>
          <a:solidFill>
            <a:srgbClr val="F3F4F6"/>
          </a:solidFill>
          <a:ln/>
        </p:spPr>
      </p:sp>
      <p:sp>
        <p:nvSpPr>
          <p:cNvPr id="6" name="Text 4"/>
          <p:cNvSpPr txBox="1"/>
          <p:nvPr/>
        </p:nvSpPr>
        <p:spPr>
          <a:xfrm>
            <a:off x="868680" y="2606040"/>
            <a:ext cx="4572000" cy="411480"/>
          </a:xfrm>
          <a:prstGeom prst="rect">
            <a:avLst/>
          </a:prstGeom>
          <a:noFill/>
          <a:ln/>
        </p:spPr>
        <p:txBody>
          <a:bodyPr wrap="square" lIns="0" tIns="0" rIns="0" bIns="0" rtlCol="0" anchor="ctr"/>
          <a:lstStyle/>
          <a:p>
            <a:pPr indent="0" marL="0">
              <a:buNone/>
            </a:pPr>
            <a:r>
              <a:rPr lang="en-US" sz="2000" b="1" dirty="0">
                <a:solidFill>
                  <a:srgbClr val="4A5560"/>
                </a:solidFill>
                <a:latin typeface="Cambria" pitchFamily="34" charset="0"/>
                <a:ea typeface="Cambria" pitchFamily="34" charset="-122"/>
                <a:cs typeface="Cambria" pitchFamily="34" charset="-120"/>
              </a:rPr>
              <a:t>FALSE “WAIT”</a:t>
            </a:r>
            <a:endParaRPr lang="en-US" sz="2000" dirty="0"/>
          </a:p>
        </p:txBody>
      </p:sp>
      <p:sp>
        <p:nvSpPr>
          <p:cNvPr id="7" name="Text 5"/>
          <p:cNvSpPr txBox="1"/>
          <p:nvPr/>
        </p:nvSpPr>
        <p:spPr>
          <a:xfrm>
            <a:off x="868680" y="3044952"/>
            <a:ext cx="4572000" cy="320040"/>
          </a:xfrm>
          <a:prstGeom prst="rect">
            <a:avLst/>
          </a:prstGeom>
          <a:noFill/>
          <a:ln/>
        </p:spPr>
        <p:txBody>
          <a:bodyPr wrap="square" lIns="0" tIns="0" rIns="0" bIns="0" rtlCol="0" anchor="ctr"/>
          <a:lstStyle/>
          <a:p>
            <a:pPr indent="0" marL="0">
              <a:buNone/>
            </a:pPr>
            <a:r>
              <a:rPr lang="en-US" sz="1300" i="1" dirty="0">
                <a:solidFill>
                  <a:srgbClr val="4A5560"/>
                </a:solidFill>
                <a:latin typeface="Calibri" pitchFamily="34" charset="0"/>
                <a:ea typeface="Calibri" pitchFamily="34" charset="-122"/>
                <a:cs typeface="Calibri" pitchFamily="34" charset="-120"/>
              </a:rPr>
              <a:t>Merely inconvenient</a:t>
            </a:r>
            <a:endParaRPr lang="en-US" sz="1300" dirty="0"/>
          </a:p>
        </p:txBody>
      </p:sp>
      <p:sp>
        <p:nvSpPr>
          <p:cNvPr id="8" name="Text 6"/>
          <p:cNvSpPr txBox="1"/>
          <p:nvPr/>
        </p:nvSpPr>
        <p:spPr>
          <a:xfrm>
            <a:off x="868680" y="3520440"/>
            <a:ext cx="4572000" cy="2011680"/>
          </a:xfrm>
          <a:prstGeom prst="rect">
            <a:avLst/>
          </a:prstGeom>
          <a:noFill/>
          <a:ln/>
        </p:spPr>
        <p:txBody>
          <a:bodyPr wrap="square" lIns="0" tIns="0" rIns="0" bIns="0" rtlCol="0" anchor="ctr"/>
          <a:lstStyle/>
          <a:p>
            <a:pPr indent="0" marL="0">
              <a:lnSpc>
                <a:spcPct val="130000"/>
              </a:lnSpc>
              <a:buNone/>
            </a:pPr>
            <a:r>
              <a:rPr lang="en-US" sz="1400" dirty="0">
                <a:solidFill>
                  <a:srgbClr val="1A1F26"/>
                </a:solidFill>
                <a:latin typeface="Calibri" pitchFamily="34" charset="0"/>
                <a:ea typeface="Calibri" pitchFamily="34" charset="-122"/>
                <a:cs typeface="Calibri" pitchFamily="34" charset="-120"/>
              </a:rPr>
              <a:t>The system tells the user to wait when the road was actually clear. The user waits a few extra seconds. Nothing worse happens.</a:t>
            </a:r>
            <a:endParaRPr lang="en-US" sz="1400" dirty="0"/>
          </a:p>
        </p:txBody>
      </p:sp>
      <p:sp>
        <p:nvSpPr>
          <p:cNvPr id="9" name="Shape 7"/>
          <p:cNvSpPr/>
          <p:nvPr/>
        </p:nvSpPr>
        <p:spPr>
          <a:xfrm>
            <a:off x="6217920" y="2331720"/>
            <a:ext cx="5212080" cy="3566160"/>
          </a:xfrm>
          <a:prstGeom prst="roundRect">
            <a:avLst>
              <a:gd name="adj" fmla="val 1538"/>
            </a:avLst>
          </a:prstGeom>
          <a:solidFill>
            <a:srgbClr val="C0362C"/>
          </a:solidFill>
          <a:ln/>
          <a:effectLst>
            <a:outerShdw sx="100000" sy="100000" kx="0" ky="0" algn="bl" rotWithShape="0" blurRad="76200" dist="25400" dir="5400000">
              <a:srgbClr val="8A94A0">
                <a:alpha val="30000"/>
              </a:srgbClr>
            </a:outerShdw>
          </a:effectLst>
        </p:spPr>
      </p:sp>
      <p:sp>
        <p:nvSpPr>
          <p:cNvPr id="10" name="Text 8"/>
          <p:cNvSpPr txBox="1"/>
          <p:nvPr/>
        </p:nvSpPr>
        <p:spPr>
          <a:xfrm>
            <a:off x="6537960" y="2606040"/>
            <a:ext cx="457200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FALSE “SAFE”</a:t>
            </a:r>
            <a:endParaRPr lang="en-US" sz="2000" dirty="0"/>
          </a:p>
        </p:txBody>
      </p:sp>
      <p:sp>
        <p:nvSpPr>
          <p:cNvPr id="11" name="Text 9"/>
          <p:cNvSpPr txBox="1"/>
          <p:nvPr/>
        </p:nvSpPr>
        <p:spPr>
          <a:xfrm>
            <a:off x="6537960" y="3044952"/>
            <a:ext cx="4572000" cy="320040"/>
          </a:xfrm>
          <a:prstGeom prst="rect">
            <a:avLst/>
          </a:prstGeom>
          <a:noFill/>
          <a:ln/>
        </p:spPr>
        <p:txBody>
          <a:bodyPr wrap="square" lIns="0" tIns="0" rIns="0" bIns="0" rtlCol="0" anchor="ctr"/>
          <a:lstStyle/>
          <a:p>
            <a:pPr indent="0" marL="0">
              <a:buNone/>
            </a:pPr>
            <a:r>
              <a:rPr lang="en-US" sz="1300" i="1" dirty="0">
                <a:solidFill>
                  <a:srgbClr val="FCE3E0"/>
                </a:solidFill>
                <a:latin typeface="Calibri" pitchFamily="34" charset="0"/>
                <a:ea typeface="Calibri" pitchFamily="34" charset="-122"/>
                <a:cs typeface="Calibri" pitchFamily="34" charset="-120"/>
              </a:rPr>
              <a:t>The only unacceptable failure mode</a:t>
            </a:r>
            <a:endParaRPr lang="en-US" sz="1300" dirty="0"/>
          </a:p>
        </p:txBody>
      </p:sp>
      <p:sp>
        <p:nvSpPr>
          <p:cNvPr id="12" name="Text 10"/>
          <p:cNvSpPr txBox="1"/>
          <p:nvPr/>
        </p:nvSpPr>
        <p:spPr>
          <a:xfrm>
            <a:off x="6537960" y="3520440"/>
            <a:ext cx="4572000" cy="201168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The system tells the user to cross when a vehicle is actually approaching. This can kill someone. It is the one outcome the entire design optimises against.</a:t>
            </a:r>
            <a:endParaRPr lang="en-US" sz="1400" dirty="0"/>
          </a:p>
        </p:txBody>
      </p:sp>
      <p:sp>
        <p:nvSpPr>
          <p:cNvPr id="13" name="Text 11"/>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Introduction</a:t>
            </a:r>
            <a:endParaRPr lang="en-US" sz="1000" dirty="0"/>
          </a:p>
        </p:txBody>
      </p:sp>
      <p:sp>
        <p:nvSpPr>
          <p:cNvPr id="14" name="Text 1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3 / 17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LITERATURE REVIEW</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What the pieces look like in prior work</a:t>
            </a:r>
            <a:endParaRPr lang="en-US" sz="3000" dirty="0"/>
          </a:p>
        </p:txBody>
      </p:sp>
      <p:sp>
        <p:nvSpPr>
          <p:cNvPr id="4" name="Text 2"/>
          <p:cNvSpPr txBox="1"/>
          <p:nvPr/>
        </p:nvSpPr>
        <p:spPr>
          <a:xfrm>
            <a:off x="548640" y="1508760"/>
            <a:ext cx="2011680" cy="32004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Area</a:t>
            </a:r>
            <a:endParaRPr lang="en-US" sz="1200" dirty="0"/>
          </a:p>
        </p:txBody>
      </p:sp>
      <p:sp>
        <p:nvSpPr>
          <p:cNvPr id="5" name="Text 3"/>
          <p:cNvSpPr txBox="1"/>
          <p:nvPr/>
        </p:nvSpPr>
        <p:spPr>
          <a:xfrm>
            <a:off x="2651760" y="1508760"/>
            <a:ext cx="2926080" cy="32004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Key work</a:t>
            </a:r>
            <a:endParaRPr lang="en-US" sz="1200" dirty="0"/>
          </a:p>
        </p:txBody>
      </p:sp>
      <p:sp>
        <p:nvSpPr>
          <p:cNvPr id="6" name="Text 4"/>
          <p:cNvSpPr txBox="1"/>
          <p:nvPr/>
        </p:nvSpPr>
        <p:spPr>
          <a:xfrm>
            <a:off x="5669280" y="1508760"/>
            <a:ext cx="3657600" cy="32004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Relevance to us</a:t>
            </a:r>
            <a:endParaRPr lang="en-US" sz="1200" dirty="0"/>
          </a:p>
        </p:txBody>
      </p:sp>
      <p:sp>
        <p:nvSpPr>
          <p:cNvPr id="7" name="Shape 5"/>
          <p:cNvSpPr/>
          <p:nvPr/>
        </p:nvSpPr>
        <p:spPr>
          <a:xfrm>
            <a:off x="548640" y="1856232"/>
            <a:ext cx="11094415" cy="0"/>
          </a:xfrm>
          <a:prstGeom prst="line">
            <a:avLst/>
          </a:prstGeom>
          <a:noFill/>
          <a:ln w="12700">
            <a:solidFill>
              <a:srgbClr val="DDE1E6"/>
            </a:solidFill>
            <a:prstDash val="solid"/>
          </a:ln>
        </p:spPr>
      </p:sp>
      <p:sp>
        <p:nvSpPr>
          <p:cNvPr id="8" name="Text 6"/>
          <p:cNvSpPr txBox="1"/>
          <p:nvPr/>
        </p:nvSpPr>
        <p:spPr>
          <a:xfrm>
            <a:off x="548640" y="2011680"/>
            <a:ext cx="2011680" cy="566928"/>
          </a:xfrm>
          <a:prstGeom prst="rect">
            <a:avLst/>
          </a:prstGeom>
          <a:noFill/>
          <a:ln/>
        </p:spPr>
        <p:txBody>
          <a:bodyPr wrap="square" lIns="0" tIns="0" rIns="0" bIns="0" rtlCol="0" anchor="t"/>
          <a:lstStyle/>
          <a:p>
            <a:pPr indent="0" marL="0">
              <a:buNone/>
            </a:pPr>
            <a:r>
              <a:rPr lang="en-US" sz="1250" b="1" dirty="0">
                <a:solidFill>
                  <a:srgbClr val="1A1F26"/>
                </a:solidFill>
                <a:latin typeface="Calibri" pitchFamily="34" charset="0"/>
                <a:ea typeface="Calibri" pitchFamily="34" charset="-122"/>
                <a:cs typeface="Calibri" pitchFamily="34" charset="-120"/>
              </a:rPr>
              <a:t>Object detection</a:t>
            </a:r>
            <a:endParaRPr lang="en-US" sz="1250" dirty="0"/>
          </a:p>
        </p:txBody>
      </p:sp>
      <p:sp>
        <p:nvSpPr>
          <p:cNvPr id="9" name="Text 7"/>
          <p:cNvSpPr txBox="1"/>
          <p:nvPr/>
        </p:nvSpPr>
        <p:spPr>
          <a:xfrm>
            <a:off x="2651760" y="2011680"/>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1A1F26"/>
                </a:solidFill>
                <a:latin typeface="Calibri" pitchFamily="34" charset="0"/>
                <a:ea typeface="Calibri" pitchFamily="34" charset="-122"/>
                <a:cs typeface="Calibri" pitchFamily="34" charset="-120"/>
              </a:rPr>
              <a:t>YOLO family (YOLOv1–v8, Redmon et al.; Ultralytics)</a:t>
            </a:r>
            <a:endParaRPr lang="en-US" sz="1150" dirty="0"/>
          </a:p>
        </p:txBody>
      </p:sp>
      <p:sp>
        <p:nvSpPr>
          <p:cNvPr id="10" name="Text 8"/>
          <p:cNvSpPr txBox="1"/>
          <p:nvPr/>
        </p:nvSpPr>
        <p:spPr>
          <a:xfrm>
            <a:off x="5669280" y="2011680"/>
            <a:ext cx="3657600" cy="566928"/>
          </a:xfrm>
          <a:prstGeom prst="rect">
            <a:avLst/>
          </a:prstGeom>
          <a:noFill/>
          <a:ln/>
        </p:spPr>
        <p:txBody>
          <a:bodyPr wrap="square" lIns="0" tIns="0" rIns="0" bIns="0" rtlCol="0" anchor="t"/>
          <a:lstStyle/>
          <a:p>
            <a:pPr indent="0" marL="0">
              <a:lnSpc>
                <a:spcPct val="110000"/>
              </a:lnSpc>
              <a:buNone/>
            </a:pPr>
            <a:r>
              <a:rPr lang="en-US" sz="1150" dirty="0">
                <a:solidFill>
                  <a:srgbClr val="4A5560"/>
                </a:solidFill>
                <a:latin typeface="Calibri" pitchFamily="34" charset="0"/>
                <a:ea typeface="Calibri" pitchFamily="34" charset="-122"/>
                <a:cs typeface="Calibri" pitchFamily="34" charset="-120"/>
              </a:rPr>
              <a:t>Real-time single-shot detection — the backbone of our detector</a:t>
            </a:r>
            <a:endParaRPr lang="en-US" sz="1150" dirty="0"/>
          </a:p>
        </p:txBody>
      </p:sp>
      <p:sp>
        <p:nvSpPr>
          <p:cNvPr id="11" name="Text 9"/>
          <p:cNvSpPr txBox="1"/>
          <p:nvPr/>
        </p:nvSpPr>
        <p:spPr>
          <a:xfrm>
            <a:off x="548640" y="2651760"/>
            <a:ext cx="2011680" cy="566928"/>
          </a:xfrm>
          <a:prstGeom prst="rect">
            <a:avLst/>
          </a:prstGeom>
          <a:noFill/>
          <a:ln/>
        </p:spPr>
        <p:txBody>
          <a:bodyPr wrap="square" lIns="0" tIns="0" rIns="0" bIns="0" rtlCol="0" anchor="t"/>
          <a:lstStyle/>
          <a:p>
            <a:pPr indent="0" marL="0">
              <a:buNone/>
            </a:pPr>
            <a:r>
              <a:rPr lang="en-US" sz="1250" b="1" dirty="0">
                <a:solidFill>
                  <a:srgbClr val="1A1F26"/>
                </a:solidFill>
                <a:latin typeface="Calibri" pitchFamily="34" charset="0"/>
                <a:ea typeface="Calibri" pitchFamily="34" charset="-122"/>
                <a:cs typeface="Calibri" pitchFamily="34" charset="-120"/>
              </a:rPr>
              <a:t>Multi-object tracking</a:t>
            </a:r>
            <a:endParaRPr lang="en-US" sz="1250" dirty="0"/>
          </a:p>
        </p:txBody>
      </p:sp>
      <p:sp>
        <p:nvSpPr>
          <p:cNvPr id="12" name="Text 10"/>
          <p:cNvSpPr txBox="1"/>
          <p:nvPr/>
        </p:nvSpPr>
        <p:spPr>
          <a:xfrm>
            <a:off x="2651760" y="2651760"/>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1A1F26"/>
                </a:solidFill>
                <a:latin typeface="Calibri" pitchFamily="34" charset="0"/>
                <a:ea typeface="Calibri" pitchFamily="34" charset="-122"/>
                <a:cs typeface="Calibri" pitchFamily="34" charset="-120"/>
              </a:rPr>
              <a:t>ByteTrack (Zhang et al., 2022)</a:t>
            </a:r>
            <a:endParaRPr lang="en-US" sz="1150" dirty="0"/>
          </a:p>
        </p:txBody>
      </p:sp>
      <p:sp>
        <p:nvSpPr>
          <p:cNvPr id="13" name="Text 11"/>
          <p:cNvSpPr txBox="1"/>
          <p:nvPr/>
        </p:nvSpPr>
        <p:spPr>
          <a:xfrm>
            <a:off x="5669280" y="2651760"/>
            <a:ext cx="3657600" cy="566928"/>
          </a:xfrm>
          <a:prstGeom prst="rect">
            <a:avLst/>
          </a:prstGeom>
          <a:noFill/>
          <a:ln/>
        </p:spPr>
        <p:txBody>
          <a:bodyPr wrap="square" lIns="0" tIns="0" rIns="0" bIns="0" rtlCol="0" anchor="t"/>
          <a:lstStyle/>
          <a:p>
            <a:pPr indent="0" marL="0">
              <a:lnSpc>
                <a:spcPct val="110000"/>
              </a:lnSpc>
              <a:buNone/>
            </a:pPr>
            <a:r>
              <a:rPr lang="en-US" sz="1150" dirty="0">
                <a:solidFill>
                  <a:srgbClr val="4A5560"/>
                </a:solidFill>
                <a:latin typeface="Calibri" pitchFamily="34" charset="0"/>
                <a:ea typeface="Calibri" pitchFamily="34" charset="-122"/>
                <a:cs typeface="Calibri" pitchFamily="34" charset="-120"/>
              </a:rPr>
              <a:t>Associates detections across frames using low-confidence boxes too, not just high-confidence ones</a:t>
            </a:r>
            <a:endParaRPr lang="en-US" sz="1150" dirty="0"/>
          </a:p>
        </p:txBody>
      </p:sp>
      <p:sp>
        <p:nvSpPr>
          <p:cNvPr id="14" name="Text 12"/>
          <p:cNvSpPr txBox="1"/>
          <p:nvPr/>
        </p:nvSpPr>
        <p:spPr>
          <a:xfrm>
            <a:off x="548640" y="3291840"/>
            <a:ext cx="2011680" cy="640080"/>
          </a:xfrm>
          <a:prstGeom prst="rect">
            <a:avLst/>
          </a:prstGeom>
          <a:noFill/>
          <a:ln/>
        </p:spPr>
        <p:txBody>
          <a:bodyPr wrap="square" lIns="0" tIns="0" rIns="0" bIns="0" rtlCol="0" anchor="t"/>
          <a:lstStyle/>
          <a:p>
            <a:pPr indent="0" marL="0">
              <a:buNone/>
            </a:pPr>
            <a:r>
              <a:rPr lang="en-US" sz="1250" b="1" dirty="0">
                <a:solidFill>
                  <a:srgbClr val="1A1F26"/>
                </a:solidFill>
                <a:latin typeface="Calibri" pitchFamily="34" charset="0"/>
                <a:ea typeface="Calibri" pitchFamily="34" charset="-122"/>
                <a:cs typeface="Calibri" pitchFamily="34" charset="-120"/>
              </a:rPr>
              <a:t>Benchmarks</a:t>
            </a:r>
            <a:endParaRPr lang="en-US" sz="1250" dirty="0"/>
          </a:p>
        </p:txBody>
      </p:sp>
      <p:sp>
        <p:nvSpPr>
          <p:cNvPr id="15" name="Text 13"/>
          <p:cNvSpPr txBox="1"/>
          <p:nvPr/>
        </p:nvSpPr>
        <p:spPr>
          <a:xfrm>
            <a:off x="2651760" y="3291840"/>
            <a:ext cx="2926080" cy="640080"/>
          </a:xfrm>
          <a:prstGeom prst="rect">
            <a:avLst/>
          </a:prstGeom>
          <a:noFill/>
          <a:ln/>
        </p:spPr>
        <p:txBody>
          <a:bodyPr wrap="square" lIns="0" tIns="0" rIns="0" bIns="0" rtlCol="0" anchor="t"/>
          <a:lstStyle/>
          <a:p>
            <a:pPr indent="0" marL="0">
              <a:lnSpc>
                <a:spcPct val="110000"/>
              </a:lnSpc>
              <a:buNone/>
            </a:pPr>
            <a:r>
              <a:rPr lang="en-US" sz="1150" dirty="0">
                <a:solidFill>
                  <a:srgbClr val="1A1F26"/>
                </a:solidFill>
                <a:latin typeface="Calibri" pitchFamily="34" charset="0"/>
                <a:ea typeface="Calibri" pitchFamily="34" charset="-122"/>
                <a:cs typeface="Calibri" pitchFamily="34" charset="-120"/>
              </a:rPr>
              <a:t>COCO (Lin et al., 2014), Cityscapes (Cordts et al., 2016)</a:t>
            </a:r>
            <a:endParaRPr lang="en-US" sz="1150" dirty="0"/>
          </a:p>
        </p:txBody>
      </p:sp>
      <p:sp>
        <p:nvSpPr>
          <p:cNvPr id="16" name="Text 14"/>
          <p:cNvSpPr txBox="1"/>
          <p:nvPr/>
        </p:nvSpPr>
        <p:spPr>
          <a:xfrm>
            <a:off x="5669280" y="3291840"/>
            <a:ext cx="3657600" cy="640080"/>
          </a:xfrm>
          <a:prstGeom prst="rect">
            <a:avLst/>
          </a:prstGeom>
          <a:noFill/>
          <a:ln/>
        </p:spPr>
        <p:txBody>
          <a:bodyPr wrap="square" lIns="0" tIns="0" rIns="0" bIns="0" rtlCol="0" anchor="t"/>
          <a:lstStyle/>
          <a:p>
            <a:pPr indent="0" marL="0">
              <a:lnSpc>
                <a:spcPct val="110000"/>
              </a:lnSpc>
              <a:buNone/>
            </a:pPr>
            <a:r>
              <a:rPr lang="en-US" sz="1150" dirty="0">
                <a:solidFill>
                  <a:srgbClr val="4A5560"/>
                </a:solidFill>
                <a:latin typeface="Calibri" pitchFamily="34" charset="0"/>
                <a:ea typeface="Calibri" pitchFamily="34" charset="-122"/>
                <a:cs typeface="Calibri" pitchFamily="34" charset="-120"/>
              </a:rPr>
              <a:t>Standard detection/segmentation benchmarks; general-scene, not crossing-specific</a:t>
            </a:r>
            <a:endParaRPr lang="en-US" sz="1150" dirty="0"/>
          </a:p>
        </p:txBody>
      </p:sp>
      <p:sp>
        <p:nvSpPr>
          <p:cNvPr id="17" name="Text 15"/>
          <p:cNvSpPr txBox="1"/>
          <p:nvPr/>
        </p:nvSpPr>
        <p:spPr>
          <a:xfrm>
            <a:off x="548640" y="4005072"/>
            <a:ext cx="2011680" cy="566928"/>
          </a:xfrm>
          <a:prstGeom prst="rect">
            <a:avLst/>
          </a:prstGeom>
          <a:noFill/>
          <a:ln/>
        </p:spPr>
        <p:txBody>
          <a:bodyPr wrap="square" lIns="0" tIns="0" rIns="0" bIns="0" rtlCol="0" anchor="t"/>
          <a:lstStyle/>
          <a:p>
            <a:pPr indent="0" marL="0">
              <a:buNone/>
            </a:pPr>
            <a:r>
              <a:rPr lang="en-US" sz="1250" b="1" dirty="0">
                <a:solidFill>
                  <a:srgbClr val="1A1F26"/>
                </a:solidFill>
                <a:latin typeface="Calibri" pitchFamily="34" charset="0"/>
                <a:ea typeface="Calibri" pitchFamily="34" charset="-122"/>
                <a:cs typeface="Calibri" pitchFamily="34" charset="-120"/>
              </a:rPr>
              <a:t>Indian road datasets</a:t>
            </a:r>
            <a:endParaRPr lang="en-US" sz="1250" dirty="0"/>
          </a:p>
        </p:txBody>
      </p:sp>
      <p:sp>
        <p:nvSpPr>
          <p:cNvPr id="18" name="Text 16"/>
          <p:cNvSpPr txBox="1"/>
          <p:nvPr/>
        </p:nvSpPr>
        <p:spPr>
          <a:xfrm>
            <a:off x="2651760" y="4005072"/>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1A1F26"/>
                </a:solidFill>
                <a:latin typeface="Calibri" pitchFamily="34" charset="0"/>
                <a:ea typeface="Calibri" pitchFamily="34" charset="-122"/>
                <a:cs typeface="Calibri" pitchFamily="34" charset="-120"/>
              </a:rPr>
              <a:t>IDD (Varma et al., 2019)</a:t>
            </a:r>
            <a:endParaRPr lang="en-US" sz="1150" dirty="0"/>
          </a:p>
        </p:txBody>
      </p:sp>
      <p:sp>
        <p:nvSpPr>
          <p:cNvPr id="19" name="Text 17"/>
          <p:cNvSpPr txBox="1"/>
          <p:nvPr/>
        </p:nvSpPr>
        <p:spPr>
          <a:xfrm>
            <a:off x="5669280" y="4005072"/>
            <a:ext cx="3657600" cy="566928"/>
          </a:xfrm>
          <a:prstGeom prst="rect">
            <a:avLst/>
          </a:prstGeom>
          <a:noFill/>
          <a:ln/>
        </p:spPr>
        <p:txBody>
          <a:bodyPr wrap="square" lIns="0" tIns="0" rIns="0" bIns="0" rtlCol="0" anchor="t"/>
          <a:lstStyle/>
          <a:p>
            <a:pPr indent="0" marL="0">
              <a:lnSpc>
                <a:spcPct val="110000"/>
              </a:lnSpc>
              <a:buNone/>
            </a:pPr>
            <a:r>
              <a:rPr lang="en-US" sz="1150" dirty="0">
                <a:solidFill>
                  <a:srgbClr val="4A5560"/>
                </a:solidFill>
                <a:latin typeface="Calibri" pitchFamily="34" charset="0"/>
                <a:ea typeface="Calibri" pitchFamily="34" charset="-122"/>
                <a:cs typeface="Calibri" pitchFamily="34" charset="-120"/>
              </a:rPr>
              <a:t>Driver-viewpoint Indian road scenes; dashcam angle, not pedestrian-kerb angle</a:t>
            </a:r>
            <a:endParaRPr lang="en-US" sz="1150" dirty="0"/>
          </a:p>
        </p:txBody>
      </p:sp>
      <p:sp>
        <p:nvSpPr>
          <p:cNvPr id="20" name="Text 18"/>
          <p:cNvSpPr txBox="1"/>
          <p:nvPr/>
        </p:nvSpPr>
        <p:spPr>
          <a:xfrm>
            <a:off x="548640" y="4645152"/>
            <a:ext cx="2011680" cy="640080"/>
          </a:xfrm>
          <a:prstGeom prst="rect">
            <a:avLst/>
          </a:prstGeom>
          <a:noFill/>
          <a:ln/>
        </p:spPr>
        <p:txBody>
          <a:bodyPr wrap="square" lIns="0" tIns="0" rIns="0" bIns="0" rtlCol="0" anchor="t"/>
          <a:lstStyle/>
          <a:p>
            <a:pPr indent="0" marL="0">
              <a:buNone/>
            </a:pPr>
            <a:r>
              <a:rPr lang="en-US" sz="1250" b="1" dirty="0">
                <a:solidFill>
                  <a:srgbClr val="1A1F26"/>
                </a:solidFill>
                <a:latin typeface="Calibri" pitchFamily="34" charset="0"/>
                <a:ea typeface="Calibri" pitchFamily="34" charset="-122"/>
                <a:cs typeface="Calibri" pitchFamily="34" charset="-120"/>
              </a:rPr>
              <a:t>Monocular TTC</a:t>
            </a:r>
            <a:endParaRPr lang="en-US" sz="1250" dirty="0"/>
          </a:p>
        </p:txBody>
      </p:sp>
      <p:sp>
        <p:nvSpPr>
          <p:cNvPr id="21" name="Text 19"/>
          <p:cNvSpPr txBox="1"/>
          <p:nvPr/>
        </p:nvSpPr>
        <p:spPr>
          <a:xfrm>
            <a:off x="2651760" y="4645152"/>
            <a:ext cx="2926080" cy="640080"/>
          </a:xfrm>
          <a:prstGeom prst="rect">
            <a:avLst/>
          </a:prstGeom>
          <a:noFill/>
          <a:ln/>
        </p:spPr>
        <p:txBody>
          <a:bodyPr wrap="square" lIns="0" tIns="0" rIns="0" bIns="0" rtlCol="0" anchor="t"/>
          <a:lstStyle/>
          <a:p>
            <a:pPr indent="0" marL="0">
              <a:lnSpc>
                <a:spcPct val="110000"/>
              </a:lnSpc>
              <a:buNone/>
            </a:pPr>
            <a:r>
              <a:rPr lang="en-US" sz="1150" dirty="0">
                <a:solidFill>
                  <a:srgbClr val="1A1F26"/>
                </a:solidFill>
                <a:latin typeface="Calibri" pitchFamily="34" charset="0"/>
                <a:ea typeface="Calibri" pitchFamily="34" charset="-122"/>
                <a:cs typeface="Calibri" pitchFamily="34" charset="-120"/>
              </a:rPr>
              <a:t>Classical time-to-contact / optical-expansion literature (Lee, 1976 and successors)</a:t>
            </a:r>
            <a:endParaRPr lang="en-US" sz="1150" dirty="0"/>
          </a:p>
        </p:txBody>
      </p:sp>
      <p:sp>
        <p:nvSpPr>
          <p:cNvPr id="22" name="Text 20"/>
          <p:cNvSpPr txBox="1"/>
          <p:nvPr/>
        </p:nvSpPr>
        <p:spPr>
          <a:xfrm>
            <a:off x="5669280" y="4645152"/>
            <a:ext cx="3657600" cy="640080"/>
          </a:xfrm>
          <a:prstGeom prst="rect">
            <a:avLst/>
          </a:prstGeom>
          <a:noFill/>
          <a:ln/>
        </p:spPr>
        <p:txBody>
          <a:bodyPr wrap="square" lIns="0" tIns="0" rIns="0" bIns="0" rtlCol="0" anchor="t"/>
          <a:lstStyle/>
          <a:p>
            <a:pPr indent="0" marL="0">
              <a:lnSpc>
                <a:spcPct val="110000"/>
              </a:lnSpc>
              <a:buNone/>
            </a:pPr>
            <a:r>
              <a:rPr lang="en-US" sz="1150" b="1" i="1" dirty="0">
                <a:solidFill>
                  <a:srgbClr val="C0362C"/>
                </a:solidFill>
                <a:latin typeface="Calibri" pitchFamily="34" charset="0"/>
                <a:ea typeface="Calibri" pitchFamily="34" charset="-122"/>
                <a:cs typeface="Calibri" pitchFamily="34" charset="-120"/>
              </a:rPr>
              <a:t>[CITATION NEEDED — verify before submission]</a:t>
            </a:r>
            <a:endParaRPr lang="en-US" sz="1150" dirty="0"/>
          </a:p>
        </p:txBody>
      </p:sp>
      <p:sp>
        <p:nvSpPr>
          <p:cNvPr id="23" name="Text 21"/>
          <p:cNvSpPr txBox="1"/>
          <p:nvPr/>
        </p:nvSpPr>
        <p:spPr>
          <a:xfrm>
            <a:off x="548640" y="5358384"/>
            <a:ext cx="2011680" cy="566928"/>
          </a:xfrm>
          <a:prstGeom prst="rect">
            <a:avLst/>
          </a:prstGeom>
          <a:noFill/>
          <a:ln/>
        </p:spPr>
        <p:txBody>
          <a:bodyPr wrap="square" lIns="0" tIns="0" rIns="0" bIns="0" rtlCol="0" anchor="t"/>
          <a:lstStyle/>
          <a:p>
            <a:pPr indent="0" marL="0">
              <a:buNone/>
            </a:pPr>
            <a:r>
              <a:rPr lang="en-US" sz="1250" b="1" dirty="0">
                <a:solidFill>
                  <a:srgbClr val="1A1F26"/>
                </a:solidFill>
                <a:latin typeface="Calibri" pitchFamily="34" charset="0"/>
                <a:ea typeface="Calibri" pitchFamily="34" charset="-122"/>
                <a:cs typeface="Calibri" pitchFamily="34" charset="-120"/>
              </a:rPr>
              <a:t>Pedestrian-signal / crossing assistance</a:t>
            </a:r>
            <a:endParaRPr lang="en-US" sz="1250" dirty="0"/>
          </a:p>
        </p:txBody>
      </p:sp>
      <p:sp>
        <p:nvSpPr>
          <p:cNvPr id="24" name="Text 22"/>
          <p:cNvSpPr txBox="1"/>
          <p:nvPr/>
        </p:nvSpPr>
        <p:spPr>
          <a:xfrm>
            <a:off x="2651760" y="5358384"/>
            <a:ext cx="2926080" cy="566928"/>
          </a:xfrm>
          <a:prstGeom prst="rect">
            <a:avLst/>
          </a:prstGeom>
          <a:noFill/>
          <a:ln/>
        </p:spPr>
        <p:txBody>
          <a:bodyPr wrap="square" lIns="0" tIns="0" rIns="0" bIns="0" rtlCol="0" anchor="t"/>
          <a:lstStyle/>
          <a:p>
            <a:pPr indent="0" marL="0">
              <a:lnSpc>
                <a:spcPct val="110000"/>
              </a:lnSpc>
              <a:buNone/>
            </a:pPr>
            <a:r>
              <a:rPr lang="en-US" sz="1150" b="1" i="1" dirty="0">
                <a:solidFill>
                  <a:srgbClr val="C0362C"/>
                </a:solidFill>
                <a:latin typeface="Calibri" pitchFamily="34" charset="0"/>
                <a:ea typeface="Calibri" pitchFamily="34" charset="-122"/>
                <a:cs typeface="Calibri" pitchFamily="34" charset="-120"/>
              </a:rPr>
              <a:t>[CITATION NEEDED — verify before submission]</a:t>
            </a:r>
            <a:endParaRPr lang="en-US" sz="1150" dirty="0"/>
          </a:p>
        </p:txBody>
      </p:sp>
      <p:sp>
        <p:nvSpPr>
          <p:cNvPr id="25" name="Text 23"/>
          <p:cNvSpPr txBox="1"/>
          <p:nvPr/>
        </p:nvSpPr>
        <p:spPr>
          <a:xfrm>
            <a:off x="5669280" y="5358384"/>
            <a:ext cx="3657600" cy="566928"/>
          </a:xfrm>
          <a:prstGeom prst="rect">
            <a:avLst/>
          </a:prstGeom>
          <a:noFill/>
          <a:ln/>
        </p:spPr>
        <p:txBody>
          <a:bodyPr wrap="square" lIns="0" tIns="0" rIns="0" bIns="0" rtlCol="0" anchor="t"/>
          <a:lstStyle/>
          <a:p>
            <a:pPr indent="0" marL="0">
              <a:lnSpc>
                <a:spcPct val="110000"/>
              </a:lnSpc>
              <a:buNone/>
            </a:pPr>
            <a:r>
              <a:rPr lang="en-US" sz="1150" dirty="0">
                <a:solidFill>
                  <a:srgbClr val="4A5560"/>
                </a:solidFill>
                <a:latin typeface="Calibri" pitchFamily="34" charset="0"/>
                <a:ea typeface="Calibri" pitchFamily="34" charset="-122"/>
                <a:cs typeface="Calibri" pitchFamily="34" charset="-120"/>
              </a:rPr>
              <a:t>Assistive crossing-detection systems for visually impaired users</a:t>
            </a:r>
            <a:endParaRPr lang="en-US" sz="1150" dirty="0"/>
          </a:p>
        </p:txBody>
      </p:sp>
      <p:sp>
        <p:nvSpPr>
          <p:cNvPr id="26" name="Text 24"/>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Literature Review</a:t>
            </a:r>
            <a:endParaRPr lang="en-US" sz="1000" dirty="0"/>
          </a:p>
        </p:txBody>
      </p:sp>
      <p:sp>
        <p:nvSpPr>
          <p:cNvPr id="27" name="Text 2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4 / 17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LITERATURE REVIEW</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What the literature assumes away</a:t>
            </a:r>
            <a:endParaRPr lang="en-US" sz="3000" dirty="0"/>
          </a:p>
        </p:txBody>
      </p:sp>
      <p:sp>
        <p:nvSpPr>
          <p:cNvPr id="4" name="Shape 2"/>
          <p:cNvSpPr/>
          <p:nvPr/>
        </p:nvSpPr>
        <p:spPr>
          <a:xfrm>
            <a:off x="548640" y="1691640"/>
            <a:ext cx="11094415" cy="1325880"/>
          </a:xfrm>
          <a:prstGeom prst="roundRect">
            <a:avLst>
              <a:gd name="adj" fmla="val 4138"/>
            </a:avLst>
          </a:prstGeom>
          <a:solidFill>
            <a:srgbClr val="F3F4F6"/>
          </a:solidFill>
          <a:ln/>
        </p:spPr>
      </p:sp>
      <p:sp>
        <p:nvSpPr>
          <p:cNvPr id="5" name="Shape 3"/>
          <p:cNvSpPr/>
          <p:nvPr/>
        </p:nvSpPr>
        <p:spPr>
          <a:xfrm>
            <a:off x="822960" y="2011680"/>
            <a:ext cx="685800" cy="685800"/>
          </a:xfrm>
          <a:prstGeom prst="roundRect">
            <a:avLst>
              <a:gd name="adj" fmla="val 18667"/>
            </a:avLst>
          </a:prstGeom>
          <a:solidFill>
            <a:srgbClr val="FDECD1"/>
          </a:solidFill>
          <a:ln/>
        </p:spPr>
      </p:sp>
      <p:sp>
        <p:nvSpPr>
          <p:cNvPr id="6" name="Text 4"/>
          <p:cNvSpPr txBox="1"/>
          <p:nvPr/>
        </p:nvSpPr>
        <p:spPr>
          <a:xfrm>
            <a:off x="822960" y="2011680"/>
            <a:ext cx="685800" cy="685800"/>
          </a:xfrm>
          <a:prstGeom prst="rect">
            <a:avLst/>
          </a:prstGeom>
          <a:noFill/>
          <a:ln/>
        </p:spPr>
        <p:txBody>
          <a:bodyPr wrap="square" lIns="0" tIns="0" rIns="0" bIns="0" rtlCol="0" anchor="ctr"/>
          <a:lstStyle/>
          <a:p>
            <a:pPr algn="ctr" indent="0" marL="0">
              <a:buNone/>
            </a:pPr>
            <a:r>
              <a:rPr lang="en-US" sz="2600" b="1" dirty="0">
                <a:solidFill>
                  <a:srgbClr val="D97706"/>
                </a:solidFill>
                <a:latin typeface="Cambria" pitchFamily="34" charset="0"/>
                <a:ea typeface="Cambria" pitchFamily="34" charset="-122"/>
                <a:cs typeface="Cambria" pitchFamily="34" charset="-120"/>
              </a:rPr>
              <a:t>!</a:t>
            </a:r>
            <a:endParaRPr lang="en-US" sz="2600" dirty="0"/>
          </a:p>
        </p:txBody>
      </p:sp>
      <p:sp>
        <p:nvSpPr>
          <p:cNvPr id="7" name="Text 5"/>
          <p:cNvSpPr txBox="1"/>
          <p:nvPr/>
        </p:nvSpPr>
        <p:spPr>
          <a:xfrm>
            <a:off x="1737360" y="1874520"/>
            <a:ext cx="8961120"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Symmetric metrics</a:t>
            </a:r>
            <a:endParaRPr lang="en-US" sz="1500" dirty="0"/>
          </a:p>
        </p:txBody>
      </p:sp>
      <p:sp>
        <p:nvSpPr>
          <p:cNvPr id="8" name="Text 6"/>
          <p:cNvSpPr txBox="1"/>
          <p:nvPr/>
        </p:nvSpPr>
        <p:spPr>
          <a:xfrm>
            <a:off x="1737360" y="2258568"/>
            <a:ext cx="8961120" cy="685800"/>
          </a:xfrm>
          <a:prstGeom prst="rect">
            <a:avLst/>
          </a:prstGeom>
          <a:noFill/>
          <a:ln/>
        </p:spPr>
        <p:txBody>
          <a:bodyPr wrap="square" lIns="0" tIns="0" rIns="0" bIns="0" rtlCol="0" anchor="ctr"/>
          <a:lstStyle/>
          <a:p>
            <a:pPr indent="0" marL="0">
              <a:lnSpc>
                <a:spcPct val="120000"/>
              </a:lnSpc>
              <a:buNone/>
            </a:pPr>
            <a:r>
              <a:rPr lang="en-US" sz="1250" dirty="0">
                <a:solidFill>
                  <a:srgbClr val="4A5560"/>
                </a:solidFill>
                <a:latin typeface="Calibri" pitchFamily="34" charset="0"/>
                <a:ea typeface="Calibri" pitchFamily="34" charset="-122"/>
                <a:cs typeface="Calibri" pitchFamily="34" charset="-120"/>
              </a:rPr>
              <a:t>mAP treats a missed red light and a missed green light as equally costly. For this application they are not remotely equal.</a:t>
            </a:r>
            <a:endParaRPr lang="en-US" sz="1250" dirty="0"/>
          </a:p>
        </p:txBody>
      </p:sp>
      <p:sp>
        <p:nvSpPr>
          <p:cNvPr id="9" name="Shape 7"/>
          <p:cNvSpPr/>
          <p:nvPr/>
        </p:nvSpPr>
        <p:spPr>
          <a:xfrm>
            <a:off x="548640" y="3200400"/>
            <a:ext cx="11094415" cy="1325880"/>
          </a:xfrm>
          <a:prstGeom prst="roundRect">
            <a:avLst>
              <a:gd name="adj" fmla="val 4138"/>
            </a:avLst>
          </a:prstGeom>
          <a:solidFill>
            <a:srgbClr val="F3F4F6"/>
          </a:solidFill>
          <a:ln/>
        </p:spPr>
      </p:sp>
      <p:sp>
        <p:nvSpPr>
          <p:cNvPr id="10" name="Shape 8"/>
          <p:cNvSpPr/>
          <p:nvPr/>
        </p:nvSpPr>
        <p:spPr>
          <a:xfrm>
            <a:off x="822960" y="3520440"/>
            <a:ext cx="685800" cy="685800"/>
          </a:xfrm>
          <a:prstGeom prst="roundRect">
            <a:avLst>
              <a:gd name="adj" fmla="val 18667"/>
            </a:avLst>
          </a:prstGeom>
          <a:solidFill>
            <a:srgbClr val="FDECD1"/>
          </a:solidFill>
          <a:ln/>
        </p:spPr>
      </p:sp>
      <p:sp>
        <p:nvSpPr>
          <p:cNvPr id="11" name="Text 9"/>
          <p:cNvSpPr txBox="1"/>
          <p:nvPr/>
        </p:nvSpPr>
        <p:spPr>
          <a:xfrm>
            <a:off x="822960" y="3520440"/>
            <a:ext cx="685800" cy="685800"/>
          </a:xfrm>
          <a:prstGeom prst="rect">
            <a:avLst/>
          </a:prstGeom>
          <a:noFill/>
          <a:ln/>
        </p:spPr>
        <p:txBody>
          <a:bodyPr wrap="square" lIns="0" tIns="0" rIns="0" bIns="0" rtlCol="0" anchor="ctr"/>
          <a:lstStyle/>
          <a:p>
            <a:pPr algn="ctr" indent="0" marL="0">
              <a:buNone/>
            </a:pPr>
            <a:r>
              <a:rPr lang="en-US" sz="2600" b="1" dirty="0">
                <a:solidFill>
                  <a:srgbClr val="D97706"/>
                </a:solidFill>
                <a:latin typeface="Cambria" pitchFamily="34" charset="0"/>
                <a:ea typeface="Cambria" pitchFamily="34" charset="-122"/>
                <a:cs typeface="Cambria" pitchFamily="34" charset="-120"/>
              </a:rPr>
              <a:t>!</a:t>
            </a:r>
            <a:endParaRPr lang="en-US" sz="2600" dirty="0"/>
          </a:p>
        </p:txBody>
      </p:sp>
      <p:sp>
        <p:nvSpPr>
          <p:cNvPr id="12" name="Text 10"/>
          <p:cNvSpPr txBox="1"/>
          <p:nvPr/>
        </p:nvSpPr>
        <p:spPr>
          <a:xfrm>
            <a:off x="1737360" y="3383280"/>
            <a:ext cx="8961120"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Calibrated depth</a:t>
            </a:r>
            <a:endParaRPr lang="en-US" sz="1500" dirty="0"/>
          </a:p>
        </p:txBody>
      </p:sp>
      <p:sp>
        <p:nvSpPr>
          <p:cNvPr id="13" name="Text 11"/>
          <p:cNvSpPr txBox="1"/>
          <p:nvPr/>
        </p:nvSpPr>
        <p:spPr>
          <a:xfrm>
            <a:off x="1737360" y="3767328"/>
            <a:ext cx="8961120" cy="685800"/>
          </a:xfrm>
          <a:prstGeom prst="rect">
            <a:avLst/>
          </a:prstGeom>
          <a:noFill/>
          <a:ln/>
        </p:spPr>
        <p:txBody>
          <a:bodyPr wrap="square" lIns="0" tIns="0" rIns="0" bIns="0" rtlCol="0" anchor="ctr"/>
          <a:lstStyle/>
          <a:p>
            <a:pPr indent="0" marL="0">
              <a:lnSpc>
                <a:spcPct val="120000"/>
              </a:lnSpc>
              <a:buNone/>
            </a:pPr>
            <a:r>
              <a:rPr lang="en-US" sz="1250" dirty="0">
                <a:solidFill>
                  <a:srgbClr val="4A5560"/>
                </a:solidFill>
                <a:latin typeface="Calibri" pitchFamily="34" charset="0"/>
                <a:ea typeface="Calibri" pitchFamily="34" charset="-122"/>
                <a:cs typeface="Calibri" pitchFamily="34" charset="-120"/>
              </a:rPr>
              <a:t>Monocular TTC / depth work generally assumes a calibrated camera or known object dimensions. A kerb-mounted camera at an arbitrary crossing has neither.</a:t>
            </a:r>
            <a:endParaRPr lang="en-US" sz="1250" dirty="0"/>
          </a:p>
        </p:txBody>
      </p:sp>
      <p:sp>
        <p:nvSpPr>
          <p:cNvPr id="14" name="Shape 12"/>
          <p:cNvSpPr/>
          <p:nvPr/>
        </p:nvSpPr>
        <p:spPr>
          <a:xfrm>
            <a:off x="548640" y="4709160"/>
            <a:ext cx="11094415" cy="1325880"/>
          </a:xfrm>
          <a:prstGeom prst="roundRect">
            <a:avLst>
              <a:gd name="adj" fmla="val 4138"/>
            </a:avLst>
          </a:prstGeom>
          <a:solidFill>
            <a:srgbClr val="F3F4F6"/>
          </a:solidFill>
          <a:ln/>
        </p:spPr>
      </p:sp>
      <p:sp>
        <p:nvSpPr>
          <p:cNvPr id="15" name="Shape 13"/>
          <p:cNvSpPr/>
          <p:nvPr/>
        </p:nvSpPr>
        <p:spPr>
          <a:xfrm>
            <a:off x="822960" y="5029200"/>
            <a:ext cx="685800" cy="685800"/>
          </a:xfrm>
          <a:prstGeom prst="roundRect">
            <a:avLst>
              <a:gd name="adj" fmla="val 18667"/>
            </a:avLst>
          </a:prstGeom>
          <a:solidFill>
            <a:srgbClr val="FDECD1"/>
          </a:solidFill>
          <a:ln/>
        </p:spPr>
      </p:sp>
      <p:sp>
        <p:nvSpPr>
          <p:cNvPr id="16" name="Text 14"/>
          <p:cNvSpPr txBox="1"/>
          <p:nvPr/>
        </p:nvSpPr>
        <p:spPr>
          <a:xfrm>
            <a:off x="822960" y="5029200"/>
            <a:ext cx="685800" cy="685800"/>
          </a:xfrm>
          <a:prstGeom prst="rect">
            <a:avLst/>
          </a:prstGeom>
          <a:noFill/>
          <a:ln/>
        </p:spPr>
        <p:txBody>
          <a:bodyPr wrap="square" lIns="0" tIns="0" rIns="0" bIns="0" rtlCol="0" anchor="ctr"/>
          <a:lstStyle/>
          <a:p>
            <a:pPr algn="ctr" indent="0" marL="0">
              <a:buNone/>
            </a:pPr>
            <a:r>
              <a:rPr lang="en-US" sz="2600" b="1" dirty="0">
                <a:solidFill>
                  <a:srgbClr val="D97706"/>
                </a:solidFill>
                <a:latin typeface="Cambria" pitchFamily="34" charset="0"/>
                <a:ea typeface="Cambria" pitchFamily="34" charset="-122"/>
                <a:cs typeface="Cambria" pitchFamily="34" charset="-120"/>
              </a:rPr>
              <a:t>!</a:t>
            </a:r>
            <a:endParaRPr lang="en-US" sz="2600" dirty="0"/>
          </a:p>
        </p:txBody>
      </p:sp>
      <p:sp>
        <p:nvSpPr>
          <p:cNvPr id="17" name="Text 15"/>
          <p:cNvSpPr txBox="1"/>
          <p:nvPr/>
        </p:nvSpPr>
        <p:spPr>
          <a:xfrm>
            <a:off x="1737360" y="4892040"/>
            <a:ext cx="8961120" cy="365760"/>
          </a:xfrm>
          <a:prstGeom prst="rect">
            <a:avLst/>
          </a:prstGeom>
          <a:noFill/>
          <a:ln/>
        </p:spPr>
        <p:txBody>
          <a:bodyPr wrap="square" lIns="0" tIns="0" rIns="0" bIns="0" rtlCol="0" anchor="ctr"/>
          <a:lstStyle/>
          <a:p>
            <a:pPr indent="0" marL="0">
              <a:buNone/>
            </a:pPr>
            <a:r>
              <a:rPr lang="en-US" sz="1500" b="1" dirty="0">
                <a:solidFill>
                  <a:srgbClr val="1A1F26"/>
                </a:solidFill>
                <a:latin typeface="Calibri" pitchFamily="34" charset="0"/>
                <a:ea typeface="Calibri" pitchFamily="34" charset="-122"/>
                <a:cs typeface="Calibri" pitchFamily="34" charset="-120"/>
              </a:rPr>
              <a:t>Confident evidence only</a:t>
            </a:r>
            <a:endParaRPr lang="en-US" sz="1500" dirty="0"/>
          </a:p>
        </p:txBody>
      </p:sp>
      <p:sp>
        <p:nvSpPr>
          <p:cNvPr id="18" name="Text 16"/>
          <p:cNvSpPr txBox="1"/>
          <p:nvPr/>
        </p:nvSpPr>
        <p:spPr>
          <a:xfrm>
            <a:off x="1737360" y="5276088"/>
            <a:ext cx="8961120" cy="685800"/>
          </a:xfrm>
          <a:prstGeom prst="rect">
            <a:avLst/>
          </a:prstGeom>
          <a:noFill/>
          <a:ln/>
        </p:spPr>
        <p:txBody>
          <a:bodyPr wrap="square" lIns="0" tIns="0" rIns="0" bIns="0" rtlCol="0" anchor="ctr"/>
          <a:lstStyle/>
          <a:p>
            <a:pPr indent="0" marL="0">
              <a:lnSpc>
                <a:spcPct val="120000"/>
              </a:lnSpc>
              <a:buNone/>
            </a:pPr>
            <a:r>
              <a:rPr lang="en-US" sz="1250" dirty="0">
                <a:solidFill>
                  <a:srgbClr val="4A5560"/>
                </a:solidFill>
                <a:latin typeface="Calibri" pitchFamily="34" charset="0"/>
                <a:ea typeface="Calibri" pitchFamily="34" charset="-122"/>
                <a:cs typeface="Calibri" pitchFamily="34" charset="-120"/>
              </a:rPr>
              <a:t>Little published work addresses what a system should do when evidence is absent or ambiguous — the common case in practice, and the case where a wrong answer is lethal.</a:t>
            </a:r>
            <a:endParaRPr lang="en-US" sz="1250" dirty="0"/>
          </a:p>
        </p:txBody>
      </p:sp>
      <p:sp>
        <p:nvSpPr>
          <p:cNvPr id="19" name="Text 1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Literature Review</a:t>
            </a:r>
            <a:endParaRPr lang="en-US" sz="1000" dirty="0"/>
          </a:p>
        </p:txBody>
      </p:sp>
      <p:sp>
        <p:nvSpPr>
          <p:cNvPr id="20" name="Text 1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5 / 17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RESEARCH GAP</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The pieces exist. The integration doesn't.</a:t>
            </a:r>
            <a:endParaRPr lang="en-US" sz="3000" dirty="0"/>
          </a:p>
        </p:txBody>
      </p:sp>
      <p:sp>
        <p:nvSpPr>
          <p:cNvPr id="4" name="Text 2"/>
          <p:cNvSpPr txBox="1"/>
          <p:nvPr/>
        </p:nvSpPr>
        <p:spPr>
          <a:xfrm>
            <a:off x="548640" y="1463040"/>
            <a:ext cx="11094415" cy="640080"/>
          </a:xfrm>
          <a:prstGeom prst="rect">
            <a:avLst/>
          </a:prstGeom>
          <a:noFill/>
          <a:ln/>
        </p:spPr>
        <p:txBody>
          <a:bodyPr wrap="square" lIns="0" tIns="0" rIns="0" bIns="0" rtlCol="0" anchor="ctr"/>
          <a:lstStyle/>
          <a:p>
            <a:pPr indent="0" marL="0">
              <a:lnSpc>
                <a:spcPct val="125000"/>
              </a:lnSpc>
              <a:buNone/>
            </a:pPr>
            <a:r>
              <a:rPr lang="en-US" sz="1400" dirty="0">
                <a:solidFill>
                  <a:srgbClr val="4A5560"/>
                </a:solidFill>
                <a:latin typeface="Calibri" pitchFamily="34" charset="0"/>
                <a:ea typeface="Calibri" pitchFamily="34" charset="-122"/>
                <a:cs typeface="Calibri" pitchFamily="34" charset="-120"/>
              </a:rPr>
              <a:t>Pedestrian detection, traffic-light recognition, crosswalk segmentation, and monocular depth/TTC are each independently studied. The gap is an integrated, safety-asymmetric decision system built on top of them.</a:t>
            </a:r>
            <a:endParaRPr lang="en-US" sz="1400" dirty="0"/>
          </a:p>
        </p:txBody>
      </p:sp>
      <p:sp>
        <p:nvSpPr>
          <p:cNvPr id="5" name="Shape 3"/>
          <p:cNvSpPr/>
          <p:nvPr/>
        </p:nvSpPr>
        <p:spPr>
          <a:xfrm>
            <a:off x="998068" y="2331720"/>
            <a:ext cx="2377440" cy="914400"/>
          </a:xfrm>
          <a:prstGeom prst="roundRect">
            <a:avLst>
              <a:gd name="adj" fmla="val 6000"/>
            </a:avLst>
          </a:prstGeom>
          <a:solidFill>
            <a:srgbClr val="F3F4F6"/>
          </a:solidFill>
          <a:ln w="12700">
            <a:solidFill>
              <a:srgbClr val="DDE1E6"/>
            </a:solidFill>
            <a:prstDash val="solid"/>
          </a:ln>
        </p:spPr>
      </p:sp>
      <p:sp>
        <p:nvSpPr>
          <p:cNvPr id="6" name="Text 4"/>
          <p:cNvSpPr txBox="1"/>
          <p:nvPr/>
        </p:nvSpPr>
        <p:spPr>
          <a:xfrm>
            <a:off x="998068" y="2331720"/>
            <a:ext cx="2377440" cy="914400"/>
          </a:xfrm>
          <a:prstGeom prst="rect">
            <a:avLst/>
          </a:prstGeom>
          <a:noFill/>
          <a:ln/>
        </p:spPr>
        <p:txBody>
          <a:bodyPr wrap="square" lIns="0" tIns="0" rIns="0" bIns="0" rtlCol="0" anchor="ctr"/>
          <a:lstStyle/>
          <a:p>
            <a:pPr algn="ctr" indent="0" marL="0">
              <a:lnSpc>
                <a:spcPct val="110000"/>
              </a:lnSpc>
              <a:buNone/>
            </a:pPr>
            <a:r>
              <a:rPr lang="en-US" sz="1300" b="1" dirty="0">
                <a:solidFill>
                  <a:srgbClr val="1A1F26"/>
                </a:solidFill>
                <a:latin typeface="Calibri" pitchFamily="34" charset="0"/>
                <a:ea typeface="Calibri" pitchFamily="34" charset="-122"/>
                <a:cs typeface="Calibri" pitchFamily="34" charset="-120"/>
              </a:rPr>
              <a:t>Pedestrian</a:t>
            </a:r>
            <a:endParaRPr lang="en-US" sz="1300" dirty="0"/>
          </a:p>
          <a:p>
            <a:pPr algn="ctr" indent="0" marL="0">
              <a:lnSpc>
                <a:spcPct val="110000"/>
              </a:lnSpc>
              <a:buNone/>
            </a:pPr>
            <a:r>
              <a:rPr lang="en-US" sz="1300" b="1" dirty="0">
                <a:solidFill>
                  <a:srgbClr val="1A1F26"/>
                </a:solidFill>
                <a:latin typeface="Calibri" pitchFamily="34" charset="0"/>
                <a:ea typeface="Calibri" pitchFamily="34" charset="-122"/>
                <a:cs typeface="Calibri" pitchFamily="34" charset="-120"/>
              </a:rPr>
              <a:t>detection</a:t>
            </a:r>
            <a:endParaRPr lang="en-US" sz="1300" dirty="0"/>
          </a:p>
        </p:txBody>
      </p:sp>
      <p:sp>
        <p:nvSpPr>
          <p:cNvPr id="7" name="Shape 5"/>
          <p:cNvSpPr/>
          <p:nvPr/>
        </p:nvSpPr>
        <p:spPr>
          <a:xfrm>
            <a:off x="3604108" y="2331720"/>
            <a:ext cx="2377440" cy="914400"/>
          </a:xfrm>
          <a:prstGeom prst="roundRect">
            <a:avLst>
              <a:gd name="adj" fmla="val 6000"/>
            </a:avLst>
          </a:prstGeom>
          <a:solidFill>
            <a:srgbClr val="F3F4F6"/>
          </a:solidFill>
          <a:ln w="12700">
            <a:solidFill>
              <a:srgbClr val="DDE1E6"/>
            </a:solidFill>
            <a:prstDash val="solid"/>
          </a:ln>
        </p:spPr>
      </p:sp>
      <p:sp>
        <p:nvSpPr>
          <p:cNvPr id="8" name="Text 6"/>
          <p:cNvSpPr txBox="1"/>
          <p:nvPr/>
        </p:nvSpPr>
        <p:spPr>
          <a:xfrm>
            <a:off x="3604108" y="2331720"/>
            <a:ext cx="2377440" cy="914400"/>
          </a:xfrm>
          <a:prstGeom prst="rect">
            <a:avLst/>
          </a:prstGeom>
          <a:noFill/>
          <a:ln/>
        </p:spPr>
        <p:txBody>
          <a:bodyPr wrap="square" lIns="0" tIns="0" rIns="0" bIns="0" rtlCol="0" anchor="ctr"/>
          <a:lstStyle/>
          <a:p>
            <a:pPr algn="ctr" indent="0" marL="0">
              <a:lnSpc>
                <a:spcPct val="110000"/>
              </a:lnSpc>
              <a:buNone/>
            </a:pPr>
            <a:r>
              <a:rPr lang="en-US" sz="1300" b="1" dirty="0">
                <a:solidFill>
                  <a:srgbClr val="1A1F26"/>
                </a:solidFill>
                <a:latin typeface="Calibri" pitchFamily="34" charset="0"/>
                <a:ea typeface="Calibri" pitchFamily="34" charset="-122"/>
                <a:cs typeface="Calibri" pitchFamily="34" charset="-120"/>
              </a:rPr>
              <a:t>Traffic-light</a:t>
            </a:r>
            <a:endParaRPr lang="en-US" sz="1300" dirty="0"/>
          </a:p>
          <a:p>
            <a:pPr algn="ctr" indent="0" marL="0">
              <a:lnSpc>
                <a:spcPct val="110000"/>
              </a:lnSpc>
              <a:buNone/>
            </a:pPr>
            <a:r>
              <a:rPr lang="en-US" sz="1300" b="1" dirty="0">
                <a:solidFill>
                  <a:srgbClr val="1A1F26"/>
                </a:solidFill>
                <a:latin typeface="Calibri" pitchFamily="34" charset="0"/>
                <a:ea typeface="Calibri" pitchFamily="34" charset="-122"/>
                <a:cs typeface="Calibri" pitchFamily="34" charset="-120"/>
              </a:rPr>
              <a:t>recognition</a:t>
            </a:r>
            <a:endParaRPr lang="en-US" sz="1300" dirty="0"/>
          </a:p>
        </p:txBody>
      </p:sp>
      <p:sp>
        <p:nvSpPr>
          <p:cNvPr id="9" name="Shape 7"/>
          <p:cNvSpPr/>
          <p:nvPr/>
        </p:nvSpPr>
        <p:spPr>
          <a:xfrm>
            <a:off x="6210148" y="2331720"/>
            <a:ext cx="2377440" cy="914400"/>
          </a:xfrm>
          <a:prstGeom prst="roundRect">
            <a:avLst>
              <a:gd name="adj" fmla="val 6000"/>
            </a:avLst>
          </a:prstGeom>
          <a:solidFill>
            <a:srgbClr val="F3F4F6"/>
          </a:solidFill>
          <a:ln w="12700">
            <a:solidFill>
              <a:srgbClr val="DDE1E6"/>
            </a:solidFill>
            <a:prstDash val="solid"/>
          </a:ln>
        </p:spPr>
      </p:sp>
      <p:sp>
        <p:nvSpPr>
          <p:cNvPr id="10" name="Text 8"/>
          <p:cNvSpPr txBox="1"/>
          <p:nvPr/>
        </p:nvSpPr>
        <p:spPr>
          <a:xfrm>
            <a:off x="6210148" y="2331720"/>
            <a:ext cx="2377440" cy="914400"/>
          </a:xfrm>
          <a:prstGeom prst="rect">
            <a:avLst/>
          </a:prstGeom>
          <a:noFill/>
          <a:ln/>
        </p:spPr>
        <p:txBody>
          <a:bodyPr wrap="square" lIns="0" tIns="0" rIns="0" bIns="0" rtlCol="0" anchor="ctr"/>
          <a:lstStyle/>
          <a:p>
            <a:pPr algn="ctr" indent="0" marL="0">
              <a:lnSpc>
                <a:spcPct val="110000"/>
              </a:lnSpc>
              <a:buNone/>
            </a:pPr>
            <a:r>
              <a:rPr lang="en-US" sz="1300" b="1" dirty="0">
                <a:solidFill>
                  <a:srgbClr val="1A1F26"/>
                </a:solidFill>
                <a:latin typeface="Calibri" pitchFamily="34" charset="0"/>
                <a:ea typeface="Calibri" pitchFamily="34" charset="-122"/>
                <a:cs typeface="Calibri" pitchFamily="34" charset="-120"/>
              </a:rPr>
              <a:t>Crosswalk</a:t>
            </a:r>
            <a:endParaRPr lang="en-US" sz="1300" dirty="0"/>
          </a:p>
          <a:p>
            <a:pPr algn="ctr" indent="0" marL="0">
              <a:lnSpc>
                <a:spcPct val="110000"/>
              </a:lnSpc>
              <a:buNone/>
            </a:pPr>
            <a:r>
              <a:rPr lang="en-US" sz="1300" b="1" dirty="0">
                <a:solidFill>
                  <a:srgbClr val="1A1F26"/>
                </a:solidFill>
                <a:latin typeface="Calibri" pitchFamily="34" charset="0"/>
                <a:ea typeface="Calibri" pitchFamily="34" charset="-122"/>
                <a:cs typeface="Calibri" pitchFamily="34" charset="-120"/>
              </a:rPr>
              <a:t>segmentation</a:t>
            </a:r>
            <a:endParaRPr lang="en-US" sz="1300" dirty="0"/>
          </a:p>
        </p:txBody>
      </p:sp>
      <p:sp>
        <p:nvSpPr>
          <p:cNvPr id="11" name="Shape 9"/>
          <p:cNvSpPr/>
          <p:nvPr/>
        </p:nvSpPr>
        <p:spPr>
          <a:xfrm>
            <a:off x="8816188" y="2331720"/>
            <a:ext cx="2377440" cy="914400"/>
          </a:xfrm>
          <a:prstGeom prst="roundRect">
            <a:avLst>
              <a:gd name="adj" fmla="val 6000"/>
            </a:avLst>
          </a:prstGeom>
          <a:solidFill>
            <a:srgbClr val="F3F4F6"/>
          </a:solidFill>
          <a:ln w="12700">
            <a:solidFill>
              <a:srgbClr val="DDE1E6"/>
            </a:solidFill>
            <a:prstDash val="solid"/>
          </a:ln>
        </p:spPr>
      </p:sp>
      <p:sp>
        <p:nvSpPr>
          <p:cNvPr id="12" name="Text 10"/>
          <p:cNvSpPr txBox="1"/>
          <p:nvPr/>
        </p:nvSpPr>
        <p:spPr>
          <a:xfrm>
            <a:off x="8816188" y="2331720"/>
            <a:ext cx="2377440" cy="914400"/>
          </a:xfrm>
          <a:prstGeom prst="rect">
            <a:avLst/>
          </a:prstGeom>
          <a:noFill/>
          <a:ln/>
        </p:spPr>
        <p:txBody>
          <a:bodyPr wrap="square" lIns="0" tIns="0" rIns="0" bIns="0" rtlCol="0" anchor="ctr"/>
          <a:lstStyle/>
          <a:p>
            <a:pPr algn="ctr" indent="0" marL="0">
              <a:lnSpc>
                <a:spcPct val="110000"/>
              </a:lnSpc>
              <a:buNone/>
            </a:pPr>
            <a:r>
              <a:rPr lang="en-US" sz="1300" b="1" dirty="0">
                <a:solidFill>
                  <a:srgbClr val="1A1F26"/>
                </a:solidFill>
                <a:latin typeface="Calibri" pitchFamily="34" charset="0"/>
                <a:ea typeface="Calibri" pitchFamily="34" charset="-122"/>
                <a:cs typeface="Calibri" pitchFamily="34" charset="-120"/>
              </a:rPr>
              <a:t>Monocular</a:t>
            </a:r>
            <a:endParaRPr lang="en-US" sz="1300" dirty="0"/>
          </a:p>
          <a:p>
            <a:pPr algn="ctr" indent="0" marL="0">
              <a:lnSpc>
                <a:spcPct val="110000"/>
              </a:lnSpc>
              <a:buNone/>
            </a:pPr>
            <a:r>
              <a:rPr lang="en-US" sz="1300" b="1" dirty="0">
                <a:solidFill>
                  <a:srgbClr val="1A1F26"/>
                </a:solidFill>
                <a:latin typeface="Calibri" pitchFamily="34" charset="0"/>
                <a:ea typeface="Calibri" pitchFamily="34" charset="-122"/>
                <a:cs typeface="Calibri" pitchFamily="34" charset="-120"/>
              </a:rPr>
              <a:t>depth / TTC</a:t>
            </a:r>
            <a:endParaRPr lang="en-US" sz="1300" dirty="0"/>
          </a:p>
        </p:txBody>
      </p:sp>
      <p:sp>
        <p:nvSpPr>
          <p:cNvPr id="13" name="Text 11"/>
          <p:cNvSpPr txBox="1"/>
          <p:nvPr/>
        </p:nvSpPr>
        <p:spPr>
          <a:xfrm>
            <a:off x="3380080" y="2331720"/>
            <a:ext cx="219456" cy="914400"/>
          </a:xfrm>
          <a:prstGeom prst="rect">
            <a:avLst/>
          </a:prstGeom>
          <a:noFill/>
          <a:ln/>
        </p:spPr>
        <p:txBody>
          <a:bodyPr wrap="square" lIns="0" tIns="0" rIns="0" bIns="0" rtlCol="0" anchor="ctr"/>
          <a:lstStyle/>
          <a:p>
            <a:pPr algn="ctr" indent="0" marL="0">
              <a:buNone/>
            </a:pPr>
            <a:r>
              <a:rPr lang="en-US" sz="2000" b="1" dirty="0">
                <a:solidFill>
                  <a:srgbClr val="4A5560"/>
                </a:solidFill>
                <a:latin typeface="Cambria" pitchFamily="34" charset="0"/>
                <a:ea typeface="Cambria" pitchFamily="34" charset="-122"/>
                <a:cs typeface="Cambria" pitchFamily="34" charset="-120"/>
              </a:rPr>
              <a:t>+</a:t>
            </a:r>
            <a:endParaRPr lang="en-US" sz="2000" dirty="0"/>
          </a:p>
        </p:txBody>
      </p:sp>
      <p:sp>
        <p:nvSpPr>
          <p:cNvPr id="14" name="Text 12"/>
          <p:cNvSpPr txBox="1"/>
          <p:nvPr/>
        </p:nvSpPr>
        <p:spPr>
          <a:xfrm>
            <a:off x="5986120" y="2331720"/>
            <a:ext cx="219456" cy="914400"/>
          </a:xfrm>
          <a:prstGeom prst="rect">
            <a:avLst/>
          </a:prstGeom>
          <a:noFill/>
          <a:ln/>
        </p:spPr>
        <p:txBody>
          <a:bodyPr wrap="square" lIns="0" tIns="0" rIns="0" bIns="0" rtlCol="0" anchor="ctr"/>
          <a:lstStyle/>
          <a:p>
            <a:pPr algn="ctr" indent="0" marL="0">
              <a:buNone/>
            </a:pPr>
            <a:r>
              <a:rPr lang="en-US" sz="2000" b="1" dirty="0">
                <a:solidFill>
                  <a:srgbClr val="4A5560"/>
                </a:solidFill>
                <a:latin typeface="Cambria" pitchFamily="34" charset="0"/>
                <a:ea typeface="Cambria" pitchFamily="34" charset="-122"/>
                <a:cs typeface="Cambria" pitchFamily="34" charset="-120"/>
              </a:rPr>
              <a:t>+</a:t>
            </a:r>
            <a:endParaRPr lang="en-US" sz="2000" dirty="0"/>
          </a:p>
        </p:txBody>
      </p:sp>
      <p:sp>
        <p:nvSpPr>
          <p:cNvPr id="15" name="Text 13"/>
          <p:cNvSpPr txBox="1"/>
          <p:nvPr/>
        </p:nvSpPr>
        <p:spPr>
          <a:xfrm>
            <a:off x="8592160" y="2331720"/>
            <a:ext cx="219456" cy="914400"/>
          </a:xfrm>
          <a:prstGeom prst="rect">
            <a:avLst/>
          </a:prstGeom>
          <a:noFill/>
          <a:ln/>
        </p:spPr>
        <p:txBody>
          <a:bodyPr wrap="square" lIns="0" tIns="0" rIns="0" bIns="0" rtlCol="0" anchor="ctr"/>
          <a:lstStyle/>
          <a:p>
            <a:pPr algn="ctr" indent="0" marL="0">
              <a:buNone/>
            </a:pPr>
            <a:r>
              <a:rPr lang="en-US" sz="2000" b="1" dirty="0">
                <a:solidFill>
                  <a:srgbClr val="4A5560"/>
                </a:solidFill>
                <a:latin typeface="Cambria" pitchFamily="34" charset="0"/>
                <a:ea typeface="Cambria" pitchFamily="34" charset="-122"/>
                <a:cs typeface="Cambria" pitchFamily="34" charset="-120"/>
              </a:rPr>
              <a:t>+</a:t>
            </a:r>
            <a:endParaRPr lang="en-US" sz="2000" dirty="0"/>
          </a:p>
        </p:txBody>
      </p:sp>
      <p:sp>
        <p:nvSpPr>
          <p:cNvPr id="16" name="Text 14"/>
          <p:cNvSpPr txBox="1"/>
          <p:nvPr/>
        </p:nvSpPr>
        <p:spPr>
          <a:xfrm>
            <a:off x="5821528" y="3337560"/>
            <a:ext cx="548640" cy="457200"/>
          </a:xfrm>
          <a:prstGeom prst="rect">
            <a:avLst/>
          </a:prstGeom>
          <a:noFill/>
          <a:ln/>
        </p:spPr>
        <p:txBody>
          <a:bodyPr wrap="square" lIns="0" tIns="0" rIns="0" bIns="0" rtlCol="0" anchor="ctr"/>
          <a:lstStyle/>
          <a:p>
            <a:pPr algn="ctr" indent="0" marL="0">
              <a:buNone/>
            </a:pPr>
            <a:r>
              <a:rPr lang="en-US" sz="2600" dirty="0">
                <a:solidFill>
                  <a:srgbClr val="D97706"/>
                </a:solidFill>
                <a:latin typeface="Calibri" pitchFamily="34" charset="0"/>
                <a:ea typeface="Calibri" pitchFamily="34" charset="-122"/>
                <a:cs typeface="Calibri" pitchFamily="34" charset="-120"/>
              </a:rPr>
              <a:t>↓</a:t>
            </a:r>
            <a:endParaRPr lang="en-US" sz="2600" dirty="0"/>
          </a:p>
        </p:txBody>
      </p:sp>
      <p:sp>
        <p:nvSpPr>
          <p:cNvPr id="17" name="Shape 15"/>
          <p:cNvSpPr/>
          <p:nvPr/>
        </p:nvSpPr>
        <p:spPr>
          <a:xfrm>
            <a:off x="1920240" y="3840480"/>
            <a:ext cx="8351215" cy="1508760"/>
          </a:xfrm>
          <a:prstGeom prst="roundRect">
            <a:avLst>
              <a:gd name="adj" fmla="val 3636"/>
            </a:avLst>
          </a:prstGeom>
          <a:solidFill>
            <a:srgbClr val="1A1F26"/>
          </a:solidFill>
          <a:ln/>
          <a:effectLst>
            <a:outerShdw sx="100000" sy="100000" kx="0" ky="0" algn="bl" rotWithShape="0" blurRad="76200" dist="25400" dir="5400000">
              <a:srgbClr val="8A94A0">
                <a:alpha val="28000"/>
              </a:srgbClr>
            </a:outerShdw>
          </a:effectLst>
        </p:spPr>
      </p:sp>
      <p:sp>
        <p:nvSpPr>
          <p:cNvPr id="18" name="Text 16"/>
          <p:cNvSpPr txBox="1"/>
          <p:nvPr/>
        </p:nvSpPr>
        <p:spPr>
          <a:xfrm>
            <a:off x="2194560" y="4023360"/>
            <a:ext cx="7802575" cy="457200"/>
          </a:xfrm>
          <a:prstGeom prst="rect">
            <a:avLst/>
          </a:prstGeom>
          <a:noFill/>
          <a:ln/>
        </p:spPr>
        <p:txBody>
          <a:bodyPr wrap="square" lIns="0" tIns="0" rIns="0" bIns="0" rtlCol="0" anchor="ctr"/>
          <a:lstStyle/>
          <a:p>
            <a:pPr algn="ctr" indent="0" marL="0">
              <a:buNone/>
            </a:pPr>
            <a:r>
              <a:rPr lang="en-US" sz="1700" b="1" dirty="0">
                <a:solidFill>
                  <a:srgbClr val="D97706"/>
                </a:solidFill>
                <a:latin typeface="Cambria" pitchFamily="34" charset="0"/>
                <a:ea typeface="Cambria" pitchFamily="34" charset="-122"/>
                <a:cs typeface="Cambria" pitchFamily="34" charset="-120"/>
              </a:rPr>
              <a:t>Missing: an integrated, safety-asymmetric decision layer</a:t>
            </a:r>
            <a:endParaRPr lang="en-US" sz="1700" dirty="0"/>
          </a:p>
        </p:txBody>
      </p:sp>
      <p:sp>
        <p:nvSpPr>
          <p:cNvPr id="19" name="Text 17"/>
          <p:cNvSpPr txBox="1"/>
          <p:nvPr/>
        </p:nvSpPr>
        <p:spPr>
          <a:xfrm>
            <a:off x="2286000" y="4526280"/>
            <a:ext cx="7619695" cy="685800"/>
          </a:xfrm>
          <a:prstGeom prst="rect">
            <a:avLst/>
          </a:prstGeom>
          <a:noFill/>
          <a:ln/>
        </p:spPr>
        <p:txBody>
          <a:bodyPr wrap="square" lIns="0" tIns="0" rIns="0" bIns="0" rtlCol="0" anchor="ctr"/>
          <a:lstStyle/>
          <a:p>
            <a:pPr algn="ctr" indent="0" marL="0">
              <a:lnSpc>
                <a:spcPct val="120000"/>
              </a:lnSpc>
              <a:buNone/>
            </a:pPr>
            <a:r>
              <a:rPr lang="en-US" sz="1250" dirty="0">
                <a:solidFill>
                  <a:srgbClr val="C9D0D8"/>
                </a:solidFill>
                <a:latin typeface="Calibri" pitchFamily="34" charset="0"/>
                <a:ea typeface="Calibri" pitchFamily="34" charset="-122"/>
                <a:cs typeface="Calibri" pitchFamily="34" charset="-120"/>
              </a:rPr>
              <a:t>What should the system do when evidence is absent, ambiguous, or contradictory — and treat a false SAFE as categorically worse than a false WAIT?</a:t>
            </a:r>
            <a:endParaRPr lang="en-US" sz="1250" dirty="0"/>
          </a:p>
        </p:txBody>
      </p:sp>
      <p:sp>
        <p:nvSpPr>
          <p:cNvPr id="20" name="Text 1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Research Gap</a:t>
            </a:r>
            <a:endParaRPr lang="en-US" sz="1000" dirty="0"/>
          </a:p>
        </p:txBody>
      </p:sp>
      <p:sp>
        <p:nvSpPr>
          <p:cNvPr id="21" name="Text 1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6 / 17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RESEARCH GAP</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A gap we found ourselves</a:t>
            </a:r>
            <a:endParaRPr lang="en-US" sz="3000" dirty="0"/>
          </a:p>
        </p:txBody>
      </p:sp>
      <p:sp>
        <p:nvSpPr>
          <p:cNvPr id="4" name="Shape 2"/>
          <p:cNvSpPr/>
          <p:nvPr/>
        </p:nvSpPr>
        <p:spPr>
          <a:xfrm>
            <a:off x="548640" y="1645920"/>
            <a:ext cx="11094415" cy="1965960"/>
          </a:xfrm>
          <a:prstGeom prst="roundRect">
            <a:avLst>
              <a:gd name="adj" fmla="val 2791"/>
            </a:avLst>
          </a:prstGeom>
          <a:solidFill>
            <a:srgbClr val="FDECD1"/>
          </a:solidFill>
          <a:ln/>
        </p:spPr>
      </p:sp>
      <p:sp>
        <p:nvSpPr>
          <p:cNvPr id="5" name="Text 3"/>
          <p:cNvSpPr txBox="1"/>
          <p:nvPr/>
        </p:nvSpPr>
        <p:spPr>
          <a:xfrm>
            <a:off x="914400" y="1874520"/>
            <a:ext cx="10362895" cy="914400"/>
          </a:xfrm>
          <a:prstGeom prst="rect">
            <a:avLst/>
          </a:prstGeom>
          <a:noFill/>
          <a:ln/>
        </p:spPr>
        <p:txBody>
          <a:bodyPr wrap="square" lIns="0" tIns="0" rIns="0" bIns="0" rtlCol="0" anchor="ctr"/>
          <a:lstStyle/>
          <a:p>
            <a:pPr indent="0" marL="0">
              <a:lnSpc>
                <a:spcPct val="120000"/>
              </a:lnSpc>
              <a:buNone/>
            </a:pPr>
            <a:r>
              <a:rPr lang="en-US" sz="2000" b="1" dirty="0">
                <a:solidFill>
                  <a:srgbClr val="8A5A0A"/>
                </a:solidFill>
                <a:latin typeface="Cambria" pitchFamily="34" charset="0"/>
                <a:ea typeface="Cambria" pitchFamily="34" charset="-122"/>
                <a:cs typeface="Cambria" pitchFamily="34" charset="-120"/>
              </a:rPr>
              <a:t>A class can score 0.93 mAP50 on a validation split and still detect almost nothing on real street footage from a different setting.</a:t>
            </a:r>
            <a:endParaRPr lang="en-US" sz="2000" dirty="0"/>
          </a:p>
        </p:txBody>
      </p:sp>
      <p:sp>
        <p:nvSpPr>
          <p:cNvPr id="6" name="Text 4"/>
          <p:cNvSpPr txBox="1"/>
          <p:nvPr/>
        </p:nvSpPr>
        <p:spPr>
          <a:xfrm>
            <a:off x="914400" y="2834640"/>
            <a:ext cx="10362895" cy="640080"/>
          </a:xfrm>
          <a:prstGeom prst="rect">
            <a:avLst/>
          </a:prstGeom>
          <a:noFill/>
          <a:ln/>
        </p:spPr>
        <p:txBody>
          <a:bodyPr wrap="square" lIns="0" tIns="0" rIns="0" bIns="0" rtlCol="0" anchor="ctr"/>
          <a:lstStyle/>
          <a:p>
            <a:pPr indent="0" marL="0">
              <a:lnSpc>
                <a:spcPct val="120000"/>
              </a:lnSpc>
              <a:buNone/>
            </a:pPr>
            <a:r>
              <a:rPr lang="en-US" sz="1400" i="1" dirty="0">
                <a:solidFill>
                  <a:srgbClr val="6B4A0F"/>
                </a:solidFill>
                <a:latin typeface="Calibri" pitchFamily="34" charset="0"/>
                <a:ea typeface="Calibri" pitchFamily="34" charset="-122"/>
                <a:cs typeface="Calibri" pitchFamily="34" charset="-120"/>
              </a:rPr>
              <a:t>Validation-split metrics conceal domain gaps — and for a safety system, the split metric is not the metric that matters.</a:t>
            </a:r>
            <a:endParaRPr lang="en-US" sz="1400" dirty="0"/>
          </a:p>
        </p:txBody>
      </p:sp>
      <p:sp>
        <p:nvSpPr>
          <p:cNvPr id="7" name="Text 5"/>
          <p:cNvSpPr txBox="1"/>
          <p:nvPr/>
        </p:nvSpPr>
        <p:spPr>
          <a:xfrm>
            <a:off x="548640" y="3886200"/>
            <a:ext cx="5486400" cy="320040"/>
          </a:xfrm>
          <a:prstGeom prst="rect">
            <a:avLst/>
          </a:prstGeom>
          <a:noFill/>
          <a:ln/>
        </p:spPr>
        <p:txBody>
          <a:bodyPr wrap="square" lIns="0" tIns="0" rIns="0" bIns="0" rtlCol="0" anchor="ctr"/>
          <a:lstStyle/>
          <a:p>
            <a:pPr indent="0" marL="0">
              <a:buNone/>
            </a:pPr>
            <a:r>
              <a:rPr lang="en-US" sz="1300" b="1" dirty="0">
                <a:solidFill>
                  <a:srgbClr val="1A1F26"/>
                </a:solidFill>
                <a:latin typeface="Calibri" pitchFamily="34" charset="0"/>
                <a:ea typeface="Calibri" pitchFamily="34" charset="-122"/>
                <a:cs typeface="Calibri" pitchFamily="34" charset="-120"/>
              </a:rPr>
              <a:t>Observed directly in this project:</a:t>
            </a:r>
            <a:endParaRPr lang="en-US" sz="1300" dirty="0"/>
          </a:p>
        </p:txBody>
      </p:sp>
      <p:sp>
        <p:nvSpPr>
          <p:cNvPr id="8" name="Shape 6"/>
          <p:cNvSpPr/>
          <p:nvPr/>
        </p:nvSpPr>
        <p:spPr>
          <a:xfrm>
            <a:off x="548640" y="4251960"/>
            <a:ext cx="5212080" cy="1874520"/>
          </a:xfrm>
          <a:prstGeom prst="roundRect">
            <a:avLst>
              <a:gd name="adj" fmla="val 2927"/>
            </a:avLst>
          </a:prstGeom>
          <a:solidFill>
            <a:srgbClr val="F3F4F6"/>
          </a:solidFill>
          <a:ln/>
        </p:spPr>
      </p:sp>
      <p:sp>
        <p:nvSpPr>
          <p:cNvPr id="9" name="Text 7"/>
          <p:cNvSpPr txBox="1"/>
          <p:nvPr/>
        </p:nvSpPr>
        <p:spPr>
          <a:xfrm>
            <a:off x="822960" y="4434840"/>
            <a:ext cx="4663440" cy="320040"/>
          </a:xfrm>
          <a:prstGeom prst="rect">
            <a:avLst/>
          </a:prstGeom>
          <a:noFill/>
          <a:ln/>
        </p:spPr>
        <p:txBody>
          <a:bodyPr wrap="square" lIns="0" tIns="0" rIns="0" bIns="0" rtlCol="0" anchor="ctr"/>
          <a:lstStyle/>
          <a:p>
            <a:pPr indent="0" marL="0">
              <a:buNone/>
            </a:pPr>
            <a:r>
              <a:rPr lang="en-US" sz="1200" b="1" dirty="0">
                <a:solidFill>
                  <a:srgbClr val="4A5560"/>
                </a:solidFill>
                <a:latin typeface="Calibri" pitchFamily="34" charset="0"/>
                <a:ea typeface="Calibri" pitchFamily="34" charset="-122"/>
                <a:cs typeface="Calibri" pitchFamily="34" charset="-120"/>
              </a:rPr>
              <a:t>crosswalk class</a:t>
            </a:r>
            <a:endParaRPr lang="en-US" sz="1200" dirty="0"/>
          </a:p>
        </p:txBody>
      </p:sp>
      <p:sp>
        <p:nvSpPr>
          <p:cNvPr id="10" name="Text 8"/>
          <p:cNvSpPr txBox="1"/>
          <p:nvPr/>
        </p:nvSpPr>
        <p:spPr>
          <a:xfrm>
            <a:off x="822960" y="4709160"/>
            <a:ext cx="4663440" cy="548640"/>
          </a:xfrm>
          <a:prstGeom prst="rect">
            <a:avLst/>
          </a:prstGeom>
          <a:noFill/>
          <a:ln/>
        </p:spPr>
        <p:txBody>
          <a:bodyPr wrap="square" lIns="0" tIns="0" rIns="0" bIns="0" rtlCol="0" anchor="ctr"/>
          <a:lstStyle/>
          <a:p>
            <a:pPr indent="0" marL="0">
              <a:buNone/>
            </a:pPr>
            <a:r>
              <a:rPr lang="en-US" sz="3400" b="1" dirty="0">
                <a:solidFill>
                  <a:srgbClr val="1E7A46"/>
                </a:solidFill>
                <a:latin typeface="Cambria" pitchFamily="34" charset="0"/>
                <a:ea typeface="Cambria" pitchFamily="34" charset="-122"/>
                <a:cs typeface="Cambria" pitchFamily="34" charset="-120"/>
              </a:rPr>
              <a:t>0.932</a:t>
            </a:r>
            <a:endParaRPr lang="en-US" sz="3400" dirty="0"/>
          </a:p>
        </p:txBody>
      </p:sp>
      <p:sp>
        <p:nvSpPr>
          <p:cNvPr id="11" name="Text 9"/>
          <p:cNvSpPr txBox="1"/>
          <p:nvPr/>
        </p:nvSpPr>
        <p:spPr>
          <a:xfrm>
            <a:off x="822960" y="5303520"/>
            <a:ext cx="4663440" cy="320040"/>
          </a:xfrm>
          <a:prstGeom prst="rect">
            <a:avLst/>
          </a:prstGeom>
          <a:noFill/>
          <a:ln/>
        </p:spPr>
        <p:txBody>
          <a:bodyPr wrap="square" lIns="0" tIns="0" rIns="0" bIns="0" rtlCol="0" anchor="ctr"/>
          <a:lstStyle/>
          <a:p>
            <a:pPr indent="0" marL="0">
              <a:buNone/>
            </a:pPr>
            <a:r>
              <a:rPr lang="en-US" sz="1150" dirty="0">
                <a:solidFill>
                  <a:srgbClr val="4A5560"/>
                </a:solidFill>
                <a:latin typeface="Calibri" pitchFamily="34" charset="0"/>
                <a:ea typeface="Calibri" pitchFamily="34" charset="-122"/>
                <a:cs typeface="Calibri" pitchFamily="34" charset="-120"/>
              </a:rPr>
              <a:t>mAP50 on the held-out validation split</a:t>
            </a:r>
            <a:endParaRPr lang="en-US" sz="1150" dirty="0"/>
          </a:p>
        </p:txBody>
      </p:sp>
      <p:sp>
        <p:nvSpPr>
          <p:cNvPr id="12" name="Text 10"/>
          <p:cNvSpPr txBox="1"/>
          <p:nvPr/>
        </p:nvSpPr>
        <p:spPr>
          <a:xfrm>
            <a:off x="822960" y="5623560"/>
            <a:ext cx="4663440" cy="457200"/>
          </a:xfrm>
          <a:prstGeom prst="rect">
            <a:avLst/>
          </a:prstGeom>
          <a:noFill/>
          <a:ln/>
        </p:spPr>
        <p:txBody>
          <a:bodyPr wrap="square" lIns="0" tIns="0" rIns="0" bIns="0" rtlCol="0" anchor="ctr"/>
          <a:lstStyle/>
          <a:p>
            <a:pPr indent="0" marL="0">
              <a:lnSpc>
                <a:spcPct val="115000"/>
              </a:lnSpc>
              <a:buNone/>
            </a:pPr>
            <a:r>
              <a:rPr lang="en-US" sz="1100" i="1" dirty="0">
                <a:solidFill>
                  <a:srgbClr val="C0362C"/>
                </a:solidFill>
                <a:latin typeface="Calibri" pitchFamily="34" charset="0"/>
                <a:ea typeface="Calibri" pitchFamily="34" charset="-122"/>
                <a:cs typeface="Calibri" pitchFamily="34" charset="-120"/>
              </a:rPr>
              <a:t>vs. 1 detection at 0.28 confidence on a real Creative-Commons street clip (preliminary, single clip)</a:t>
            </a:r>
            <a:endParaRPr lang="en-US" sz="1100" dirty="0"/>
          </a:p>
        </p:txBody>
      </p:sp>
      <p:sp>
        <p:nvSpPr>
          <p:cNvPr id="13" name="Shape 11"/>
          <p:cNvSpPr/>
          <p:nvPr/>
        </p:nvSpPr>
        <p:spPr>
          <a:xfrm>
            <a:off x="6217920" y="4251960"/>
            <a:ext cx="5212080" cy="1874520"/>
          </a:xfrm>
          <a:prstGeom prst="roundRect">
            <a:avLst>
              <a:gd name="adj" fmla="val 2927"/>
            </a:avLst>
          </a:prstGeom>
          <a:solidFill>
            <a:srgbClr val="F3F4F6"/>
          </a:solidFill>
          <a:ln/>
        </p:spPr>
      </p:sp>
      <p:sp>
        <p:nvSpPr>
          <p:cNvPr id="14" name="Text 12"/>
          <p:cNvSpPr txBox="1"/>
          <p:nvPr/>
        </p:nvSpPr>
        <p:spPr>
          <a:xfrm>
            <a:off x="6492240" y="4434840"/>
            <a:ext cx="4663440" cy="320040"/>
          </a:xfrm>
          <a:prstGeom prst="rect">
            <a:avLst/>
          </a:prstGeom>
          <a:noFill/>
          <a:ln/>
        </p:spPr>
        <p:txBody>
          <a:bodyPr wrap="square" lIns="0" tIns="0" rIns="0" bIns="0" rtlCol="0" anchor="ctr"/>
          <a:lstStyle/>
          <a:p>
            <a:pPr indent="0" marL="0">
              <a:buNone/>
            </a:pPr>
            <a:r>
              <a:rPr lang="en-US" sz="1200" b="1" dirty="0">
                <a:solidFill>
                  <a:srgbClr val="4A5560"/>
                </a:solidFill>
                <a:latin typeface="Calibri" pitchFamily="34" charset="0"/>
                <a:ea typeface="Calibri" pitchFamily="34" charset="-122"/>
                <a:cs typeface="Calibri" pitchFamily="34" charset="-120"/>
              </a:rPr>
              <a:t>Downstream effect</a:t>
            </a:r>
            <a:endParaRPr lang="en-US" sz="1200" dirty="0"/>
          </a:p>
        </p:txBody>
      </p:sp>
      <p:sp>
        <p:nvSpPr>
          <p:cNvPr id="15" name="Text 13"/>
          <p:cNvSpPr txBox="1"/>
          <p:nvPr/>
        </p:nvSpPr>
        <p:spPr>
          <a:xfrm>
            <a:off x="6492240" y="4754880"/>
            <a:ext cx="4663440" cy="1234440"/>
          </a:xfrm>
          <a:prstGeom prst="rect">
            <a:avLst/>
          </a:prstGeom>
          <a:noFill/>
          <a:ln/>
        </p:spPr>
        <p:txBody>
          <a:bodyPr wrap="square" lIns="0" tIns="0" rIns="0" bIns="0" rtlCol="0" anchor="ctr"/>
          <a:lstStyle/>
          <a:p>
            <a:pPr indent="0" marL="0">
              <a:lnSpc>
                <a:spcPct val="125000"/>
              </a:lnSpc>
              <a:buNone/>
            </a:pPr>
            <a:r>
              <a:rPr lang="en-US" sz="1300" dirty="0">
                <a:solidFill>
                  <a:srgbClr val="1A1F26"/>
                </a:solidFill>
                <a:latin typeface="Calibri" pitchFamily="34" charset="0"/>
                <a:ea typeface="Calibri" pitchFamily="34" charset="-122"/>
                <a:cs typeface="Calibri" pitchFamily="34" charset="-120"/>
              </a:rPr>
              <a:t>crosswalk is Decision Rule 1. When it silently fails on real footage, no later rule is ever evaluated — the system sits in SEARCHING regardless of what else is true.</a:t>
            </a:r>
            <a:endParaRPr lang="en-US" sz="1300" dirty="0"/>
          </a:p>
        </p:txBody>
      </p:sp>
      <p:sp>
        <p:nvSpPr>
          <p:cNvPr id="16" name="Text 14"/>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Research Gap</a:t>
            </a:r>
            <a:endParaRPr lang="en-US" sz="1000" dirty="0"/>
          </a:p>
        </p:txBody>
      </p:sp>
      <p:sp>
        <p:nvSpPr>
          <p:cNvPr id="17" name="Text 1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7 / 17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Detection &amp; tracking</a:t>
            </a:r>
            <a:endParaRPr lang="en-US" sz="3000" dirty="0"/>
          </a:p>
        </p:txBody>
      </p:sp>
      <p:sp>
        <p:nvSpPr>
          <p:cNvPr id="4" name="Shape 2"/>
          <p:cNvSpPr/>
          <p:nvPr/>
        </p:nvSpPr>
        <p:spPr>
          <a:xfrm>
            <a:off x="548640" y="1554480"/>
            <a:ext cx="11094415" cy="1051560"/>
          </a:xfrm>
          <a:prstGeom prst="roundRect">
            <a:avLst>
              <a:gd name="adj" fmla="val 5217"/>
            </a:avLst>
          </a:prstGeom>
          <a:solidFill>
            <a:srgbClr val="F3F4F6"/>
          </a:solidFill>
          <a:ln/>
        </p:spPr>
      </p:sp>
      <p:sp>
        <p:nvSpPr>
          <p:cNvPr id="5" name="Text 3"/>
          <p:cNvSpPr txBox="1"/>
          <p:nvPr/>
        </p:nvSpPr>
        <p:spPr>
          <a:xfrm>
            <a:off x="868680" y="1737360"/>
            <a:ext cx="10454335" cy="365760"/>
          </a:xfrm>
          <a:prstGeom prst="rect">
            <a:avLst/>
          </a:prstGeom>
          <a:noFill/>
          <a:ln/>
        </p:spPr>
        <p:txBody>
          <a:bodyPr wrap="square" lIns="0" tIns="0" rIns="0" bIns="0" rtlCol="0" anchor="ctr"/>
          <a:lstStyle/>
          <a:p>
            <a:pPr indent="0" marL="0">
              <a:buNone/>
            </a:pPr>
            <a:r>
              <a:rPr lang="en-US" sz="1600" b="1" dirty="0">
                <a:solidFill>
                  <a:srgbClr val="1A1F26"/>
                </a:solidFill>
                <a:latin typeface="Calibri" pitchFamily="34" charset="0"/>
                <a:ea typeface="Calibri" pitchFamily="34" charset="-122"/>
                <a:cs typeface="Calibri" pitchFamily="34" charset="-120"/>
              </a:rPr>
              <a:t>YOLOv8 + ByteTrack</a:t>
            </a:r>
            <a:pPr indent="0" marL="0">
              <a:buNone/>
            </a:pPr>
            <a:r>
              <a:rPr lang="en-US" sz="1400" dirty="0">
                <a:solidFill>
                  <a:srgbClr val="4A5560"/>
                </a:solidFill>
                <a:latin typeface="Calibri" pitchFamily="34" charset="0"/>
                <a:ea typeface="Calibri" pitchFamily="34" charset="-122"/>
                <a:cs typeface="Calibri" pitchFamily="34" charset="-120"/>
              </a:rPr>
              <a:t>  —  10 classes, trained AND run at 960px</a:t>
            </a:r>
            <a:endParaRPr lang="en-US" sz="1600" dirty="0"/>
          </a:p>
        </p:txBody>
      </p:sp>
      <p:sp>
        <p:nvSpPr>
          <p:cNvPr id="6" name="Text 4"/>
          <p:cNvSpPr txBox="1"/>
          <p:nvPr/>
        </p:nvSpPr>
        <p:spPr>
          <a:xfrm>
            <a:off x="868680" y="2148840"/>
            <a:ext cx="10454335" cy="365760"/>
          </a:xfrm>
          <a:prstGeom prst="rect">
            <a:avLst/>
          </a:prstGeom>
          <a:noFill/>
          <a:ln/>
        </p:spPr>
        <p:txBody>
          <a:bodyPr wrap="square" lIns="0" tIns="0" rIns="0" bIns="0" rtlCol="0" anchor="ctr"/>
          <a:lstStyle/>
          <a:p>
            <a:pPr indent="0" marL="0">
              <a:buNone/>
            </a:pPr>
            <a:r>
              <a:rPr lang="en-US" sz="1200" i="1" dirty="0">
                <a:solidFill>
                  <a:srgbClr val="4A5560"/>
                </a:solidFill>
                <a:latin typeface="Calibri" pitchFamily="34" charset="0"/>
                <a:ea typeface="Calibri" pitchFamily="34" charset="-122"/>
                <a:cs typeface="Calibri" pitchFamily="34" charset="-120"/>
              </a:rPr>
              <a:t>car · bus · truck · motorcycle · autorickshaw · person · crosswalk · signal_red · signal_green · signal_countdown</a:t>
            </a:r>
            <a:endParaRPr lang="en-US" sz="1200" dirty="0"/>
          </a:p>
        </p:txBody>
      </p:sp>
      <p:sp>
        <p:nvSpPr>
          <p:cNvPr id="7" name="Text 5"/>
          <p:cNvSpPr txBox="1"/>
          <p:nvPr/>
        </p:nvSpPr>
        <p:spPr>
          <a:xfrm>
            <a:off x="548640" y="2834640"/>
            <a:ext cx="2743200" cy="320040"/>
          </a:xfrm>
          <a:prstGeom prst="rect">
            <a:avLst/>
          </a:prstGeom>
          <a:noFill/>
          <a:ln/>
        </p:spPr>
        <p:txBody>
          <a:bodyPr wrap="square" lIns="0" tIns="0" rIns="0" bIns="0" rtlCol="0" anchor="ctr"/>
          <a:lstStyle/>
          <a:p>
            <a:pPr indent="0" marL="0">
              <a:buNone/>
            </a:pPr>
            <a:r>
              <a:rPr lang="en-US" sz="1300" b="1" dirty="0">
                <a:solidFill>
                  <a:srgbClr val="4A5560"/>
                </a:solidFill>
                <a:latin typeface="Calibri" pitchFamily="34" charset="0"/>
                <a:ea typeface="Calibri" pitchFamily="34" charset="-122"/>
                <a:cs typeface="Calibri" pitchFamily="34" charset="-120"/>
              </a:rPr>
              <a:t>Overall mAP50</a:t>
            </a:r>
            <a:endParaRPr lang="en-US" sz="1300" dirty="0"/>
          </a:p>
        </p:txBody>
      </p:sp>
      <p:sp>
        <p:nvSpPr>
          <p:cNvPr id="8" name="Text 6"/>
          <p:cNvSpPr txBox="1"/>
          <p:nvPr/>
        </p:nvSpPr>
        <p:spPr>
          <a:xfrm>
            <a:off x="548640" y="3127248"/>
            <a:ext cx="2743200" cy="777240"/>
          </a:xfrm>
          <a:prstGeom prst="rect">
            <a:avLst/>
          </a:prstGeom>
          <a:noFill/>
          <a:ln/>
        </p:spPr>
        <p:txBody>
          <a:bodyPr wrap="square" lIns="0" tIns="0" rIns="0" bIns="0" rtlCol="0" anchor="ctr"/>
          <a:lstStyle/>
          <a:p>
            <a:pPr indent="0" marL="0">
              <a:buNone/>
            </a:pPr>
            <a:r>
              <a:rPr lang="en-US" sz="4800" b="1" dirty="0">
                <a:solidFill>
                  <a:srgbClr val="D97706"/>
                </a:solidFill>
                <a:latin typeface="Cambria" pitchFamily="34" charset="0"/>
                <a:ea typeface="Cambria" pitchFamily="34" charset="-122"/>
                <a:cs typeface="Cambria" pitchFamily="34" charset="-120"/>
              </a:rPr>
              <a:t>0.829</a:t>
            </a:r>
            <a:endParaRPr lang="en-US" sz="4800" dirty="0"/>
          </a:p>
        </p:txBody>
      </p:sp>
      <p:sp>
        <p:nvSpPr>
          <p:cNvPr id="9" name="Text 7"/>
          <p:cNvSpPr txBox="1"/>
          <p:nvPr/>
        </p:nvSpPr>
        <p:spPr>
          <a:xfrm>
            <a:off x="3931920" y="2834640"/>
            <a:ext cx="5760720" cy="320040"/>
          </a:xfrm>
          <a:prstGeom prst="rect">
            <a:avLst/>
          </a:prstGeom>
          <a:noFill/>
          <a:ln/>
        </p:spPr>
        <p:txBody>
          <a:bodyPr wrap="square" lIns="0" tIns="0" rIns="0" bIns="0" rtlCol="0" anchor="ctr"/>
          <a:lstStyle/>
          <a:p>
            <a:pPr indent="0" marL="0">
              <a:buNone/>
            </a:pPr>
            <a:r>
              <a:rPr lang="en-US" sz="1300" b="1" dirty="0">
                <a:solidFill>
                  <a:srgbClr val="1A1F26"/>
                </a:solidFill>
                <a:latin typeface="Calibri" pitchFamily="34" charset="0"/>
                <a:ea typeface="Calibri" pitchFamily="34" charset="-122"/>
                <a:cs typeface="Calibri" pitchFamily="34" charset="-120"/>
              </a:rPr>
              <a:t>Why 960px, not the 640px default:</a:t>
            </a:r>
            <a:endParaRPr lang="en-US" sz="1300" dirty="0"/>
          </a:p>
        </p:txBody>
      </p:sp>
      <p:sp>
        <p:nvSpPr>
          <p:cNvPr id="10" name="Text 8"/>
          <p:cNvSpPr txBox="1"/>
          <p:nvPr/>
        </p:nvSpPr>
        <p:spPr>
          <a:xfrm>
            <a:off x="3931920" y="3200400"/>
            <a:ext cx="5760720" cy="1463040"/>
          </a:xfrm>
          <a:prstGeom prst="rect">
            <a:avLst/>
          </a:prstGeom>
          <a:noFill/>
          <a:ln/>
        </p:spPr>
        <p:txBody>
          <a:bodyPr wrap="square" lIns="0" tIns="0" rIns="0" bIns="0" rtlCol="0" anchor="ctr"/>
          <a:lstStyle/>
          <a:p>
            <a:pPr indent="0" marL="0">
              <a:lnSpc>
                <a:spcPct val="125000"/>
              </a:lnSpc>
              <a:buNone/>
            </a:pPr>
            <a:r>
              <a:rPr lang="en-US" sz="1250" dirty="0">
                <a:solidFill>
                  <a:srgbClr val="4A5560"/>
                </a:solidFill>
                <a:latin typeface="Calibri" pitchFamily="34" charset="0"/>
                <a:ea typeface="Calibri" pitchFamily="34" charset="-122"/>
                <a:cs typeface="Calibri" pitchFamily="34" charset="-120"/>
              </a:rPr>
              <a:t>A pedestrian signal head is often only 20–30px wide in a 1080p frame. At the 640px default that resolution is destroyed by downscaling before the detector ever sees it — signals appeared to fail completely at 640px, and did not; it was a resolution mismatch between training and inference, not a model failure.</a:t>
            </a:r>
            <a:endParaRPr lang="en-US" sz="1250" dirty="0"/>
          </a:p>
        </p:txBody>
      </p:sp>
      <p:sp>
        <p:nvSpPr>
          <p:cNvPr id="11" name="Text 9"/>
          <p:cNvSpPr txBox="1"/>
          <p:nvPr/>
        </p:nvSpPr>
        <p:spPr>
          <a:xfrm>
            <a:off x="548640" y="4709160"/>
            <a:ext cx="11094415" cy="320040"/>
          </a:xfrm>
          <a:prstGeom prst="rect">
            <a:avLst/>
          </a:prstGeom>
          <a:noFill/>
          <a:ln/>
        </p:spPr>
        <p:txBody>
          <a:bodyPr wrap="square" lIns="0" tIns="0" rIns="0" bIns="0" rtlCol="0" anchor="ctr"/>
          <a:lstStyle/>
          <a:p>
            <a:pPr indent="0" marL="0">
              <a:buNone/>
            </a:pPr>
            <a:r>
              <a:rPr lang="en-US" sz="1300" b="1" dirty="0">
                <a:solidFill>
                  <a:srgbClr val="1A1F26"/>
                </a:solidFill>
                <a:latin typeface="Calibri" pitchFamily="34" charset="0"/>
                <a:ea typeface="Calibri" pitchFamily="34" charset="-122"/>
                <a:cs typeface="Calibri" pitchFamily="34" charset="-120"/>
              </a:rPr>
              <a:t>Why ByteTrack:</a:t>
            </a:r>
            <a:endParaRPr lang="en-US" sz="1300" dirty="0"/>
          </a:p>
        </p:txBody>
      </p:sp>
      <p:sp>
        <p:nvSpPr>
          <p:cNvPr id="12" name="Text 10"/>
          <p:cNvSpPr txBox="1"/>
          <p:nvPr/>
        </p:nvSpPr>
        <p:spPr>
          <a:xfrm>
            <a:off x="548640" y="5029200"/>
            <a:ext cx="11094415" cy="548640"/>
          </a:xfrm>
          <a:prstGeom prst="rect">
            <a:avLst/>
          </a:prstGeom>
          <a:noFill/>
          <a:ln/>
        </p:spPr>
        <p:txBody>
          <a:bodyPr wrap="square" lIns="0" tIns="0" rIns="0" bIns="0" rtlCol="0" anchor="ctr"/>
          <a:lstStyle/>
          <a:p>
            <a:pPr indent="0" marL="0">
              <a:lnSpc>
                <a:spcPct val="125000"/>
              </a:lnSpc>
              <a:buNone/>
            </a:pPr>
            <a:r>
              <a:rPr lang="en-US" sz="1300" dirty="0">
                <a:solidFill>
                  <a:srgbClr val="4A5560"/>
                </a:solidFill>
                <a:latin typeface="Calibri" pitchFamily="34" charset="0"/>
                <a:ea typeface="Calibri" pitchFamily="34" charset="-122"/>
                <a:cs typeface="Calibri" pitchFamily="34" charset="-120"/>
              </a:rPr>
              <a:t>Persistent per-vehicle track IDs are the input the TTC estimator needs — a box-growth fit is only meaningful across frames of the same physical vehicle, not a fresh detection each frame.</a:t>
            </a:r>
            <a:endParaRPr lang="en-US" sz="1300" dirty="0"/>
          </a:p>
        </p:txBody>
      </p:sp>
      <p:sp>
        <p:nvSpPr>
          <p:cNvPr id="13" name="Text 11"/>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Methodology</a:t>
            </a:r>
            <a:endParaRPr lang="en-US" sz="1000" dirty="0"/>
          </a:p>
        </p:txBody>
      </p:sp>
      <p:sp>
        <p:nvSpPr>
          <p:cNvPr id="14" name="Text 1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8 / 17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Per-class detection accuracy (mAP50)</a:t>
            </a:r>
            <a:endParaRPr lang="en-US" sz="3000" dirty="0"/>
          </a:p>
        </p:txBody>
      </p:sp>
      <p:graphicFrame>
        <p:nvGraphicFramePr>
          <p:cNvPr id="4" name="Chart 0" descr=""/>
          <p:cNvGraphicFramePr/>
          <p:nvPr/>
        </p:nvGraphicFramePr>
        <p:xfrm>
          <a:off x="548640" y="1463040"/>
          <a:ext cx="11094415"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150" i="1" dirty="0">
                <a:solidFill>
                  <a:srgbClr val="4A5560"/>
                </a:solidFill>
                <a:latin typeface="Calibri" pitchFamily="34" charset="0"/>
                <a:ea typeface="Calibri" pitchFamily="34" charset="-122"/>
                <a:cs typeface="Calibri" pitchFamily="34" charset="-120"/>
              </a:rPr>
              <a:t>Trained and inferred at 960px, single held-out validation split. signal_countdown not shown — no labelled examples exist yet (see next slide).</a:t>
            </a:r>
            <a:endParaRPr lang="en-US" sz="1150" dirty="0"/>
          </a:p>
        </p:txBody>
      </p:sp>
      <p:sp>
        <p:nvSpPr>
          <p:cNvPr id="6" name="Text 3"/>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Methodology</a:t>
            </a:r>
            <a:endParaRPr lang="en-US" sz="10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9 / 17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Time-to-contact: the reciprocal-width fix</a:t>
            </a:r>
            <a:endParaRPr lang="en-US" sz="3000" dirty="0"/>
          </a:p>
        </p:txBody>
      </p:sp>
      <p:sp>
        <p:nvSpPr>
          <p:cNvPr id="4" name="Text 2"/>
          <p:cNvSpPr txBox="1"/>
          <p:nvPr/>
        </p:nvSpPr>
        <p:spPr>
          <a:xfrm>
            <a:off x="548640" y="1481328"/>
            <a:ext cx="11094415" cy="365760"/>
          </a:xfrm>
          <a:prstGeom prst="rect">
            <a:avLst/>
          </a:prstGeom>
          <a:noFill/>
          <a:ln/>
        </p:spPr>
        <p:txBody>
          <a:bodyPr wrap="square" lIns="0" tIns="0" rIns="0" bIns="0" rtlCol="0" anchor="ctr"/>
          <a:lstStyle/>
          <a:p>
            <a:pPr indent="0" marL="0">
              <a:buNone/>
            </a:pPr>
            <a:r>
              <a:rPr lang="en-US" sz="1350" dirty="0">
                <a:solidFill>
                  <a:srgbClr val="4A5560"/>
                </a:solidFill>
                <a:latin typeface="Calibri" pitchFamily="34" charset="0"/>
                <a:ea typeface="Calibri" pitchFamily="34" charset="-122"/>
                <a:cs typeface="Calibri" pitchFamily="34" charset="-120"/>
              </a:rPr>
              <a:t>Monocular TTC, estimated from bounding-box growth — no calibrated camera, no known object dimensions.</a:t>
            </a:r>
            <a:endParaRPr lang="en-US" sz="1350" dirty="0"/>
          </a:p>
        </p:txBody>
      </p:sp>
      <p:sp>
        <p:nvSpPr>
          <p:cNvPr id="5" name="Shape 3"/>
          <p:cNvSpPr/>
          <p:nvPr/>
        </p:nvSpPr>
        <p:spPr>
          <a:xfrm>
            <a:off x="548640" y="2057400"/>
            <a:ext cx="5212080" cy="2286000"/>
          </a:xfrm>
          <a:prstGeom prst="roundRect">
            <a:avLst>
              <a:gd name="adj" fmla="val 2400"/>
            </a:avLst>
          </a:prstGeom>
          <a:solidFill>
            <a:srgbClr val="F3F4F6"/>
          </a:solidFill>
          <a:ln/>
        </p:spPr>
      </p:sp>
      <p:sp>
        <p:nvSpPr>
          <p:cNvPr id="6" name="Text 4"/>
          <p:cNvSpPr txBox="1"/>
          <p:nvPr/>
        </p:nvSpPr>
        <p:spPr>
          <a:xfrm>
            <a:off x="822960" y="2240280"/>
            <a:ext cx="4663440" cy="320040"/>
          </a:xfrm>
          <a:prstGeom prst="rect">
            <a:avLst/>
          </a:prstGeom>
          <a:noFill/>
          <a:ln/>
        </p:spPr>
        <p:txBody>
          <a:bodyPr wrap="square" lIns="0" tIns="0" rIns="0" bIns="0" rtlCol="0" anchor="ctr"/>
          <a:lstStyle/>
          <a:p>
            <a:pPr indent="0" marL="0">
              <a:buNone/>
            </a:pPr>
            <a:r>
              <a:rPr lang="en-US" sz="1300" b="1" dirty="0">
                <a:solidFill>
                  <a:srgbClr val="4A5560"/>
                </a:solidFill>
                <a:latin typeface="Calibri" pitchFamily="34" charset="0"/>
                <a:ea typeface="Calibri" pitchFamily="34" charset="-122"/>
                <a:cs typeface="Calibri" pitchFamily="34" charset="-120"/>
              </a:rPr>
              <a:t>The naive approach</a:t>
            </a:r>
            <a:endParaRPr lang="en-US" sz="1300" dirty="0"/>
          </a:p>
        </p:txBody>
      </p:sp>
      <p:sp>
        <p:nvSpPr>
          <p:cNvPr id="7" name="Text 5"/>
          <p:cNvSpPr txBox="1"/>
          <p:nvPr/>
        </p:nvSpPr>
        <p:spPr>
          <a:xfrm>
            <a:off x="822960" y="2560320"/>
            <a:ext cx="4663440" cy="320040"/>
          </a:xfrm>
          <a:prstGeom prst="rect">
            <a:avLst/>
          </a:prstGeom>
          <a:noFill/>
          <a:ln/>
        </p:spPr>
        <p:txBody>
          <a:bodyPr wrap="square" lIns="0" tIns="0" rIns="0" bIns="0" rtlCol="0" anchor="ctr"/>
          <a:lstStyle/>
          <a:p>
            <a:pPr indent="0" marL="0">
              <a:buNone/>
            </a:pPr>
            <a:r>
              <a:rPr lang="en-US" sz="1300" dirty="0">
                <a:solidFill>
                  <a:srgbClr val="1A1F26"/>
                </a:solidFill>
                <a:latin typeface="Calibri" pitchFamily="34" charset="0"/>
                <a:ea typeface="Calibri" pitchFamily="34" charset="-122"/>
                <a:cs typeface="Calibri" pitchFamily="34" charset="-120"/>
              </a:rPr>
              <a:t>Fit box width w linearly over time.</a:t>
            </a:r>
            <a:endParaRPr lang="en-US" sz="1300" dirty="0"/>
          </a:p>
        </p:txBody>
      </p:sp>
      <p:sp>
        <p:nvSpPr>
          <p:cNvPr id="8" name="Text 6"/>
          <p:cNvSpPr txBox="1"/>
          <p:nvPr/>
        </p:nvSpPr>
        <p:spPr>
          <a:xfrm>
            <a:off x="822960" y="2926080"/>
            <a:ext cx="4663440" cy="822960"/>
          </a:xfrm>
          <a:prstGeom prst="rect">
            <a:avLst/>
          </a:prstGeom>
          <a:noFill/>
          <a:ln/>
        </p:spPr>
        <p:txBody>
          <a:bodyPr wrap="square" lIns="0" tIns="0" rIns="0" bIns="0" rtlCol="0" anchor="ctr"/>
          <a:lstStyle/>
          <a:p>
            <a:pPr indent="0" marL="0">
              <a:lnSpc>
                <a:spcPct val="125000"/>
              </a:lnSpc>
              <a:buNone/>
            </a:pPr>
            <a:r>
              <a:rPr lang="en-US" sz="1250" dirty="0">
                <a:solidFill>
                  <a:srgbClr val="4A5560"/>
                </a:solidFill>
                <a:latin typeface="Calibri" pitchFamily="34" charset="0"/>
                <a:ea typeface="Calibri" pitchFamily="34" charset="-122"/>
                <a:cs typeface="Calibri" pitchFamily="34" charset="-120"/>
              </a:rPr>
              <a:t>But w = k / D (distance) — hyperbolic, not linear. A linear fit systematically underestimates the current closing rate.</a:t>
            </a:r>
            <a:endParaRPr lang="en-US" sz="1250" dirty="0"/>
          </a:p>
        </p:txBody>
      </p:sp>
      <p:sp>
        <p:nvSpPr>
          <p:cNvPr id="9" name="Text 7"/>
          <p:cNvSpPr txBox="1"/>
          <p:nvPr/>
        </p:nvSpPr>
        <p:spPr>
          <a:xfrm>
            <a:off x="822960" y="3657600"/>
            <a:ext cx="4663440" cy="640080"/>
          </a:xfrm>
          <a:prstGeom prst="rect">
            <a:avLst/>
          </a:prstGeom>
          <a:noFill/>
          <a:ln/>
        </p:spPr>
        <p:txBody>
          <a:bodyPr wrap="square" lIns="0" tIns="0" rIns="0" bIns="0" rtlCol="0" anchor="ctr"/>
          <a:lstStyle/>
          <a:p>
            <a:pPr indent="0" marL="0">
              <a:lnSpc>
                <a:spcPct val="120000"/>
              </a:lnSpc>
              <a:buNone/>
            </a:pPr>
            <a:r>
              <a:rPr lang="en-US" sz="1200" b="1" dirty="0">
                <a:solidFill>
                  <a:srgbClr val="C0362C"/>
                </a:solidFill>
                <a:latin typeface="Calibri" pitchFamily="34" charset="0"/>
                <a:ea typeface="Calibri" pitchFamily="34" charset="-122"/>
                <a:cs typeface="Calibri" pitchFamily="34" charset="-120"/>
              </a:rPr>
              <a:t>Result: TTC over-reported by ~0.3–0.35s — optimistic, worsening as the vehicle gets closer. The one direction this system must never err in.</a:t>
            </a:r>
            <a:endParaRPr lang="en-US" sz="1200" dirty="0"/>
          </a:p>
        </p:txBody>
      </p:sp>
      <p:sp>
        <p:nvSpPr>
          <p:cNvPr id="10" name="Shape 8"/>
          <p:cNvSpPr/>
          <p:nvPr/>
        </p:nvSpPr>
        <p:spPr>
          <a:xfrm>
            <a:off x="6217920" y="2057400"/>
            <a:ext cx="5212080" cy="2286000"/>
          </a:xfrm>
          <a:prstGeom prst="roundRect">
            <a:avLst>
              <a:gd name="adj" fmla="val 2400"/>
            </a:avLst>
          </a:prstGeom>
          <a:solidFill>
            <a:srgbClr val="E3F0E8"/>
          </a:solidFill>
          <a:ln/>
        </p:spPr>
      </p:sp>
      <p:sp>
        <p:nvSpPr>
          <p:cNvPr id="11" name="Text 9"/>
          <p:cNvSpPr txBox="1"/>
          <p:nvPr/>
        </p:nvSpPr>
        <p:spPr>
          <a:xfrm>
            <a:off x="6492240" y="2240280"/>
            <a:ext cx="4663440" cy="320040"/>
          </a:xfrm>
          <a:prstGeom prst="rect">
            <a:avLst/>
          </a:prstGeom>
          <a:noFill/>
          <a:ln/>
        </p:spPr>
        <p:txBody>
          <a:bodyPr wrap="square" lIns="0" tIns="0" rIns="0" bIns="0" rtlCol="0" anchor="ctr"/>
          <a:lstStyle/>
          <a:p>
            <a:pPr indent="0" marL="0">
              <a:buNone/>
            </a:pPr>
            <a:r>
              <a:rPr lang="en-US" sz="1300" b="1" dirty="0">
                <a:solidFill>
                  <a:srgbClr val="1E7A46"/>
                </a:solidFill>
                <a:latin typeface="Calibri" pitchFamily="34" charset="0"/>
                <a:ea typeface="Calibri" pitchFamily="34" charset="-122"/>
                <a:cs typeface="Calibri" pitchFamily="34" charset="-120"/>
              </a:rPr>
              <a:t>Our fix</a:t>
            </a:r>
            <a:endParaRPr lang="en-US" sz="1300" dirty="0"/>
          </a:p>
        </p:txBody>
      </p:sp>
      <p:sp>
        <p:nvSpPr>
          <p:cNvPr id="12" name="Text 10"/>
          <p:cNvSpPr txBox="1"/>
          <p:nvPr/>
        </p:nvSpPr>
        <p:spPr>
          <a:xfrm>
            <a:off x="6492240" y="2560320"/>
            <a:ext cx="4663440" cy="320040"/>
          </a:xfrm>
          <a:prstGeom prst="rect">
            <a:avLst/>
          </a:prstGeom>
          <a:noFill/>
          <a:ln/>
        </p:spPr>
        <p:txBody>
          <a:bodyPr wrap="square" lIns="0" tIns="0" rIns="0" bIns="0" rtlCol="0" anchor="ctr"/>
          <a:lstStyle/>
          <a:p>
            <a:pPr indent="0" marL="0">
              <a:buNone/>
            </a:pPr>
            <a:r>
              <a:rPr lang="en-US" sz="1300" b="1" dirty="0">
                <a:solidFill>
                  <a:srgbClr val="1A1F26"/>
                </a:solidFill>
                <a:latin typeface="Calibri" pitchFamily="34" charset="0"/>
                <a:ea typeface="Calibri" pitchFamily="34" charset="-122"/>
                <a:cs typeface="Calibri" pitchFamily="34" charset="-120"/>
              </a:rPr>
              <a:t>Fit u = 1/w linearly over time instead.</a:t>
            </a:r>
            <a:endParaRPr lang="en-US" sz="1300" dirty="0"/>
          </a:p>
        </p:txBody>
      </p:sp>
      <p:sp>
        <p:nvSpPr>
          <p:cNvPr id="13" name="Text 11"/>
          <p:cNvSpPr txBox="1"/>
          <p:nvPr/>
        </p:nvSpPr>
        <p:spPr>
          <a:xfrm>
            <a:off x="6492240" y="2926080"/>
            <a:ext cx="4663440" cy="822960"/>
          </a:xfrm>
          <a:prstGeom prst="rect">
            <a:avLst/>
          </a:prstGeom>
          <a:noFill/>
          <a:ln/>
        </p:spPr>
        <p:txBody>
          <a:bodyPr wrap="square" lIns="0" tIns="0" rIns="0" bIns="0" rtlCol="0" anchor="ctr"/>
          <a:lstStyle/>
          <a:p>
            <a:pPr indent="0" marL="0">
              <a:lnSpc>
                <a:spcPct val="125000"/>
              </a:lnSpc>
              <a:buNone/>
            </a:pPr>
            <a:r>
              <a:rPr lang="en-US" sz="1250" dirty="0">
                <a:solidFill>
                  <a:srgbClr val="1F4A30"/>
                </a:solidFill>
                <a:latin typeface="Calibri" pitchFamily="34" charset="0"/>
                <a:ea typeface="Calibri" pitchFamily="34" charset="-122"/>
                <a:cs typeface="Calibri" pitchFamily="34" charset="-120"/>
              </a:rPr>
              <a:t>Since u ∝ D, u is exactly linear under constant velocity — not an approximation to the curve, the correct model.</a:t>
            </a:r>
            <a:endParaRPr lang="en-US" sz="1250" dirty="0"/>
          </a:p>
        </p:txBody>
      </p:sp>
      <p:sp>
        <p:nvSpPr>
          <p:cNvPr id="14" name="Text 12"/>
          <p:cNvSpPr txBox="1"/>
          <p:nvPr/>
        </p:nvSpPr>
        <p:spPr>
          <a:xfrm>
            <a:off x="6492240" y="3657600"/>
            <a:ext cx="4663440" cy="640080"/>
          </a:xfrm>
          <a:prstGeom prst="rect">
            <a:avLst/>
          </a:prstGeom>
          <a:noFill/>
          <a:ln/>
        </p:spPr>
        <p:txBody>
          <a:bodyPr wrap="square" lIns="0" tIns="0" rIns="0" bIns="0" rtlCol="0" anchor="ctr"/>
          <a:lstStyle/>
          <a:p>
            <a:pPr indent="0" marL="0">
              <a:lnSpc>
                <a:spcPct val="120000"/>
              </a:lnSpc>
              <a:buNone/>
            </a:pPr>
            <a:r>
              <a:rPr lang="en-US" sz="1200" b="1" dirty="0">
                <a:solidFill>
                  <a:srgbClr val="1E7A46"/>
                </a:solidFill>
                <a:latin typeface="Calibri" pitchFamily="34" charset="0"/>
                <a:ea typeface="Calibri" pitchFamily="34" charset="-122"/>
                <a:cs typeface="Calibri" pitchFamily="34" charset="-120"/>
              </a:rPr>
              <a:t>Result: error reduced to under 0.005s on synthetic ground truth.</a:t>
            </a:r>
            <a:endParaRPr lang="en-US" sz="1200" dirty="0"/>
          </a:p>
        </p:txBody>
      </p:sp>
      <p:sp>
        <p:nvSpPr>
          <p:cNvPr id="15" name="Text 13"/>
          <p:cNvSpPr txBox="1"/>
          <p:nvPr/>
        </p:nvSpPr>
        <p:spPr>
          <a:xfrm>
            <a:off x="548640" y="4572000"/>
            <a:ext cx="11094415" cy="457200"/>
          </a:xfrm>
          <a:prstGeom prst="rect">
            <a:avLst/>
          </a:prstGeom>
          <a:noFill/>
          <a:ln/>
        </p:spPr>
        <p:txBody>
          <a:bodyPr wrap="square" lIns="0" tIns="0" rIns="0" bIns="0" rtlCol="0" anchor="ctr"/>
          <a:lstStyle/>
          <a:p>
            <a:pPr indent="0" marL="0">
              <a:lnSpc>
                <a:spcPct val="120000"/>
              </a:lnSpc>
              <a:buNone/>
            </a:pPr>
            <a:r>
              <a:rPr lang="en-US" sz="1150" i="1" dirty="0">
                <a:solidFill>
                  <a:srgbClr val="4A5560"/>
                </a:solidFill>
                <a:latin typeface="Calibri" pitchFamily="34" charset="0"/>
                <a:ea typeface="Calibri" pitchFamily="34" charset="-122"/>
                <a:cs typeface="Calibri" pitchFamily="34" charset="-120"/>
              </a:rPr>
              <a:t>TTC = u / (−du/dt), verified against synthetic constant-velocity sequences (real footage is too sparse in vehicle detections to serve as ground truth yet).</a:t>
            </a:r>
            <a:endParaRPr lang="en-US" sz="1150" dirty="0"/>
          </a:p>
        </p:txBody>
      </p:sp>
      <p:sp>
        <p:nvSpPr>
          <p:cNvPr id="16" name="Text 14"/>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Methodology</a:t>
            </a:r>
            <a:endParaRPr lang="en-US" sz="1000" dirty="0"/>
          </a:p>
        </p:txBody>
      </p:sp>
      <p:sp>
        <p:nvSpPr>
          <p:cNvPr id="17" name="Text 1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10 / 17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Three-state track assessment</a:t>
            </a:r>
            <a:endParaRPr lang="en-US" sz="3000" dirty="0"/>
          </a:p>
        </p:txBody>
      </p:sp>
      <p:sp>
        <p:nvSpPr>
          <p:cNvPr id="4" name="Text 2"/>
          <p:cNvSpPr txBox="1"/>
          <p:nvPr/>
        </p:nvSpPr>
        <p:spPr>
          <a:xfrm>
            <a:off x="548640" y="1481328"/>
            <a:ext cx="11094415" cy="502920"/>
          </a:xfrm>
          <a:prstGeom prst="rect">
            <a:avLst/>
          </a:prstGeom>
          <a:noFill/>
          <a:ln/>
        </p:spPr>
        <p:txBody>
          <a:bodyPr wrap="square" lIns="0" tIns="0" rIns="0" bIns="0" rtlCol="0" anchor="ctr"/>
          <a:lstStyle/>
          <a:p>
            <a:pPr indent="0" marL="0">
              <a:lnSpc>
                <a:spcPct val="120000"/>
              </a:lnSpc>
              <a:buNone/>
            </a:pPr>
            <a:r>
              <a:rPr lang="en-US" sz="1350" dirty="0">
                <a:solidFill>
                  <a:srgbClr val="4A5560"/>
                </a:solidFill>
                <a:latin typeface="Calibri" pitchFamily="34" charset="0"/>
                <a:ea typeface="Calibri" pitchFamily="34" charset="-122"/>
                <a:cs typeface="Calibri" pitchFamily="34" charset="-120"/>
              </a:rPr>
              <a:t>Box jitter alone can look like motion. A fixed threshold on apparent approach rate is wrong at every scale — too strict for distant boxes, too loose for close ones.</a:t>
            </a:r>
            <a:endParaRPr lang="en-US" sz="1350" dirty="0"/>
          </a:p>
        </p:txBody>
      </p:sp>
      <p:sp>
        <p:nvSpPr>
          <p:cNvPr id="5" name="Shape 3"/>
          <p:cNvSpPr/>
          <p:nvPr/>
        </p:nvSpPr>
        <p:spPr>
          <a:xfrm>
            <a:off x="548640" y="2194560"/>
            <a:ext cx="3520440" cy="2377440"/>
          </a:xfrm>
          <a:prstGeom prst="roundRect">
            <a:avLst>
              <a:gd name="adj" fmla="val 2308"/>
            </a:avLst>
          </a:prstGeom>
          <a:solidFill>
            <a:srgbClr val="F3F4F6"/>
          </a:solidFill>
          <a:ln w="25400">
            <a:solidFill>
              <a:srgbClr val="C0362C"/>
            </a:solidFill>
            <a:prstDash val="solid"/>
          </a:ln>
        </p:spPr>
      </p:sp>
      <p:sp>
        <p:nvSpPr>
          <p:cNvPr id="6" name="Shape 4"/>
          <p:cNvSpPr/>
          <p:nvPr/>
        </p:nvSpPr>
        <p:spPr>
          <a:xfrm>
            <a:off x="777240" y="2395728"/>
            <a:ext cx="3063240" cy="457200"/>
          </a:xfrm>
          <a:prstGeom prst="roundRect">
            <a:avLst>
              <a:gd name="adj" fmla="val 16000"/>
            </a:avLst>
          </a:prstGeom>
          <a:solidFill>
            <a:srgbClr val="C0362C"/>
          </a:solidFill>
          <a:ln/>
        </p:spPr>
      </p:sp>
      <p:sp>
        <p:nvSpPr>
          <p:cNvPr id="7" name="Text 5"/>
          <p:cNvSpPr txBox="1"/>
          <p:nvPr/>
        </p:nvSpPr>
        <p:spPr>
          <a:xfrm>
            <a:off x="777240" y="2395728"/>
            <a:ext cx="3063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APPROACHING</a:t>
            </a:r>
            <a:endParaRPr lang="en-US" sz="1300" dirty="0"/>
          </a:p>
        </p:txBody>
      </p:sp>
      <p:sp>
        <p:nvSpPr>
          <p:cNvPr id="8" name="Text 6"/>
          <p:cNvSpPr txBox="1"/>
          <p:nvPr/>
        </p:nvSpPr>
        <p:spPr>
          <a:xfrm>
            <a:off x="777240" y="3063240"/>
            <a:ext cx="3063240" cy="1371600"/>
          </a:xfrm>
          <a:prstGeom prst="rect">
            <a:avLst/>
          </a:prstGeom>
          <a:noFill/>
          <a:ln/>
        </p:spPr>
        <p:txBody>
          <a:bodyPr wrap="square" lIns="0" tIns="0" rIns="0" bIns="0" rtlCol="0" anchor="ctr"/>
          <a:lstStyle/>
          <a:p>
            <a:pPr indent="0" marL="0">
              <a:lnSpc>
                <a:spcPct val="125000"/>
              </a:lnSpc>
              <a:buNone/>
            </a:pPr>
            <a:r>
              <a:rPr lang="en-US" sz="1200" dirty="0">
                <a:solidFill>
                  <a:srgbClr val="1A1F26"/>
                </a:solidFill>
                <a:latin typeface="Calibri" pitchFamily="34" charset="0"/>
                <a:ea typeface="Calibri" pitchFamily="34" charset="-122"/>
                <a:cs typeface="Calibri" pitchFamily="34" charset="-120"/>
              </a:rPr>
              <a:t>Fit succeeds; closing rate exceeds the noise floor. Real evidence of danger.</a:t>
            </a:r>
            <a:endParaRPr lang="en-US" sz="1200" dirty="0"/>
          </a:p>
        </p:txBody>
      </p:sp>
      <p:sp>
        <p:nvSpPr>
          <p:cNvPr id="9" name="Shape 7"/>
          <p:cNvSpPr/>
          <p:nvPr/>
        </p:nvSpPr>
        <p:spPr>
          <a:xfrm>
            <a:off x="4334256" y="2194560"/>
            <a:ext cx="3520440" cy="2377440"/>
          </a:xfrm>
          <a:prstGeom prst="roundRect">
            <a:avLst>
              <a:gd name="adj" fmla="val 2308"/>
            </a:avLst>
          </a:prstGeom>
          <a:solidFill>
            <a:srgbClr val="F3F4F6"/>
          </a:solidFill>
          <a:ln w="25400">
            <a:solidFill>
              <a:srgbClr val="1E7A46"/>
            </a:solidFill>
            <a:prstDash val="solid"/>
          </a:ln>
        </p:spPr>
      </p:sp>
      <p:sp>
        <p:nvSpPr>
          <p:cNvPr id="10" name="Shape 8"/>
          <p:cNvSpPr/>
          <p:nvPr/>
        </p:nvSpPr>
        <p:spPr>
          <a:xfrm>
            <a:off x="4562856" y="2395728"/>
            <a:ext cx="3063240" cy="457200"/>
          </a:xfrm>
          <a:prstGeom prst="roundRect">
            <a:avLst>
              <a:gd name="adj" fmla="val 16000"/>
            </a:avLst>
          </a:prstGeom>
          <a:solidFill>
            <a:srgbClr val="1E7A46"/>
          </a:solidFill>
          <a:ln/>
        </p:spPr>
      </p:sp>
      <p:sp>
        <p:nvSpPr>
          <p:cNvPr id="11" name="Text 9"/>
          <p:cNvSpPr txBox="1"/>
          <p:nvPr/>
        </p:nvSpPr>
        <p:spPr>
          <a:xfrm>
            <a:off x="4562856" y="2395728"/>
            <a:ext cx="3063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NOT_APPROACHING</a:t>
            </a:r>
            <a:endParaRPr lang="en-US" sz="1300" dirty="0"/>
          </a:p>
        </p:txBody>
      </p:sp>
      <p:sp>
        <p:nvSpPr>
          <p:cNvPr id="12" name="Text 10"/>
          <p:cNvSpPr txBox="1"/>
          <p:nvPr/>
        </p:nvSpPr>
        <p:spPr>
          <a:xfrm>
            <a:off x="4562856" y="3063240"/>
            <a:ext cx="3063240" cy="1371600"/>
          </a:xfrm>
          <a:prstGeom prst="rect">
            <a:avLst/>
          </a:prstGeom>
          <a:noFill/>
          <a:ln/>
        </p:spPr>
        <p:txBody>
          <a:bodyPr wrap="square" lIns="0" tIns="0" rIns="0" bIns="0" rtlCol="0" anchor="ctr"/>
          <a:lstStyle/>
          <a:p>
            <a:pPr indent="0" marL="0">
              <a:lnSpc>
                <a:spcPct val="125000"/>
              </a:lnSpc>
              <a:buNone/>
            </a:pPr>
            <a:r>
              <a:rPr lang="en-US" sz="1200" dirty="0">
                <a:solidFill>
                  <a:srgbClr val="1A1F26"/>
                </a:solidFill>
                <a:latin typeface="Calibri" pitchFamily="34" charset="0"/>
                <a:ea typeface="Calibri" pitchFamily="34" charset="-122"/>
                <a:cs typeface="Calibri" pitchFamily="34" charset="-120"/>
              </a:rPr>
              <a:t>Fit succeeds; TTC is beyond the noise horizon AND that horizon comfortably clears the 5s decision threshold. Real evidence of safety.</a:t>
            </a:r>
            <a:endParaRPr lang="en-US" sz="1200" dirty="0"/>
          </a:p>
        </p:txBody>
      </p:sp>
      <p:sp>
        <p:nvSpPr>
          <p:cNvPr id="13" name="Shape 11"/>
          <p:cNvSpPr/>
          <p:nvPr/>
        </p:nvSpPr>
        <p:spPr>
          <a:xfrm>
            <a:off x="8119872" y="2194560"/>
            <a:ext cx="3520440" cy="2377440"/>
          </a:xfrm>
          <a:prstGeom prst="roundRect">
            <a:avLst>
              <a:gd name="adj" fmla="val 2308"/>
            </a:avLst>
          </a:prstGeom>
          <a:solidFill>
            <a:srgbClr val="F3F4F6"/>
          </a:solidFill>
          <a:ln w="25400">
            <a:solidFill>
              <a:srgbClr val="4A5560"/>
            </a:solidFill>
            <a:prstDash val="solid"/>
          </a:ln>
        </p:spPr>
      </p:sp>
      <p:sp>
        <p:nvSpPr>
          <p:cNvPr id="14" name="Shape 12"/>
          <p:cNvSpPr/>
          <p:nvPr/>
        </p:nvSpPr>
        <p:spPr>
          <a:xfrm>
            <a:off x="8348472" y="2395728"/>
            <a:ext cx="3063240" cy="457200"/>
          </a:xfrm>
          <a:prstGeom prst="roundRect">
            <a:avLst>
              <a:gd name="adj" fmla="val 16000"/>
            </a:avLst>
          </a:prstGeom>
          <a:solidFill>
            <a:srgbClr val="4A5560"/>
          </a:solidFill>
          <a:ln/>
        </p:spPr>
      </p:sp>
      <p:sp>
        <p:nvSpPr>
          <p:cNvPr id="15" name="Text 13"/>
          <p:cNvSpPr txBox="1"/>
          <p:nvPr/>
        </p:nvSpPr>
        <p:spPr>
          <a:xfrm>
            <a:off x="8348472" y="2395728"/>
            <a:ext cx="3063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UNKNOWN</a:t>
            </a:r>
            <a:endParaRPr lang="en-US" sz="1300" dirty="0"/>
          </a:p>
        </p:txBody>
      </p:sp>
      <p:sp>
        <p:nvSpPr>
          <p:cNvPr id="16" name="Text 14"/>
          <p:cNvSpPr txBox="1"/>
          <p:nvPr/>
        </p:nvSpPr>
        <p:spPr>
          <a:xfrm>
            <a:off x="8348472" y="3063240"/>
            <a:ext cx="3063240" cy="1371600"/>
          </a:xfrm>
          <a:prstGeom prst="rect">
            <a:avLst/>
          </a:prstGeom>
          <a:noFill/>
          <a:ln/>
        </p:spPr>
        <p:txBody>
          <a:bodyPr wrap="square" lIns="0" tIns="0" rIns="0" bIns="0" rtlCol="0" anchor="ctr"/>
          <a:lstStyle/>
          <a:p>
            <a:pPr indent="0" marL="0">
              <a:lnSpc>
                <a:spcPct val="125000"/>
              </a:lnSpc>
              <a:buNone/>
            </a:pPr>
            <a:r>
              <a:rPr lang="en-US" sz="1200" dirty="0">
                <a:solidFill>
                  <a:srgbClr val="1A1F26"/>
                </a:solidFill>
                <a:latin typeface="Calibri" pitchFamily="34" charset="0"/>
                <a:ea typeface="Calibri" pitchFamily="34" charset="-122"/>
                <a:cs typeface="Calibri" pitchFamily="34" charset="-120"/>
              </a:rPr>
              <a:t>Too few samples, a degenerate fit, or a box too small to trust either way. Evidence of nothing — in either direction.</a:t>
            </a:r>
            <a:endParaRPr lang="en-US" sz="1200" dirty="0"/>
          </a:p>
        </p:txBody>
      </p:sp>
      <p:sp>
        <p:nvSpPr>
          <p:cNvPr id="17" name="Shape 15"/>
          <p:cNvSpPr/>
          <p:nvPr/>
        </p:nvSpPr>
        <p:spPr>
          <a:xfrm>
            <a:off x="548640" y="4892040"/>
            <a:ext cx="11094415" cy="1234440"/>
          </a:xfrm>
          <a:prstGeom prst="roundRect">
            <a:avLst>
              <a:gd name="adj" fmla="val 4444"/>
            </a:avLst>
          </a:prstGeom>
          <a:solidFill>
            <a:srgbClr val="FDECD1"/>
          </a:solidFill>
          <a:ln/>
        </p:spPr>
      </p:sp>
      <p:sp>
        <p:nvSpPr>
          <p:cNvPr id="18" name="Text 16"/>
          <p:cNvSpPr txBox="1"/>
          <p:nvPr/>
        </p:nvSpPr>
        <p:spPr>
          <a:xfrm>
            <a:off x="822960" y="5029200"/>
            <a:ext cx="10545775" cy="960120"/>
          </a:xfrm>
          <a:prstGeom prst="rect">
            <a:avLst/>
          </a:prstGeom>
          <a:noFill/>
          <a:ln/>
        </p:spPr>
        <p:txBody>
          <a:bodyPr wrap="square" lIns="0" tIns="0" rIns="0" bIns="0" rtlCol="0" anchor="ctr"/>
          <a:lstStyle/>
          <a:p>
            <a:pPr indent="0" marL="0">
              <a:lnSpc>
                <a:spcPct val="125000"/>
              </a:lnSpc>
              <a:buNone/>
            </a:pPr>
            <a:r>
              <a:rPr lang="en-US" sz="1250" dirty="0">
                <a:solidFill>
                  <a:srgbClr val="6B4A0F"/>
                </a:solidFill>
                <a:latin typeface="Calibri" pitchFamily="34" charset="0"/>
                <a:ea typeface="Calibri" pitchFamily="34" charset="-122"/>
                <a:cs typeface="Calibri" pitchFamily="34" charset="-120"/>
              </a:rPr>
              <a:t>Why UNKNOWN matters: an early design where any unassessed vehicle blocked SAFE meant a single parked car blocked SAFE forever. And a vehicle turning laterally across the crossing is reported UNKNOWN, not NOT_APPROACHING — because lateral motion alone would otherwise dismiss a genuine turning-vehicle hazard.</a:t>
            </a:r>
            <a:endParaRPr lang="en-US" sz="1250" dirty="0"/>
          </a:p>
        </p:txBody>
      </p:sp>
      <p:sp>
        <p:nvSpPr>
          <p:cNvPr id="19" name="Text 1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Methodology</a:t>
            </a:r>
            <a:endParaRPr lang="en-US" sz="1000" dirty="0"/>
          </a:p>
        </p:txBody>
      </p:sp>
      <p:sp>
        <p:nvSpPr>
          <p:cNvPr id="20" name="Text 1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11 / 17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Confidence asymmetry &amp; hysteresis</a:t>
            </a:r>
            <a:endParaRPr lang="en-US" sz="30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600" b="1" dirty="0">
                <a:solidFill>
                  <a:srgbClr val="1A1F26"/>
                </a:solidFill>
                <a:latin typeface="Cambria" pitchFamily="34" charset="0"/>
                <a:ea typeface="Cambria" pitchFamily="34" charset="-122"/>
                <a:cs typeface="Cambria" pitchFamily="34" charset="-120"/>
              </a:rPr>
              <a:t>Evidence for danger is cheap to accept. Evidence for safety is expensive.</a:t>
            </a:r>
            <a:endParaRPr lang="en-US" sz="1600" dirty="0"/>
          </a:p>
        </p:txBody>
      </p:sp>
      <p:sp>
        <p:nvSpPr>
          <p:cNvPr id="5" name="Shape 3"/>
          <p:cNvSpPr/>
          <p:nvPr/>
        </p:nvSpPr>
        <p:spPr>
          <a:xfrm>
            <a:off x="548640" y="2011680"/>
            <a:ext cx="5212080" cy="1965960"/>
          </a:xfrm>
          <a:prstGeom prst="roundRect">
            <a:avLst>
              <a:gd name="adj" fmla="val 2791"/>
            </a:avLst>
          </a:prstGeom>
          <a:solidFill>
            <a:srgbClr val="F3F4F6"/>
          </a:solidFill>
          <a:ln/>
        </p:spPr>
      </p:sp>
      <p:sp>
        <p:nvSpPr>
          <p:cNvPr id="6" name="Text 4"/>
          <p:cNvSpPr txBox="1"/>
          <p:nvPr/>
        </p:nvSpPr>
        <p:spPr>
          <a:xfrm>
            <a:off x="822960" y="2194560"/>
            <a:ext cx="4663440" cy="320040"/>
          </a:xfrm>
          <a:prstGeom prst="rect">
            <a:avLst/>
          </a:prstGeom>
          <a:noFill/>
          <a:ln/>
        </p:spPr>
        <p:txBody>
          <a:bodyPr wrap="square" lIns="0" tIns="0" rIns="0" bIns="0" rtlCol="0" anchor="ctr"/>
          <a:lstStyle/>
          <a:p>
            <a:pPr indent="0" marL="0">
              <a:buNone/>
            </a:pPr>
            <a:r>
              <a:rPr lang="en-US" sz="1300" b="1" dirty="0">
                <a:solidFill>
                  <a:srgbClr val="1A1F26"/>
                </a:solidFill>
                <a:latin typeface="Calibri" pitchFamily="34" charset="0"/>
                <a:ea typeface="Calibri" pitchFamily="34" charset="-122"/>
                <a:cs typeface="Calibri" pitchFamily="34" charset="-120"/>
              </a:rPr>
              <a:t>Confidence gate</a:t>
            </a:r>
            <a:endParaRPr lang="en-US" sz="1300" dirty="0"/>
          </a:p>
        </p:txBody>
      </p:sp>
      <p:sp>
        <p:nvSpPr>
          <p:cNvPr id="7" name="Text 5"/>
          <p:cNvSpPr txBox="1"/>
          <p:nvPr/>
        </p:nvSpPr>
        <p:spPr>
          <a:xfrm>
            <a:off x="822960" y="2560320"/>
            <a:ext cx="4663440" cy="1234440"/>
          </a:xfrm>
          <a:prstGeom prst="rect">
            <a:avLst/>
          </a:prstGeom>
          <a:noFill/>
          <a:ln/>
        </p:spPr>
        <p:txBody>
          <a:bodyPr wrap="square" lIns="0" tIns="0" rIns="0" bIns="0" rtlCol="0" anchor="ctr"/>
          <a:lstStyle/>
          <a:p>
            <a:pPr indent="0" marL="0">
              <a:lnSpc>
                <a:spcPct val="130000"/>
              </a:lnSpc>
              <a:buNone/>
            </a:pPr>
            <a:r>
              <a:rPr lang="en-US" sz="1300" b="1" dirty="0">
                <a:solidFill>
                  <a:srgbClr val="C0362C"/>
                </a:solidFill>
                <a:latin typeface="Calibri" pitchFamily="34" charset="0"/>
                <a:ea typeface="Calibri" pitchFamily="34" charset="-122"/>
                <a:cs typeface="Calibri" pitchFamily="34" charset="-120"/>
              </a:rPr>
              <a:t>signal_red</a:t>
            </a:r>
            <a:pPr indent="0" marL="0">
              <a:lnSpc>
                <a:spcPct val="130000"/>
              </a:lnSpc>
              <a:buNone/>
            </a:pPr>
            <a:r>
              <a:rPr lang="en-US" sz="1300" dirty="0">
                <a:solidFill>
                  <a:srgbClr val="1A1F26"/>
                </a:solidFill>
                <a:latin typeface="Calibri" pitchFamily="34" charset="0"/>
                <a:ea typeface="Calibri" pitchFamily="34" charset="-122"/>
                <a:cs typeface="Calibri" pitchFamily="34" charset="-120"/>
              </a:rPr>
              <a:t>: trusted at ANY confidence.
</a:t>
            </a:r>
            <a:pPr indent="0" marL="0">
              <a:lnSpc>
                <a:spcPct val="130000"/>
              </a:lnSpc>
              <a:buNone/>
            </a:pPr>
            <a:r>
              <a:rPr lang="en-US" sz="1300" b="1" dirty="0">
                <a:solidFill>
                  <a:srgbClr val="1E7A46"/>
                </a:solidFill>
                <a:latin typeface="Calibri" pitchFamily="34" charset="0"/>
                <a:ea typeface="Calibri" pitchFamily="34" charset="-122"/>
                <a:cs typeface="Calibri" pitchFamily="34" charset="-120"/>
              </a:rPr>
              <a:t>crosswalk, signal_green</a:t>
            </a:r>
            <a:pPr indent="0" marL="0">
              <a:lnSpc>
                <a:spcPct val="130000"/>
              </a:lnSpc>
              <a:buNone/>
            </a:pPr>
            <a:r>
              <a:rPr lang="en-US" sz="1300" dirty="0">
                <a:solidFill>
                  <a:srgbClr val="1A1F26"/>
                </a:solidFill>
                <a:latin typeface="Calibri" pitchFamily="34" charset="0"/>
                <a:ea typeface="Calibri" pitchFamily="34" charset="-122"/>
                <a:cs typeface="Calibri" pitchFamily="34" charset="-120"/>
              </a:rPr>
              <a:t>: trusted only above 0.6 confidence — these are the only classes that can push toward SAFE.</a:t>
            </a:r>
            <a:endParaRPr lang="en-US" sz="1300" dirty="0"/>
          </a:p>
        </p:txBody>
      </p:sp>
      <p:sp>
        <p:nvSpPr>
          <p:cNvPr id="8" name="Shape 6"/>
          <p:cNvSpPr/>
          <p:nvPr/>
        </p:nvSpPr>
        <p:spPr>
          <a:xfrm>
            <a:off x="6217920" y="2011680"/>
            <a:ext cx="5212080" cy="1965960"/>
          </a:xfrm>
          <a:prstGeom prst="roundRect">
            <a:avLst>
              <a:gd name="adj" fmla="val 2791"/>
            </a:avLst>
          </a:prstGeom>
          <a:solidFill>
            <a:srgbClr val="F3F4F6"/>
          </a:solidFill>
          <a:ln/>
        </p:spPr>
      </p:sp>
      <p:sp>
        <p:nvSpPr>
          <p:cNvPr id="9" name="Text 7"/>
          <p:cNvSpPr txBox="1"/>
          <p:nvPr/>
        </p:nvSpPr>
        <p:spPr>
          <a:xfrm>
            <a:off x="6492240" y="2194560"/>
            <a:ext cx="4663440" cy="320040"/>
          </a:xfrm>
          <a:prstGeom prst="rect">
            <a:avLst/>
          </a:prstGeom>
          <a:noFill/>
          <a:ln/>
        </p:spPr>
        <p:txBody>
          <a:bodyPr wrap="square" lIns="0" tIns="0" rIns="0" bIns="0" rtlCol="0" anchor="ctr"/>
          <a:lstStyle/>
          <a:p>
            <a:pPr indent="0" marL="0">
              <a:buNone/>
            </a:pPr>
            <a:r>
              <a:rPr lang="en-US" sz="1300" b="1" dirty="0">
                <a:solidFill>
                  <a:srgbClr val="1A1F26"/>
                </a:solidFill>
                <a:latin typeface="Calibri" pitchFamily="34" charset="0"/>
                <a:ea typeface="Calibri" pitchFamily="34" charset="-122"/>
                <a:cs typeface="Calibri" pitchFamily="34" charset="-120"/>
              </a:rPr>
              <a:t>Asymmetric hysteresis</a:t>
            </a:r>
            <a:endParaRPr lang="en-US" sz="1300" dirty="0"/>
          </a:p>
        </p:txBody>
      </p:sp>
      <p:sp>
        <p:nvSpPr>
          <p:cNvPr id="10" name="Text 8"/>
          <p:cNvSpPr txBox="1"/>
          <p:nvPr/>
        </p:nvSpPr>
        <p:spPr>
          <a:xfrm>
            <a:off x="6492240" y="2560320"/>
            <a:ext cx="4663440" cy="1234440"/>
          </a:xfrm>
          <a:prstGeom prst="rect">
            <a:avLst/>
          </a:prstGeom>
          <a:noFill/>
          <a:ln/>
        </p:spPr>
        <p:txBody>
          <a:bodyPr wrap="square" lIns="0" tIns="0" rIns="0" bIns="0" rtlCol="0" anchor="ctr"/>
          <a:lstStyle/>
          <a:p>
            <a:pPr indent="0" marL="0">
              <a:lnSpc>
                <a:spcPct val="130000"/>
              </a:lnSpc>
              <a:buNone/>
            </a:pPr>
            <a:r>
              <a:rPr lang="en-US" sz="1300" b="1" dirty="0">
                <a:solidFill>
                  <a:srgbClr val="1E7A46"/>
                </a:solidFill>
                <a:latin typeface="Calibri" pitchFamily="34" charset="0"/>
                <a:ea typeface="Calibri" pitchFamily="34" charset="-122"/>
                <a:cs typeface="Calibri" pitchFamily="34" charset="-120"/>
              </a:rPr>
              <a:t>Entering SAFE</a:t>
            </a:r>
            <a:pPr indent="0" marL="0">
              <a:lnSpc>
                <a:spcPct val="130000"/>
              </a:lnSpc>
              <a:buNone/>
            </a:pPr>
            <a:r>
              <a:rPr lang="en-US" sz="1300" dirty="0">
                <a:solidFill>
                  <a:srgbClr val="1A1F26"/>
                </a:solidFill>
                <a:latin typeface="Calibri" pitchFamily="34" charset="0"/>
                <a:ea typeface="Calibri" pitchFamily="34" charset="-122"/>
                <a:cs typeface="Calibri" pitchFamily="34" charset="-120"/>
              </a:rPr>
              <a:t>: requires 8 consecutive agreeing frames.
</a:t>
            </a:r>
            <a:pPr indent="0" marL="0">
              <a:lnSpc>
                <a:spcPct val="130000"/>
              </a:lnSpc>
              <a:buNone/>
            </a:pPr>
            <a:r>
              <a:rPr lang="en-US" sz="1300" b="1" dirty="0">
                <a:solidFill>
                  <a:srgbClr val="C0362C"/>
                </a:solidFill>
                <a:latin typeface="Calibri" pitchFamily="34" charset="0"/>
                <a:ea typeface="Calibri" pitchFamily="34" charset="-122"/>
                <a:cs typeface="Calibri" pitchFamily="34" charset="-120"/>
              </a:rPr>
              <a:t>Leaving SAFE</a:t>
            </a:r>
            <a:pPr indent="0" marL="0">
              <a:lnSpc>
                <a:spcPct val="130000"/>
              </a:lnSpc>
              <a:buNone/>
            </a:pPr>
            <a:r>
              <a:rPr lang="en-US" sz="1300" dirty="0">
                <a:solidFill>
                  <a:srgbClr val="1A1F26"/>
                </a:solidFill>
                <a:latin typeface="Calibri" pitchFamily="34" charset="0"/>
                <a:ea typeface="Calibri" pitchFamily="34" charset="-122"/>
                <a:cs typeface="Calibri" pitchFamily="34" charset="-120"/>
              </a:rPr>
              <a:t>: immediate, on the very next frame.</a:t>
            </a:r>
            <a:endParaRPr lang="en-US" sz="1300" dirty="0"/>
          </a:p>
        </p:txBody>
      </p:sp>
      <p:sp>
        <p:nvSpPr>
          <p:cNvPr id="11" name="Text 9"/>
          <p:cNvSpPr txBox="1"/>
          <p:nvPr/>
        </p:nvSpPr>
        <p:spPr>
          <a:xfrm>
            <a:off x="548640" y="4297680"/>
            <a:ext cx="11094415" cy="457200"/>
          </a:xfrm>
          <a:prstGeom prst="rect">
            <a:avLst/>
          </a:prstGeom>
          <a:noFill/>
          <a:ln/>
        </p:spPr>
        <p:txBody>
          <a:bodyPr wrap="square" lIns="0" tIns="0" rIns="0" bIns="0" rtlCol="0" anchor="ctr"/>
          <a:lstStyle/>
          <a:p>
            <a:pPr algn="ctr" indent="0" marL="0">
              <a:buNone/>
            </a:pPr>
            <a:r>
              <a:rPr lang="en-US" sz="2000" b="1" dirty="0">
                <a:solidFill>
                  <a:srgbClr val="D97706"/>
                </a:solidFill>
                <a:latin typeface="Cambria" pitchFamily="34" charset="0"/>
                <a:ea typeface="Cambria" pitchFamily="34" charset="-122"/>
                <a:cs typeface="Cambria" pitchFamily="34" charset="-120"/>
              </a:rPr>
              <a:t>Slow to permit. Instant to withdraw.</a:t>
            </a:r>
            <a:endParaRPr lang="en-US" sz="2000" dirty="0"/>
          </a:p>
        </p:txBody>
      </p:sp>
      <p:sp>
        <p:nvSpPr>
          <p:cNvPr id="12" name="Text 10"/>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Methodology</a:t>
            </a:r>
            <a:endParaRPr lang="en-US" sz="1000" dirty="0"/>
          </a:p>
        </p:txBody>
      </p:sp>
      <p:sp>
        <p:nvSpPr>
          <p:cNvPr id="13" name="Text 1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12 / 17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Frame skipping without faking evidence</a:t>
            </a:r>
            <a:endParaRPr lang="en-US" sz="3000" dirty="0"/>
          </a:p>
        </p:txBody>
      </p:sp>
      <p:sp>
        <p:nvSpPr>
          <p:cNvPr id="4" name="Text 2"/>
          <p:cNvSpPr txBox="1"/>
          <p:nvPr/>
        </p:nvSpPr>
        <p:spPr>
          <a:xfrm>
            <a:off x="548640" y="1481328"/>
            <a:ext cx="11094415" cy="365760"/>
          </a:xfrm>
          <a:prstGeom prst="rect">
            <a:avLst/>
          </a:prstGeom>
          <a:noFill/>
          <a:ln/>
        </p:spPr>
        <p:txBody>
          <a:bodyPr wrap="square" lIns="0" tIns="0" rIns="0" bIns="0" rtlCol="0" anchor="ctr"/>
          <a:lstStyle/>
          <a:p>
            <a:pPr indent="0" marL="0">
              <a:buNone/>
            </a:pPr>
            <a:r>
              <a:rPr lang="en-US" sz="1400" dirty="0">
                <a:solidFill>
                  <a:srgbClr val="4A5560"/>
                </a:solidFill>
                <a:latin typeface="Calibri" pitchFamily="34" charset="0"/>
                <a:ea typeface="Calibri" pitchFamily="34" charset="-122"/>
                <a:cs typeface="Calibri" pitchFamily="34" charset="-120"/>
              </a:rPr>
              <a:t>Detector runs every Nth frame (default N=2) to hit the fps target on CPU.</a:t>
            </a:r>
            <a:endParaRPr lang="en-US" sz="1400" dirty="0"/>
          </a:p>
        </p:txBody>
      </p:sp>
      <p:graphicFrame>
        <p:nvGraphicFramePr>
          <p:cNvPr id="5" name="Chart 0" descr=""/>
          <p:cNvGraphicFramePr/>
          <p:nvPr/>
        </p:nvGraphicFramePr>
        <p:xfrm>
          <a:off x="548640" y="1920240"/>
          <a:ext cx="5120640" cy="228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251960"/>
            <a:ext cx="5120640" cy="274320"/>
          </a:xfrm>
          <a:prstGeom prst="rect">
            <a:avLst/>
          </a:prstGeom>
          <a:noFill/>
          <a:ln/>
        </p:spPr>
        <p:txBody>
          <a:bodyPr wrap="square" lIns="0" tIns="0" rIns="0" bIns="0" rtlCol="0" anchor="ctr"/>
          <a:lstStyle/>
          <a:p>
            <a:pPr indent="0" marL="0">
              <a:buNone/>
            </a:pPr>
            <a:r>
              <a:rPr lang="en-US" sz="1050" i="1" dirty="0">
                <a:solidFill>
                  <a:srgbClr val="4A5560"/>
                </a:solidFill>
                <a:latin typeface="Calibri" pitchFamily="34" charset="0"/>
                <a:ea typeface="Calibri" pitchFamily="34" charset="-122"/>
                <a:cs typeface="Calibri" pitchFamily="34" charset="-120"/>
              </a:rPr>
              <a:t>Measured on a 1920×1080 clip, headless, imgsz 960.</a:t>
            </a:r>
            <a:endParaRPr lang="en-US" sz="1050" dirty="0"/>
          </a:p>
        </p:txBody>
      </p:sp>
      <p:sp>
        <p:nvSpPr>
          <p:cNvPr id="7" name="Shape 4"/>
          <p:cNvSpPr/>
          <p:nvPr/>
        </p:nvSpPr>
        <p:spPr>
          <a:xfrm>
            <a:off x="6035040" y="1920240"/>
            <a:ext cx="5608015" cy="3566160"/>
          </a:xfrm>
          <a:prstGeom prst="roundRect">
            <a:avLst>
              <a:gd name="adj" fmla="val 1538"/>
            </a:avLst>
          </a:prstGeom>
          <a:solidFill>
            <a:srgbClr val="1A1F26"/>
          </a:solidFill>
          <a:ln/>
        </p:spPr>
      </p:sp>
      <p:sp>
        <p:nvSpPr>
          <p:cNvPr id="8" name="Text 5"/>
          <p:cNvSpPr txBox="1"/>
          <p:nvPr/>
        </p:nvSpPr>
        <p:spPr>
          <a:xfrm>
            <a:off x="6309360" y="2103120"/>
            <a:ext cx="5059375" cy="502920"/>
          </a:xfrm>
          <a:prstGeom prst="rect">
            <a:avLst/>
          </a:prstGeom>
          <a:noFill/>
          <a:ln/>
        </p:spPr>
        <p:txBody>
          <a:bodyPr wrap="square" lIns="0" tIns="0" rIns="0" bIns="0" rtlCol="0" anchor="ctr"/>
          <a:lstStyle/>
          <a:p>
            <a:pPr indent="0" marL="0">
              <a:lnSpc>
                <a:spcPct val="115000"/>
              </a:lnSpc>
              <a:buNone/>
            </a:pPr>
            <a:r>
              <a:rPr lang="en-US" sz="1300" b="1" dirty="0">
                <a:solidFill>
                  <a:srgbClr val="D97706"/>
                </a:solidFill>
                <a:latin typeface="Calibri" pitchFamily="34" charset="0"/>
                <a:ea typeface="Calibri" pitchFamily="34" charset="-122"/>
                <a:cs typeface="Calibri" pitchFamily="34" charset="-120"/>
              </a:rPr>
              <a:t>What does NOT run on skipped frames — and why</a:t>
            </a:r>
            <a:endParaRPr lang="en-US" sz="1300" dirty="0"/>
          </a:p>
        </p:txBody>
      </p:sp>
      <p:sp>
        <p:nvSpPr>
          <p:cNvPr id="9" name="Text 6"/>
          <p:cNvSpPr txBox="1"/>
          <p:nvPr/>
        </p:nvSpPr>
        <p:spPr>
          <a:xfrm>
            <a:off x="6309360" y="2697480"/>
            <a:ext cx="5059375" cy="2651760"/>
          </a:xfrm>
          <a:prstGeom prst="rect">
            <a:avLst/>
          </a:prstGeom>
          <a:noFill/>
          <a:ln/>
        </p:spPr>
        <p:txBody>
          <a:bodyPr wrap="square" lIns="0" tIns="0" rIns="0" bIns="0" rtlCol="0" anchor="ctr"/>
          <a:lstStyle/>
          <a:p>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Tracker &amp; decision logic</a:t>
            </a:r>
            <a:pPr indent="0" marL="0">
              <a:lnSpc>
                <a:spcPct val="130000"/>
              </a:lnSpc>
              <a:buNone/>
            </a:pPr>
            <a:r>
              <a:rPr lang="en-US" sz="1300" dirty="0">
                <a:solidFill>
                  <a:srgbClr val="C9D0D8"/>
                </a:solidFill>
                <a:latin typeface="Calibri" pitchFamily="34" charset="0"/>
                <a:ea typeface="Calibri" pitchFamily="34" charset="-122"/>
                <a:cs typeface="Calibri" pitchFamily="34" charset="-120"/>
              </a:rPr>
              <a:t> do not re-run on a carried-forward detection.
</a:t>
            </a:r>
            <a:pPr indent="0" marL="0">
              <a:lnSpc>
                <a:spcPct val="130000"/>
              </a:lnSpc>
              <a:buNone/>
            </a:pPr>
            <a:r>
              <a:rPr lang="en-US" sz="1300" dirty="0">
                <a:solidFill>
                  <a:srgbClr val="C9D0D8"/>
                </a:solidFill>
                <a:latin typeface="Calibri" pitchFamily="34" charset="0"/>
                <a:ea typeface="Calibri" pitchFamily="34" charset="-122"/>
                <a:cs typeface="Calibri" pitchFamily="34" charset="-120"/>
              </a:rPr>
              <a:t>Re-feeding an identical box at a later timestamp would inject fake zero-growth into the TTC fit — making an approaching vehicle look slower than it is.</a:t>
            </a:r>
            <a:pPr indent="0" marL="0">
              <a:lnSpc>
                <a:spcPct val="130000"/>
              </a:lnSpc>
              <a:buNone/>
            </a:pPr>
            <a:endParaRPr lang="en-US" sz="1300" dirty="0"/>
          </a:p>
          <a:p>
            <a:pPr indent="0" marL="0">
              <a:lnSpc>
                <a:spcPct val="130000"/>
              </a:lnSpc>
              <a:buNone/>
            </a:pPr>
            <a:endParaRPr lang="en-US" sz="1300" dirty="0"/>
          </a:p>
          <a:p>
            <a:pPr indent="0" marL="0">
              <a:lnSpc>
                <a:spcPct val="130000"/>
              </a:lnSpc>
              <a:buNone/>
            </a:pPr>
            <a:r>
              <a:rPr lang="en-US" sz="1300" b="1" dirty="0">
                <a:solidFill>
                  <a:srgbClr val="D97706"/>
                </a:solidFill>
                <a:latin typeface="Calibri" pitchFamily="34" charset="0"/>
                <a:ea typeface="Calibri" pitchFamily="34" charset="-122"/>
                <a:cs typeface="Calibri" pitchFamily="34" charset="-120"/>
              </a:rPr>
              <a:t>That's optimistic. The one direction this system must never take.</a:t>
            </a:r>
            <a:endParaRPr lang="en-US" sz="1300" dirty="0"/>
          </a:p>
        </p:txBody>
      </p:sp>
      <p:sp>
        <p:nvSpPr>
          <p:cNvPr id="10" name="Text 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Methodology</a:t>
            </a:r>
            <a:endParaRPr lang="en-US" sz="10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13 / 17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SYSTEM ARCHITECTURE</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End-to-end pipeline</a:t>
            </a:r>
            <a:endParaRPr lang="en-US" sz="3000" dirty="0"/>
          </a:p>
        </p:txBody>
      </p:sp>
      <p:sp>
        <p:nvSpPr>
          <p:cNvPr id="4" name="Shape 2"/>
          <p:cNvSpPr/>
          <p:nvPr/>
        </p:nvSpPr>
        <p:spPr>
          <a:xfrm>
            <a:off x="751180" y="1965960"/>
            <a:ext cx="1417320" cy="960120"/>
          </a:xfrm>
          <a:prstGeom prst="roundRect">
            <a:avLst>
              <a:gd name="adj" fmla="val 6667"/>
            </a:avLst>
          </a:prstGeom>
          <a:solidFill>
            <a:srgbClr val="F3F4F6"/>
          </a:solidFill>
          <a:ln/>
          <a:effectLst>
            <a:outerShdw sx="100000" sy="100000" kx="0" ky="0" algn="bl" rotWithShape="0" blurRad="76200" dist="25400" dir="5400000">
              <a:srgbClr val="8A94A0">
                <a:alpha val="18000"/>
              </a:srgbClr>
            </a:outerShdw>
          </a:effectLst>
        </p:spPr>
      </p:sp>
      <p:sp>
        <p:nvSpPr>
          <p:cNvPr id="5" name="Text 3"/>
          <p:cNvSpPr txBox="1"/>
          <p:nvPr/>
        </p:nvSpPr>
        <p:spPr>
          <a:xfrm>
            <a:off x="751180" y="1965960"/>
            <a:ext cx="1417320" cy="960120"/>
          </a:xfrm>
          <a:prstGeom prst="rect">
            <a:avLst/>
          </a:prstGeom>
          <a:noFill/>
          <a:ln/>
        </p:spPr>
        <p:txBody>
          <a:bodyPr wrap="square" lIns="0" tIns="0" rIns="0" bIns="0" rtlCol="0" anchor="ctr"/>
          <a:lstStyle/>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Camera</a:t>
            </a:r>
            <a:endParaRPr lang="en-US" sz="1150" dirty="0"/>
          </a:p>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feed</a:t>
            </a:r>
            <a:endParaRPr lang="en-US" sz="1150" dirty="0"/>
          </a:p>
        </p:txBody>
      </p:sp>
      <p:sp>
        <p:nvSpPr>
          <p:cNvPr id="6" name="Text 4"/>
          <p:cNvSpPr txBox="1"/>
          <p:nvPr/>
        </p:nvSpPr>
        <p:spPr>
          <a:xfrm>
            <a:off x="2168500" y="1965960"/>
            <a:ext cx="146304" cy="960120"/>
          </a:xfrm>
          <a:prstGeom prst="rect">
            <a:avLst/>
          </a:prstGeom>
          <a:noFill/>
          <a:ln/>
        </p:spPr>
        <p:txBody>
          <a:bodyPr wrap="square" lIns="0" tIns="0" rIns="0" bIns="0" rtlCol="0" anchor="ctr"/>
          <a:lstStyle/>
          <a:p>
            <a:pPr algn="ctr" indent="0" marL="0">
              <a:buNone/>
            </a:pPr>
            <a:r>
              <a:rPr lang="en-US" sz="1600" dirty="0">
                <a:solidFill>
                  <a:srgbClr val="4A5560"/>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296516" y="1965960"/>
            <a:ext cx="1417320" cy="960120"/>
          </a:xfrm>
          <a:prstGeom prst="roundRect">
            <a:avLst>
              <a:gd name="adj" fmla="val 6667"/>
            </a:avLst>
          </a:prstGeom>
          <a:solidFill>
            <a:srgbClr val="F3F4F6"/>
          </a:solidFill>
          <a:ln/>
          <a:effectLst>
            <a:outerShdw sx="100000" sy="100000" kx="0" ky="0" algn="bl" rotWithShape="0" blurRad="76200" dist="25400" dir="5400000">
              <a:srgbClr val="8A94A0">
                <a:alpha val="18000"/>
              </a:srgbClr>
            </a:outerShdw>
          </a:effectLst>
        </p:spPr>
      </p:sp>
      <p:sp>
        <p:nvSpPr>
          <p:cNvPr id="8" name="Text 6"/>
          <p:cNvSpPr txBox="1"/>
          <p:nvPr/>
        </p:nvSpPr>
        <p:spPr>
          <a:xfrm>
            <a:off x="2296516" y="1965960"/>
            <a:ext cx="1417320" cy="960120"/>
          </a:xfrm>
          <a:prstGeom prst="rect">
            <a:avLst/>
          </a:prstGeom>
          <a:noFill/>
          <a:ln/>
        </p:spPr>
        <p:txBody>
          <a:bodyPr wrap="square" lIns="0" tIns="0" rIns="0" bIns="0" rtlCol="0" anchor="ctr"/>
          <a:lstStyle/>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Detector</a:t>
            </a:r>
            <a:endParaRPr lang="en-US" sz="1150" dirty="0"/>
          </a:p>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(YOLOv8, 960px)</a:t>
            </a:r>
            <a:endParaRPr lang="en-US" sz="1150" dirty="0"/>
          </a:p>
        </p:txBody>
      </p:sp>
      <p:sp>
        <p:nvSpPr>
          <p:cNvPr id="9" name="Text 7"/>
          <p:cNvSpPr txBox="1"/>
          <p:nvPr/>
        </p:nvSpPr>
        <p:spPr>
          <a:xfrm>
            <a:off x="3713836" y="1965960"/>
            <a:ext cx="146304" cy="960120"/>
          </a:xfrm>
          <a:prstGeom prst="rect">
            <a:avLst/>
          </a:prstGeom>
          <a:noFill/>
          <a:ln/>
        </p:spPr>
        <p:txBody>
          <a:bodyPr wrap="square" lIns="0" tIns="0" rIns="0" bIns="0" rtlCol="0" anchor="ctr"/>
          <a:lstStyle/>
          <a:p>
            <a:pPr algn="ctr" indent="0" marL="0">
              <a:buNone/>
            </a:pPr>
            <a:r>
              <a:rPr lang="en-US" sz="1600" dirty="0">
                <a:solidFill>
                  <a:srgbClr val="4A556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841852" y="1965960"/>
            <a:ext cx="1417320" cy="960120"/>
          </a:xfrm>
          <a:prstGeom prst="roundRect">
            <a:avLst>
              <a:gd name="adj" fmla="val 6667"/>
            </a:avLst>
          </a:prstGeom>
          <a:solidFill>
            <a:srgbClr val="F3F4F6"/>
          </a:solidFill>
          <a:ln/>
          <a:effectLst>
            <a:outerShdw sx="100000" sy="100000" kx="0" ky="0" algn="bl" rotWithShape="0" blurRad="76200" dist="25400" dir="5400000">
              <a:srgbClr val="8A94A0">
                <a:alpha val="18000"/>
              </a:srgbClr>
            </a:outerShdw>
          </a:effectLst>
        </p:spPr>
      </p:sp>
      <p:sp>
        <p:nvSpPr>
          <p:cNvPr id="11" name="Text 9"/>
          <p:cNvSpPr txBox="1"/>
          <p:nvPr/>
        </p:nvSpPr>
        <p:spPr>
          <a:xfrm>
            <a:off x="3841852" y="1965960"/>
            <a:ext cx="1417320" cy="960120"/>
          </a:xfrm>
          <a:prstGeom prst="rect">
            <a:avLst/>
          </a:prstGeom>
          <a:noFill/>
          <a:ln/>
        </p:spPr>
        <p:txBody>
          <a:bodyPr wrap="square" lIns="0" tIns="0" rIns="0" bIns="0" rtlCol="0" anchor="ctr"/>
          <a:lstStyle/>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Tracker</a:t>
            </a:r>
            <a:endParaRPr lang="en-US" sz="1150" dirty="0"/>
          </a:p>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(ByteTrack)</a:t>
            </a:r>
            <a:endParaRPr lang="en-US" sz="1150" dirty="0"/>
          </a:p>
        </p:txBody>
      </p:sp>
      <p:sp>
        <p:nvSpPr>
          <p:cNvPr id="12" name="Text 10"/>
          <p:cNvSpPr txBox="1"/>
          <p:nvPr/>
        </p:nvSpPr>
        <p:spPr>
          <a:xfrm>
            <a:off x="5259172" y="1965960"/>
            <a:ext cx="146304" cy="960120"/>
          </a:xfrm>
          <a:prstGeom prst="rect">
            <a:avLst/>
          </a:prstGeom>
          <a:noFill/>
          <a:ln/>
        </p:spPr>
        <p:txBody>
          <a:bodyPr wrap="square" lIns="0" tIns="0" rIns="0" bIns="0" rtlCol="0" anchor="ctr"/>
          <a:lstStyle/>
          <a:p>
            <a:pPr algn="ctr" indent="0" marL="0">
              <a:buNone/>
            </a:pPr>
            <a:r>
              <a:rPr lang="en-US" sz="1600" dirty="0">
                <a:solidFill>
                  <a:srgbClr val="4A5560"/>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387188" y="1965960"/>
            <a:ext cx="1417320" cy="960120"/>
          </a:xfrm>
          <a:prstGeom prst="roundRect">
            <a:avLst>
              <a:gd name="adj" fmla="val 6667"/>
            </a:avLst>
          </a:prstGeom>
          <a:solidFill>
            <a:srgbClr val="F3F4F6"/>
          </a:solidFill>
          <a:ln/>
          <a:effectLst>
            <a:outerShdw sx="100000" sy="100000" kx="0" ky="0" algn="bl" rotWithShape="0" blurRad="76200" dist="25400" dir="5400000">
              <a:srgbClr val="8A94A0">
                <a:alpha val="18000"/>
              </a:srgbClr>
            </a:outerShdw>
          </a:effectLst>
        </p:spPr>
      </p:sp>
      <p:sp>
        <p:nvSpPr>
          <p:cNvPr id="14" name="Text 12"/>
          <p:cNvSpPr txBox="1"/>
          <p:nvPr/>
        </p:nvSpPr>
        <p:spPr>
          <a:xfrm>
            <a:off x="5387188" y="1965960"/>
            <a:ext cx="1417320" cy="960120"/>
          </a:xfrm>
          <a:prstGeom prst="rect">
            <a:avLst/>
          </a:prstGeom>
          <a:noFill/>
          <a:ln/>
        </p:spPr>
        <p:txBody>
          <a:bodyPr wrap="square" lIns="0" tIns="0" rIns="0" bIns="0" rtlCol="0" anchor="ctr"/>
          <a:lstStyle/>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TTC</a:t>
            </a:r>
            <a:endParaRPr lang="en-US" sz="1150" dirty="0"/>
          </a:p>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Estimator</a:t>
            </a:r>
            <a:endParaRPr lang="en-US" sz="1150" dirty="0"/>
          </a:p>
        </p:txBody>
      </p:sp>
      <p:sp>
        <p:nvSpPr>
          <p:cNvPr id="15" name="Text 13"/>
          <p:cNvSpPr txBox="1"/>
          <p:nvPr/>
        </p:nvSpPr>
        <p:spPr>
          <a:xfrm>
            <a:off x="6804508" y="1965960"/>
            <a:ext cx="146304" cy="960120"/>
          </a:xfrm>
          <a:prstGeom prst="rect">
            <a:avLst/>
          </a:prstGeom>
          <a:noFill/>
          <a:ln/>
        </p:spPr>
        <p:txBody>
          <a:bodyPr wrap="square" lIns="0" tIns="0" rIns="0" bIns="0" rtlCol="0" anchor="ctr"/>
          <a:lstStyle/>
          <a:p>
            <a:pPr algn="ctr" indent="0" marL="0">
              <a:buNone/>
            </a:pPr>
            <a:r>
              <a:rPr lang="en-US" sz="1600" dirty="0">
                <a:solidFill>
                  <a:srgbClr val="4A556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932524" y="1965960"/>
            <a:ext cx="1417320" cy="960120"/>
          </a:xfrm>
          <a:prstGeom prst="roundRect">
            <a:avLst>
              <a:gd name="adj" fmla="val 6667"/>
            </a:avLst>
          </a:prstGeom>
          <a:solidFill>
            <a:srgbClr val="D97706"/>
          </a:solidFill>
          <a:ln/>
          <a:effectLst>
            <a:outerShdw sx="100000" sy="100000" kx="0" ky="0" algn="bl" rotWithShape="0" blurRad="76200" dist="25400" dir="5400000">
              <a:srgbClr val="8A94A0">
                <a:alpha val="18000"/>
              </a:srgbClr>
            </a:outerShdw>
          </a:effectLst>
        </p:spPr>
      </p:sp>
      <p:sp>
        <p:nvSpPr>
          <p:cNvPr id="17" name="Text 15"/>
          <p:cNvSpPr txBox="1"/>
          <p:nvPr/>
        </p:nvSpPr>
        <p:spPr>
          <a:xfrm>
            <a:off x="6932524" y="1965960"/>
            <a:ext cx="1417320" cy="960120"/>
          </a:xfrm>
          <a:prstGeom prst="rect">
            <a:avLst/>
          </a:prstGeom>
          <a:noFill/>
          <a:ln/>
        </p:spPr>
        <p:txBody>
          <a:bodyPr wrap="square" lIns="0" tIns="0" rIns="0" bIns="0" rtlCol="0" anchor="ctr"/>
          <a:lstStyle/>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p>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Rules</a:t>
            </a:r>
            <a:endParaRPr lang="en-US" sz="1150" dirty="0"/>
          </a:p>
        </p:txBody>
      </p:sp>
      <p:sp>
        <p:nvSpPr>
          <p:cNvPr id="18" name="Text 16"/>
          <p:cNvSpPr txBox="1"/>
          <p:nvPr/>
        </p:nvSpPr>
        <p:spPr>
          <a:xfrm>
            <a:off x="8349844" y="1965960"/>
            <a:ext cx="146304" cy="960120"/>
          </a:xfrm>
          <a:prstGeom prst="rect">
            <a:avLst/>
          </a:prstGeom>
          <a:noFill/>
          <a:ln/>
        </p:spPr>
        <p:txBody>
          <a:bodyPr wrap="square" lIns="0" tIns="0" rIns="0" bIns="0" rtlCol="0" anchor="ctr"/>
          <a:lstStyle/>
          <a:p>
            <a:pPr algn="ctr" indent="0" marL="0">
              <a:buNone/>
            </a:pPr>
            <a:r>
              <a:rPr lang="en-US" sz="1600" dirty="0">
                <a:solidFill>
                  <a:srgbClr val="4A5560"/>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8477860" y="1965960"/>
            <a:ext cx="1417320" cy="960120"/>
          </a:xfrm>
          <a:prstGeom prst="roundRect">
            <a:avLst>
              <a:gd name="adj" fmla="val 6667"/>
            </a:avLst>
          </a:prstGeom>
          <a:solidFill>
            <a:srgbClr val="F3F4F6"/>
          </a:solidFill>
          <a:ln/>
          <a:effectLst>
            <a:outerShdw sx="100000" sy="100000" kx="0" ky="0" algn="bl" rotWithShape="0" blurRad="76200" dist="25400" dir="5400000">
              <a:srgbClr val="8A94A0">
                <a:alpha val="18000"/>
              </a:srgbClr>
            </a:outerShdw>
          </a:effectLst>
        </p:spPr>
      </p:sp>
      <p:sp>
        <p:nvSpPr>
          <p:cNvPr id="20" name="Text 18"/>
          <p:cNvSpPr txBox="1"/>
          <p:nvPr/>
        </p:nvSpPr>
        <p:spPr>
          <a:xfrm>
            <a:off x="8477860" y="1965960"/>
            <a:ext cx="1417320" cy="960120"/>
          </a:xfrm>
          <a:prstGeom prst="rect">
            <a:avLst/>
          </a:prstGeom>
          <a:noFill/>
          <a:ln/>
        </p:spPr>
        <p:txBody>
          <a:bodyPr wrap="square" lIns="0" tIns="0" rIns="0" bIns="0" rtlCol="0" anchor="ctr"/>
          <a:lstStyle/>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Hysteresis</a:t>
            </a:r>
            <a:endParaRPr lang="en-US" sz="1150" dirty="0"/>
          </a:p>
        </p:txBody>
      </p:sp>
      <p:sp>
        <p:nvSpPr>
          <p:cNvPr id="21" name="Text 19"/>
          <p:cNvSpPr txBox="1"/>
          <p:nvPr/>
        </p:nvSpPr>
        <p:spPr>
          <a:xfrm>
            <a:off x="9895180" y="1965960"/>
            <a:ext cx="146304" cy="960120"/>
          </a:xfrm>
          <a:prstGeom prst="rect">
            <a:avLst/>
          </a:prstGeom>
          <a:noFill/>
          <a:ln/>
        </p:spPr>
        <p:txBody>
          <a:bodyPr wrap="square" lIns="0" tIns="0" rIns="0" bIns="0" rtlCol="0" anchor="ctr"/>
          <a:lstStyle/>
          <a:p>
            <a:pPr algn="ctr" indent="0" marL="0">
              <a:buNone/>
            </a:pPr>
            <a:r>
              <a:rPr lang="en-US" sz="1600" dirty="0">
                <a:solidFill>
                  <a:srgbClr val="4A5560"/>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10023196" y="1965960"/>
            <a:ext cx="1417320" cy="960120"/>
          </a:xfrm>
          <a:prstGeom prst="roundRect">
            <a:avLst>
              <a:gd name="adj" fmla="val 6667"/>
            </a:avLst>
          </a:prstGeom>
          <a:solidFill>
            <a:srgbClr val="F3F4F6"/>
          </a:solidFill>
          <a:ln/>
          <a:effectLst>
            <a:outerShdw sx="100000" sy="100000" kx="0" ky="0" algn="bl" rotWithShape="0" blurRad="76200" dist="25400" dir="5400000">
              <a:srgbClr val="8A94A0">
                <a:alpha val="18000"/>
              </a:srgbClr>
            </a:outerShdw>
          </a:effectLst>
        </p:spPr>
      </p:sp>
      <p:sp>
        <p:nvSpPr>
          <p:cNvPr id="23" name="Text 21"/>
          <p:cNvSpPr txBox="1"/>
          <p:nvPr/>
        </p:nvSpPr>
        <p:spPr>
          <a:xfrm>
            <a:off x="10023196" y="1965960"/>
            <a:ext cx="1417320" cy="960120"/>
          </a:xfrm>
          <a:prstGeom prst="rect">
            <a:avLst/>
          </a:prstGeom>
          <a:noFill/>
          <a:ln/>
        </p:spPr>
        <p:txBody>
          <a:bodyPr wrap="square" lIns="0" tIns="0" rIns="0" bIns="0" rtlCol="0" anchor="ctr"/>
          <a:lstStyle/>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Audio</a:t>
            </a:r>
            <a:endParaRPr lang="en-US" sz="1150" dirty="0"/>
          </a:p>
          <a:p>
            <a:pPr algn="ctr" indent="0" marL="0">
              <a:lnSpc>
                <a:spcPct val="110000"/>
              </a:lnSpc>
              <a:buNone/>
            </a:pPr>
            <a:r>
              <a:rPr lang="en-US" sz="1150" b="1" dirty="0">
                <a:solidFill>
                  <a:srgbClr val="1A1F26"/>
                </a:solidFill>
                <a:latin typeface="Calibri" pitchFamily="34" charset="0"/>
                <a:ea typeface="Calibri" pitchFamily="34" charset="-122"/>
                <a:cs typeface="Calibri" pitchFamily="34" charset="-120"/>
              </a:rPr>
              <a:t>Output</a:t>
            </a:r>
            <a:endParaRPr lang="en-US" sz="1150" dirty="0"/>
          </a:p>
        </p:txBody>
      </p:sp>
      <p:sp>
        <p:nvSpPr>
          <p:cNvPr id="24" name="Shape 22"/>
          <p:cNvSpPr/>
          <p:nvPr/>
        </p:nvSpPr>
        <p:spPr>
          <a:xfrm>
            <a:off x="7641184" y="2926080"/>
            <a:ext cx="0" cy="594360"/>
          </a:xfrm>
          <a:prstGeom prst="line">
            <a:avLst/>
          </a:prstGeom>
          <a:noFill/>
          <a:ln w="19050">
            <a:solidFill>
              <a:srgbClr val="4A5560"/>
            </a:solidFill>
            <a:prstDash val="dash"/>
          </a:ln>
        </p:spPr>
      </p:sp>
      <p:sp>
        <p:nvSpPr>
          <p:cNvPr id="25" name="Shape 23"/>
          <p:cNvSpPr/>
          <p:nvPr/>
        </p:nvSpPr>
        <p:spPr>
          <a:xfrm>
            <a:off x="6635344" y="3520440"/>
            <a:ext cx="2011680" cy="731520"/>
          </a:xfrm>
          <a:prstGeom prst="roundRect">
            <a:avLst>
              <a:gd name="adj" fmla="val 8750"/>
            </a:avLst>
          </a:prstGeom>
          <a:solidFill>
            <a:srgbClr val="1A1F26"/>
          </a:solidFill>
          <a:ln/>
        </p:spPr>
      </p:sp>
      <p:sp>
        <p:nvSpPr>
          <p:cNvPr id="26" name="Text 24"/>
          <p:cNvSpPr txBox="1"/>
          <p:nvPr/>
        </p:nvSpPr>
        <p:spPr>
          <a:xfrm>
            <a:off x="6635344" y="3520440"/>
            <a:ext cx="201168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SQLite decision log</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(per-frame)</a:t>
            </a:r>
            <a:endParaRPr lang="en-US" sz="1100" dirty="0"/>
          </a:p>
        </p:txBody>
      </p:sp>
      <p:sp>
        <p:nvSpPr>
          <p:cNvPr id="27" name="Text 25"/>
          <p:cNvSpPr txBox="1"/>
          <p:nvPr/>
        </p:nvSpPr>
        <p:spPr>
          <a:xfrm>
            <a:off x="548640" y="5074920"/>
            <a:ext cx="11094415" cy="640080"/>
          </a:xfrm>
          <a:prstGeom prst="rect">
            <a:avLst/>
          </a:prstGeom>
          <a:noFill/>
          <a:ln/>
        </p:spPr>
        <p:txBody>
          <a:bodyPr wrap="square" lIns="0" tIns="0" rIns="0" bIns="0" rtlCol="0" anchor="ctr"/>
          <a:lstStyle/>
          <a:p>
            <a:pPr algn="ctr" indent="0" marL="0">
              <a:lnSpc>
                <a:spcPct val="125000"/>
              </a:lnSpc>
              <a:buNone/>
            </a:pPr>
            <a:r>
              <a:rPr lang="en-US" sz="1250" i="1" dirty="0">
                <a:solidFill>
                  <a:srgbClr val="4A5560"/>
                </a:solidFill>
                <a:latin typeface="Calibri" pitchFamily="34" charset="0"/>
                <a:ea typeface="Calibri" pitchFamily="34" charset="-122"/>
                <a:cs typeface="Calibri" pitchFamily="34" charset="-120"/>
              </a:rPr>
              <a:t>Frame skipping runs the detector every Nth frame only; the tracker, TTC estimator and decision rules process every detector output that exists — never a carried-forward duplicate.</a:t>
            </a:r>
            <a:endParaRPr lang="en-US" sz="1250" dirty="0"/>
          </a:p>
        </p:txBody>
      </p:sp>
      <p:sp>
        <p:nvSpPr>
          <p:cNvPr id="28" name="Text 26"/>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System Architecture</a:t>
            </a:r>
            <a:endParaRPr lang="en-US" sz="1000" dirty="0"/>
          </a:p>
        </p:txBody>
      </p:sp>
      <p:sp>
        <p:nvSpPr>
          <p:cNvPr id="29" name="Text 2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14 / 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WORKFLOW</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Six sequential rules — plain Python, no state machine</a:t>
            </a:r>
            <a:endParaRPr lang="en-US" sz="3000" dirty="0"/>
          </a:p>
        </p:txBody>
      </p:sp>
      <p:sp>
        <p:nvSpPr>
          <p:cNvPr id="4" name="Text 2"/>
          <p:cNvSpPr txBox="1"/>
          <p:nvPr/>
        </p:nvSpPr>
        <p:spPr>
          <a:xfrm>
            <a:off x="548640" y="1417320"/>
            <a:ext cx="11094415" cy="320040"/>
          </a:xfrm>
          <a:prstGeom prst="rect">
            <a:avLst/>
          </a:prstGeom>
          <a:noFill/>
          <a:ln/>
        </p:spPr>
        <p:txBody>
          <a:bodyPr wrap="square" lIns="0" tIns="0" rIns="0" bIns="0" rtlCol="0" anchor="ctr"/>
          <a:lstStyle/>
          <a:p>
            <a:pPr indent="0" marL="0">
              <a:buNone/>
            </a:pPr>
            <a:r>
              <a:rPr lang="en-US" sz="1300" i="1" dirty="0">
                <a:solidFill>
                  <a:srgbClr val="4A5560"/>
                </a:solidFill>
                <a:latin typeface="Calibri" pitchFamily="34" charset="0"/>
                <a:ea typeface="Calibri" pitchFamily="34" charset="-122"/>
                <a:cs typeface="Calibri" pitchFamily="34" charset="-120"/>
              </a:rPr>
              <a:t>Every branch must be explainable in a viva. Rules are checked in order; the first match wins.</a:t>
            </a:r>
            <a:endParaRPr lang="en-US" sz="1300" dirty="0"/>
          </a:p>
        </p:txBody>
      </p:sp>
      <p:sp>
        <p:nvSpPr>
          <p:cNvPr id="5" name="Shape 3"/>
          <p:cNvSpPr/>
          <p:nvPr/>
        </p:nvSpPr>
        <p:spPr>
          <a:xfrm>
            <a:off x="548640" y="1874520"/>
            <a:ext cx="502920" cy="640080"/>
          </a:xfrm>
          <a:prstGeom prst="roundRect">
            <a:avLst>
              <a:gd name="adj" fmla="val 50909"/>
            </a:avLst>
          </a:prstGeom>
          <a:solidFill>
            <a:srgbClr val="1A1F26"/>
          </a:solidFill>
          <a:ln/>
        </p:spPr>
      </p:sp>
      <p:sp>
        <p:nvSpPr>
          <p:cNvPr id="6" name="Text 4"/>
          <p:cNvSpPr txBox="1"/>
          <p:nvPr/>
        </p:nvSpPr>
        <p:spPr>
          <a:xfrm>
            <a:off x="548640" y="1874520"/>
            <a:ext cx="50292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234440" y="1856232"/>
            <a:ext cx="5212080" cy="713232"/>
          </a:xfrm>
          <a:prstGeom prst="rect">
            <a:avLst/>
          </a:prstGeom>
          <a:noFill/>
          <a:ln/>
        </p:spPr>
        <p:txBody>
          <a:bodyPr wrap="square" lIns="0" tIns="0" rIns="0" bIns="0" rtlCol="0" anchor="ctr"/>
          <a:lstStyle/>
          <a:p>
            <a:pPr indent="0" marL="0">
              <a:lnSpc>
                <a:spcPct val="110000"/>
              </a:lnSpc>
              <a:buNone/>
            </a:pPr>
            <a:r>
              <a:rPr lang="en-US" sz="1250" b="1" dirty="0">
                <a:solidFill>
                  <a:srgbClr val="1A1F26"/>
                </a:solidFill>
                <a:latin typeface="Calibri" pitchFamily="34" charset="0"/>
                <a:ea typeface="Calibri" pitchFamily="34" charset="-122"/>
                <a:cs typeface="Calibri" pitchFamily="34" charset="-120"/>
              </a:rPr>
              <a:t>No crosswalk detected</a:t>
            </a:r>
            <a:endParaRPr lang="en-US" sz="1250" dirty="0"/>
          </a:p>
        </p:txBody>
      </p:sp>
      <p:sp>
        <p:nvSpPr>
          <p:cNvPr id="8" name="Shape 6"/>
          <p:cNvSpPr/>
          <p:nvPr/>
        </p:nvSpPr>
        <p:spPr>
          <a:xfrm>
            <a:off x="6583680" y="1911096"/>
            <a:ext cx="1417320" cy="566928"/>
          </a:xfrm>
          <a:prstGeom prst="roundRect">
            <a:avLst>
              <a:gd name="adj" fmla="val 9677"/>
            </a:avLst>
          </a:prstGeom>
          <a:solidFill>
            <a:srgbClr val="4A5560"/>
          </a:solidFill>
          <a:ln/>
        </p:spPr>
      </p:sp>
      <p:sp>
        <p:nvSpPr>
          <p:cNvPr id="9" name="Text 7"/>
          <p:cNvSpPr txBox="1"/>
          <p:nvPr/>
        </p:nvSpPr>
        <p:spPr>
          <a:xfrm>
            <a:off x="6583680" y="1911096"/>
            <a:ext cx="141732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SEARCHING</a:t>
            </a:r>
            <a:endParaRPr lang="en-US" sz="1150" dirty="0"/>
          </a:p>
        </p:txBody>
      </p:sp>
      <p:sp>
        <p:nvSpPr>
          <p:cNvPr id="10" name="Text 8"/>
          <p:cNvSpPr txBox="1"/>
          <p:nvPr/>
        </p:nvSpPr>
        <p:spPr>
          <a:xfrm>
            <a:off x="8183880" y="1856232"/>
            <a:ext cx="3459175" cy="713232"/>
          </a:xfrm>
          <a:prstGeom prst="rect">
            <a:avLst/>
          </a:prstGeom>
          <a:noFill/>
          <a:ln/>
        </p:spPr>
        <p:txBody>
          <a:bodyPr wrap="square" lIns="0" tIns="0" rIns="0" bIns="0" rtlCol="0" anchor="ctr"/>
          <a:lstStyle/>
          <a:p>
            <a:pPr indent="0" marL="0">
              <a:lnSpc>
                <a:spcPct val="115000"/>
              </a:lnSpc>
              <a:buNone/>
            </a:pPr>
            <a:r>
              <a:rPr lang="en-US" sz="1080" dirty="0">
                <a:solidFill>
                  <a:srgbClr val="4A5560"/>
                </a:solidFill>
                <a:latin typeface="Calibri" pitchFamily="34" charset="0"/>
                <a:ea typeface="Calibri" pitchFamily="34" charset="-122"/>
                <a:cs typeface="Calibri" pitchFamily="34" charset="-120"/>
              </a:rPr>
              <a:t>Nothing else is evaluated without a known legal crossing point</a:t>
            </a:r>
            <a:endParaRPr lang="en-US" sz="1080" dirty="0"/>
          </a:p>
        </p:txBody>
      </p:sp>
      <p:sp>
        <p:nvSpPr>
          <p:cNvPr id="11" name="Shape 9"/>
          <p:cNvSpPr/>
          <p:nvPr/>
        </p:nvSpPr>
        <p:spPr>
          <a:xfrm>
            <a:off x="548640" y="2642616"/>
            <a:ext cx="502920" cy="640080"/>
          </a:xfrm>
          <a:prstGeom prst="roundRect">
            <a:avLst>
              <a:gd name="adj" fmla="val 50909"/>
            </a:avLst>
          </a:prstGeom>
          <a:solidFill>
            <a:srgbClr val="1A1F26"/>
          </a:solidFill>
          <a:ln/>
        </p:spPr>
      </p:sp>
      <p:sp>
        <p:nvSpPr>
          <p:cNvPr id="12" name="Text 10"/>
          <p:cNvSpPr txBox="1"/>
          <p:nvPr/>
        </p:nvSpPr>
        <p:spPr>
          <a:xfrm>
            <a:off x="548640" y="2642616"/>
            <a:ext cx="50292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234440" y="2624328"/>
            <a:ext cx="5212080" cy="713232"/>
          </a:xfrm>
          <a:prstGeom prst="rect">
            <a:avLst/>
          </a:prstGeom>
          <a:noFill/>
          <a:ln/>
        </p:spPr>
        <p:txBody>
          <a:bodyPr wrap="square" lIns="0" tIns="0" rIns="0" bIns="0" rtlCol="0" anchor="ctr"/>
          <a:lstStyle/>
          <a:p>
            <a:pPr indent="0" marL="0">
              <a:lnSpc>
                <a:spcPct val="110000"/>
              </a:lnSpc>
              <a:buNone/>
            </a:pPr>
            <a:r>
              <a:rPr lang="en-US" sz="1250" b="1" dirty="0">
                <a:solidFill>
                  <a:srgbClr val="1A1F26"/>
                </a:solidFill>
                <a:latin typeface="Calibri" pitchFamily="34" charset="0"/>
                <a:ea typeface="Calibri" pitchFamily="34" charset="-122"/>
                <a:cs typeface="Calibri" pitchFamily="34" charset="-120"/>
              </a:rPr>
              <a:t>signal_red present</a:t>
            </a:r>
            <a:endParaRPr lang="en-US" sz="1250" dirty="0"/>
          </a:p>
        </p:txBody>
      </p:sp>
      <p:sp>
        <p:nvSpPr>
          <p:cNvPr id="14" name="Shape 12"/>
          <p:cNvSpPr/>
          <p:nvPr/>
        </p:nvSpPr>
        <p:spPr>
          <a:xfrm>
            <a:off x="6583680" y="2679192"/>
            <a:ext cx="1417320" cy="566928"/>
          </a:xfrm>
          <a:prstGeom prst="roundRect">
            <a:avLst>
              <a:gd name="adj" fmla="val 9677"/>
            </a:avLst>
          </a:prstGeom>
          <a:solidFill>
            <a:srgbClr val="C0362C"/>
          </a:solidFill>
          <a:ln/>
        </p:spPr>
      </p:sp>
      <p:sp>
        <p:nvSpPr>
          <p:cNvPr id="15" name="Text 13"/>
          <p:cNvSpPr txBox="1"/>
          <p:nvPr/>
        </p:nvSpPr>
        <p:spPr>
          <a:xfrm>
            <a:off x="6583680" y="2679192"/>
            <a:ext cx="141732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WAITING</a:t>
            </a:r>
            <a:endParaRPr lang="en-US" sz="1150" dirty="0"/>
          </a:p>
        </p:txBody>
      </p:sp>
      <p:sp>
        <p:nvSpPr>
          <p:cNvPr id="16" name="Text 14"/>
          <p:cNvSpPr txBox="1"/>
          <p:nvPr/>
        </p:nvSpPr>
        <p:spPr>
          <a:xfrm>
            <a:off x="8183880" y="2624328"/>
            <a:ext cx="3459175" cy="713232"/>
          </a:xfrm>
          <a:prstGeom prst="rect">
            <a:avLst/>
          </a:prstGeom>
          <a:noFill/>
          <a:ln/>
        </p:spPr>
        <p:txBody>
          <a:bodyPr wrap="square" lIns="0" tIns="0" rIns="0" bIns="0" rtlCol="0" anchor="ctr"/>
          <a:lstStyle/>
          <a:p>
            <a:pPr indent="0" marL="0">
              <a:lnSpc>
                <a:spcPct val="115000"/>
              </a:lnSpc>
              <a:buNone/>
            </a:pPr>
            <a:r>
              <a:rPr lang="en-US" sz="1080" dirty="0">
                <a:solidFill>
                  <a:srgbClr val="4A5560"/>
                </a:solidFill>
                <a:latin typeface="Calibri" pitchFamily="34" charset="0"/>
                <a:ea typeface="Calibri" pitchFamily="34" charset="-122"/>
                <a:cs typeface="Calibri" pitchFamily="34" charset="-120"/>
              </a:rPr>
              <a:t>Unconditional — checked before anything that could emit SAFE</a:t>
            </a:r>
            <a:endParaRPr lang="en-US" sz="1080" dirty="0"/>
          </a:p>
        </p:txBody>
      </p:sp>
      <p:sp>
        <p:nvSpPr>
          <p:cNvPr id="17" name="Shape 15"/>
          <p:cNvSpPr/>
          <p:nvPr/>
        </p:nvSpPr>
        <p:spPr>
          <a:xfrm>
            <a:off x="548640" y="3410712"/>
            <a:ext cx="502920" cy="640080"/>
          </a:xfrm>
          <a:prstGeom prst="roundRect">
            <a:avLst>
              <a:gd name="adj" fmla="val 50909"/>
            </a:avLst>
          </a:prstGeom>
          <a:solidFill>
            <a:srgbClr val="1A1F26"/>
          </a:solidFill>
          <a:ln/>
        </p:spPr>
      </p:sp>
      <p:sp>
        <p:nvSpPr>
          <p:cNvPr id="18" name="Text 16"/>
          <p:cNvSpPr txBox="1"/>
          <p:nvPr/>
        </p:nvSpPr>
        <p:spPr>
          <a:xfrm>
            <a:off x="548640" y="3410712"/>
            <a:ext cx="50292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234440" y="3392424"/>
            <a:ext cx="5212080" cy="713232"/>
          </a:xfrm>
          <a:prstGeom prst="rect">
            <a:avLst/>
          </a:prstGeom>
          <a:noFill/>
          <a:ln/>
        </p:spPr>
        <p:txBody>
          <a:bodyPr wrap="square" lIns="0" tIns="0" rIns="0" bIns="0" rtlCol="0" anchor="ctr"/>
          <a:lstStyle/>
          <a:p>
            <a:pPr indent="0" marL="0">
              <a:lnSpc>
                <a:spcPct val="110000"/>
              </a:lnSpc>
              <a:buNone/>
            </a:pPr>
            <a:r>
              <a:rPr lang="en-US" sz="1250" b="1" dirty="0">
                <a:solidFill>
                  <a:srgbClr val="1A1F26"/>
                </a:solidFill>
                <a:latin typeface="Calibri" pitchFamily="34" charset="0"/>
                <a:ea typeface="Calibri" pitchFamily="34" charset="-122"/>
                <a:cs typeface="Calibri" pitchFamily="34" charset="-120"/>
              </a:rPr>
              <a:t>A vehicle is turning across the crossing</a:t>
            </a:r>
            <a:endParaRPr lang="en-US" sz="1250" dirty="0"/>
          </a:p>
        </p:txBody>
      </p:sp>
      <p:sp>
        <p:nvSpPr>
          <p:cNvPr id="20" name="Shape 18"/>
          <p:cNvSpPr/>
          <p:nvPr/>
        </p:nvSpPr>
        <p:spPr>
          <a:xfrm>
            <a:off x="6583680" y="3447288"/>
            <a:ext cx="1417320" cy="566928"/>
          </a:xfrm>
          <a:prstGeom prst="roundRect">
            <a:avLst>
              <a:gd name="adj" fmla="val 9677"/>
            </a:avLst>
          </a:prstGeom>
          <a:solidFill>
            <a:srgbClr val="C0362C"/>
          </a:solidFill>
          <a:ln/>
        </p:spPr>
      </p:sp>
      <p:sp>
        <p:nvSpPr>
          <p:cNvPr id="21" name="Text 19"/>
          <p:cNvSpPr txBox="1"/>
          <p:nvPr/>
        </p:nvSpPr>
        <p:spPr>
          <a:xfrm>
            <a:off x="6583680" y="3447288"/>
            <a:ext cx="141732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WAITING</a:t>
            </a:r>
            <a:endParaRPr lang="en-US" sz="1150" dirty="0"/>
          </a:p>
        </p:txBody>
      </p:sp>
      <p:sp>
        <p:nvSpPr>
          <p:cNvPr id="22" name="Text 20"/>
          <p:cNvSpPr txBox="1"/>
          <p:nvPr/>
        </p:nvSpPr>
        <p:spPr>
          <a:xfrm>
            <a:off x="8183880" y="3392424"/>
            <a:ext cx="3459175" cy="713232"/>
          </a:xfrm>
          <a:prstGeom prst="rect">
            <a:avLst/>
          </a:prstGeom>
          <a:noFill/>
          <a:ln/>
        </p:spPr>
        <p:txBody>
          <a:bodyPr wrap="square" lIns="0" tIns="0" rIns="0" bIns="0" rtlCol="0" anchor="ctr"/>
          <a:lstStyle/>
          <a:p>
            <a:pPr indent="0" marL="0">
              <a:lnSpc>
                <a:spcPct val="115000"/>
              </a:lnSpc>
              <a:buNone/>
            </a:pPr>
            <a:r>
              <a:rPr lang="en-US" sz="1080" dirty="0">
                <a:solidFill>
                  <a:srgbClr val="4A5560"/>
                </a:solidFill>
                <a:latin typeface="Calibri" pitchFamily="34" charset="0"/>
                <a:ea typeface="Calibri" pitchFamily="34" charset="-122"/>
                <a:cs typeface="Calibri" pitchFamily="34" charset="-120"/>
              </a:rPr>
              <a:t>TTC cannot see a turning vehicle's real risk at all</a:t>
            </a:r>
            <a:endParaRPr lang="en-US" sz="1080" dirty="0"/>
          </a:p>
        </p:txBody>
      </p:sp>
      <p:sp>
        <p:nvSpPr>
          <p:cNvPr id="23" name="Shape 21"/>
          <p:cNvSpPr/>
          <p:nvPr/>
        </p:nvSpPr>
        <p:spPr>
          <a:xfrm>
            <a:off x="548640" y="4178808"/>
            <a:ext cx="502920" cy="640080"/>
          </a:xfrm>
          <a:prstGeom prst="roundRect">
            <a:avLst>
              <a:gd name="adj" fmla="val 50909"/>
            </a:avLst>
          </a:prstGeom>
          <a:solidFill>
            <a:srgbClr val="1A1F26"/>
          </a:solidFill>
          <a:ln/>
        </p:spPr>
      </p:sp>
      <p:sp>
        <p:nvSpPr>
          <p:cNvPr id="24" name="Text 22"/>
          <p:cNvSpPr txBox="1"/>
          <p:nvPr/>
        </p:nvSpPr>
        <p:spPr>
          <a:xfrm>
            <a:off x="548640" y="4178808"/>
            <a:ext cx="50292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1234440" y="4160520"/>
            <a:ext cx="5212080" cy="713232"/>
          </a:xfrm>
          <a:prstGeom prst="rect">
            <a:avLst/>
          </a:prstGeom>
          <a:noFill/>
          <a:ln/>
        </p:spPr>
        <p:txBody>
          <a:bodyPr wrap="square" lIns="0" tIns="0" rIns="0" bIns="0" rtlCol="0" anchor="ctr"/>
          <a:lstStyle/>
          <a:p>
            <a:pPr indent="0" marL="0">
              <a:lnSpc>
                <a:spcPct val="110000"/>
              </a:lnSpc>
              <a:buNone/>
            </a:pPr>
            <a:r>
              <a:rPr lang="en-US" sz="1250" b="1" dirty="0">
                <a:solidFill>
                  <a:srgbClr val="1A1F26"/>
                </a:solidFill>
                <a:latin typeface="Calibri" pitchFamily="34" charset="0"/>
                <a:ea typeface="Calibri" pitchFamily="34" charset="-122"/>
                <a:cs typeface="Calibri" pitchFamily="34" charset="-120"/>
              </a:rPr>
              <a:t>A vehicle's TTC &lt; 5.0s</a:t>
            </a:r>
            <a:endParaRPr lang="en-US" sz="1250" dirty="0"/>
          </a:p>
        </p:txBody>
      </p:sp>
      <p:sp>
        <p:nvSpPr>
          <p:cNvPr id="26" name="Shape 24"/>
          <p:cNvSpPr/>
          <p:nvPr/>
        </p:nvSpPr>
        <p:spPr>
          <a:xfrm>
            <a:off x="6583680" y="4215384"/>
            <a:ext cx="1417320" cy="566928"/>
          </a:xfrm>
          <a:prstGeom prst="roundRect">
            <a:avLst>
              <a:gd name="adj" fmla="val 9677"/>
            </a:avLst>
          </a:prstGeom>
          <a:solidFill>
            <a:srgbClr val="C0362C"/>
          </a:solidFill>
          <a:ln/>
        </p:spPr>
      </p:sp>
      <p:sp>
        <p:nvSpPr>
          <p:cNvPr id="27" name="Text 25"/>
          <p:cNvSpPr txBox="1"/>
          <p:nvPr/>
        </p:nvSpPr>
        <p:spPr>
          <a:xfrm>
            <a:off x="6583680" y="4215384"/>
            <a:ext cx="141732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WAITING</a:t>
            </a:r>
            <a:endParaRPr lang="en-US" sz="1150" dirty="0"/>
          </a:p>
        </p:txBody>
      </p:sp>
      <p:sp>
        <p:nvSpPr>
          <p:cNvPr id="28" name="Text 26"/>
          <p:cNvSpPr txBox="1"/>
          <p:nvPr/>
        </p:nvSpPr>
        <p:spPr>
          <a:xfrm>
            <a:off x="8183880" y="4160520"/>
            <a:ext cx="3459175" cy="713232"/>
          </a:xfrm>
          <a:prstGeom prst="rect">
            <a:avLst/>
          </a:prstGeom>
          <a:noFill/>
          <a:ln/>
        </p:spPr>
        <p:txBody>
          <a:bodyPr wrap="square" lIns="0" tIns="0" rIns="0" bIns="0" rtlCol="0" anchor="ctr"/>
          <a:lstStyle/>
          <a:p>
            <a:pPr indent="0" marL="0">
              <a:lnSpc>
                <a:spcPct val="115000"/>
              </a:lnSpc>
              <a:buNone/>
            </a:pPr>
            <a:r>
              <a:rPr lang="en-US" sz="1080" dirty="0">
                <a:solidFill>
                  <a:srgbClr val="4A5560"/>
                </a:solidFill>
                <a:latin typeface="Calibri" pitchFamily="34" charset="0"/>
                <a:ea typeface="Calibri" pitchFamily="34" charset="-122"/>
                <a:cs typeface="Calibri" pitchFamily="34" charset="-120"/>
              </a:rPr>
              <a:t>An imminent, head-on hazard</a:t>
            </a:r>
            <a:endParaRPr lang="en-US" sz="1080" dirty="0"/>
          </a:p>
        </p:txBody>
      </p:sp>
      <p:sp>
        <p:nvSpPr>
          <p:cNvPr id="29" name="Shape 27"/>
          <p:cNvSpPr/>
          <p:nvPr/>
        </p:nvSpPr>
        <p:spPr>
          <a:xfrm>
            <a:off x="548640" y="4946904"/>
            <a:ext cx="502920" cy="640080"/>
          </a:xfrm>
          <a:prstGeom prst="roundRect">
            <a:avLst>
              <a:gd name="adj" fmla="val 50909"/>
            </a:avLst>
          </a:prstGeom>
          <a:solidFill>
            <a:srgbClr val="1A1F26"/>
          </a:solidFill>
          <a:ln/>
        </p:spPr>
      </p:sp>
      <p:sp>
        <p:nvSpPr>
          <p:cNvPr id="30" name="Text 28"/>
          <p:cNvSpPr txBox="1"/>
          <p:nvPr/>
        </p:nvSpPr>
        <p:spPr>
          <a:xfrm>
            <a:off x="548640" y="4946904"/>
            <a:ext cx="50292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1" name="Text 29"/>
          <p:cNvSpPr txBox="1"/>
          <p:nvPr/>
        </p:nvSpPr>
        <p:spPr>
          <a:xfrm>
            <a:off x="1234440" y="4928616"/>
            <a:ext cx="5212080" cy="713232"/>
          </a:xfrm>
          <a:prstGeom prst="rect">
            <a:avLst/>
          </a:prstGeom>
          <a:noFill/>
          <a:ln/>
        </p:spPr>
        <p:txBody>
          <a:bodyPr wrap="square" lIns="0" tIns="0" rIns="0" bIns="0" rtlCol="0" anchor="ctr"/>
          <a:lstStyle/>
          <a:p>
            <a:pPr indent="0" marL="0">
              <a:lnSpc>
                <a:spcPct val="110000"/>
              </a:lnSpc>
              <a:buNone/>
            </a:pPr>
            <a:r>
              <a:rPr lang="en-US" sz="1250" b="1" dirty="0">
                <a:solidFill>
                  <a:srgbClr val="1A1F26"/>
                </a:solidFill>
                <a:latin typeface="Calibri" pitchFamily="34" charset="0"/>
                <a:ea typeface="Calibri" pitchFamily="34" charset="-122"/>
                <a:cs typeface="Calibri" pitchFamily="34" charset="-120"/>
              </a:rPr>
              <a:t>signal_green AND road honestly assessable as clear</a:t>
            </a:r>
            <a:endParaRPr lang="en-US" sz="1250" dirty="0"/>
          </a:p>
        </p:txBody>
      </p:sp>
      <p:sp>
        <p:nvSpPr>
          <p:cNvPr id="32" name="Shape 30"/>
          <p:cNvSpPr/>
          <p:nvPr/>
        </p:nvSpPr>
        <p:spPr>
          <a:xfrm>
            <a:off x="6583680" y="4983480"/>
            <a:ext cx="1417320" cy="566928"/>
          </a:xfrm>
          <a:prstGeom prst="roundRect">
            <a:avLst>
              <a:gd name="adj" fmla="val 9677"/>
            </a:avLst>
          </a:prstGeom>
          <a:solidFill>
            <a:srgbClr val="1E7A46"/>
          </a:solidFill>
          <a:ln/>
        </p:spPr>
      </p:sp>
      <p:sp>
        <p:nvSpPr>
          <p:cNvPr id="33" name="Text 31"/>
          <p:cNvSpPr txBox="1"/>
          <p:nvPr/>
        </p:nvSpPr>
        <p:spPr>
          <a:xfrm>
            <a:off x="6583680" y="4983480"/>
            <a:ext cx="141732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SAFE</a:t>
            </a:r>
            <a:endParaRPr lang="en-US" sz="1150" dirty="0"/>
          </a:p>
        </p:txBody>
      </p:sp>
      <p:sp>
        <p:nvSpPr>
          <p:cNvPr id="34" name="Text 32"/>
          <p:cNvSpPr txBox="1"/>
          <p:nvPr/>
        </p:nvSpPr>
        <p:spPr>
          <a:xfrm>
            <a:off x="8183880" y="4928616"/>
            <a:ext cx="3459175" cy="713232"/>
          </a:xfrm>
          <a:prstGeom prst="rect">
            <a:avLst/>
          </a:prstGeom>
          <a:noFill/>
          <a:ln/>
        </p:spPr>
        <p:txBody>
          <a:bodyPr wrap="square" lIns="0" tIns="0" rIns="0" bIns="0" rtlCol="0" anchor="ctr"/>
          <a:lstStyle/>
          <a:p>
            <a:pPr indent="0" marL="0">
              <a:lnSpc>
                <a:spcPct val="115000"/>
              </a:lnSpc>
              <a:buNone/>
            </a:pPr>
            <a:r>
              <a:rPr lang="en-US" sz="1080" dirty="0">
                <a:solidFill>
                  <a:srgbClr val="4A5560"/>
                </a:solidFill>
                <a:latin typeface="Calibri" pitchFamily="34" charset="0"/>
                <a:ea typeface="Calibri" pitchFamily="34" charset="-122"/>
                <a:cs typeface="Calibri" pitchFamily="34" charset="-120"/>
              </a:rPr>
              <a:t>The only rule that can emit SAFE — both conditions required</a:t>
            </a:r>
            <a:endParaRPr lang="en-US" sz="1080" dirty="0"/>
          </a:p>
        </p:txBody>
      </p:sp>
      <p:sp>
        <p:nvSpPr>
          <p:cNvPr id="35" name="Shape 33"/>
          <p:cNvSpPr/>
          <p:nvPr/>
        </p:nvSpPr>
        <p:spPr>
          <a:xfrm>
            <a:off x="548640" y="5715000"/>
            <a:ext cx="502920" cy="640080"/>
          </a:xfrm>
          <a:prstGeom prst="roundRect">
            <a:avLst>
              <a:gd name="adj" fmla="val 50909"/>
            </a:avLst>
          </a:prstGeom>
          <a:solidFill>
            <a:srgbClr val="1A1F26"/>
          </a:solidFill>
          <a:ln/>
        </p:spPr>
      </p:sp>
      <p:sp>
        <p:nvSpPr>
          <p:cNvPr id="36" name="Text 34"/>
          <p:cNvSpPr txBox="1"/>
          <p:nvPr/>
        </p:nvSpPr>
        <p:spPr>
          <a:xfrm>
            <a:off x="548640" y="5715000"/>
            <a:ext cx="50292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7" name="Text 35"/>
          <p:cNvSpPr txBox="1"/>
          <p:nvPr/>
        </p:nvSpPr>
        <p:spPr>
          <a:xfrm>
            <a:off x="1234440" y="5696712"/>
            <a:ext cx="5212080" cy="713232"/>
          </a:xfrm>
          <a:prstGeom prst="rect">
            <a:avLst/>
          </a:prstGeom>
          <a:noFill/>
          <a:ln/>
        </p:spPr>
        <p:txBody>
          <a:bodyPr wrap="square" lIns="0" tIns="0" rIns="0" bIns="0" rtlCol="0" anchor="ctr"/>
          <a:lstStyle/>
          <a:p>
            <a:pPr indent="0" marL="0">
              <a:lnSpc>
                <a:spcPct val="110000"/>
              </a:lnSpc>
              <a:buNone/>
            </a:pPr>
            <a:r>
              <a:rPr lang="en-US" sz="1250" b="1" dirty="0">
                <a:solidFill>
                  <a:srgbClr val="1A1F26"/>
                </a:solidFill>
                <a:latin typeface="Calibri" pitchFamily="34" charset="0"/>
                <a:ea typeface="Calibri" pitchFamily="34" charset="-122"/>
                <a:cs typeface="Calibri" pitchFamily="34" charset="-120"/>
              </a:rPr>
              <a:t>Otherwise</a:t>
            </a:r>
            <a:endParaRPr lang="en-US" sz="1250" dirty="0"/>
          </a:p>
        </p:txBody>
      </p:sp>
      <p:sp>
        <p:nvSpPr>
          <p:cNvPr id="38" name="Shape 36"/>
          <p:cNvSpPr/>
          <p:nvPr/>
        </p:nvSpPr>
        <p:spPr>
          <a:xfrm>
            <a:off x="6583680" y="5751576"/>
            <a:ext cx="1417320" cy="566928"/>
          </a:xfrm>
          <a:prstGeom prst="roundRect">
            <a:avLst>
              <a:gd name="adj" fmla="val 9677"/>
            </a:avLst>
          </a:prstGeom>
          <a:solidFill>
            <a:srgbClr val="D97706"/>
          </a:solidFill>
          <a:ln/>
        </p:spPr>
      </p:sp>
      <p:sp>
        <p:nvSpPr>
          <p:cNvPr id="39" name="Text 37"/>
          <p:cNvSpPr txBox="1"/>
          <p:nvPr/>
        </p:nvSpPr>
        <p:spPr>
          <a:xfrm>
            <a:off x="6583680" y="5751576"/>
            <a:ext cx="141732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WAITING</a:t>
            </a:r>
            <a:endParaRPr lang="en-US" sz="1150" dirty="0"/>
          </a:p>
        </p:txBody>
      </p:sp>
      <p:sp>
        <p:nvSpPr>
          <p:cNvPr id="40" name="Text 38"/>
          <p:cNvSpPr txBox="1"/>
          <p:nvPr/>
        </p:nvSpPr>
        <p:spPr>
          <a:xfrm>
            <a:off x="8183880" y="5696712"/>
            <a:ext cx="3459175" cy="713232"/>
          </a:xfrm>
          <a:prstGeom prst="rect">
            <a:avLst/>
          </a:prstGeom>
          <a:noFill/>
          <a:ln/>
        </p:spPr>
        <p:txBody>
          <a:bodyPr wrap="square" lIns="0" tIns="0" rIns="0" bIns="0" rtlCol="0" anchor="ctr"/>
          <a:lstStyle/>
          <a:p>
            <a:pPr indent="0" marL="0">
              <a:lnSpc>
                <a:spcPct val="115000"/>
              </a:lnSpc>
              <a:buNone/>
            </a:pPr>
            <a:r>
              <a:rPr lang="en-US" sz="1080" dirty="0">
                <a:solidFill>
                  <a:srgbClr val="4A5560"/>
                </a:solidFill>
                <a:latin typeface="Calibri" pitchFamily="34" charset="0"/>
                <a:ea typeface="Calibri" pitchFamily="34" charset="-122"/>
                <a:cs typeface="Calibri" pitchFamily="34" charset="-120"/>
              </a:rPr>
              <a:t>The default. Reached whenever evidence is absent or ambiguous</a:t>
            </a:r>
            <a:endParaRPr lang="en-US" sz="1080" dirty="0"/>
          </a:p>
        </p:txBody>
      </p:sp>
      <p:sp>
        <p:nvSpPr>
          <p:cNvPr id="41" name="Text 39"/>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Workflow</a:t>
            </a:r>
            <a:endParaRPr lang="en-US" sz="1000" dirty="0"/>
          </a:p>
        </p:txBody>
      </p:sp>
      <p:sp>
        <p:nvSpPr>
          <p:cNvPr id="42" name="Text 4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15 / 17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WORKFLOW</a:t>
            </a:r>
            <a:endParaRPr lang="en-US" sz="1300" dirty="0"/>
          </a:p>
        </p:txBody>
      </p:sp>
      <p:sp>
        <p:nvSpPr>
          <p:cNvPr id="3" name="Text 1"/>
          <p:cNvSpPr txBox="1"/>
          <p:nvPr/>
        </p:nvSpPr>
        <p:spPr>
          <a:xfrm>
            <a:off x="548640" y="713232"/>
            <a:ext cx="11094415" cy="658368"/>
          </a:xfrm>
          <a:prstGeom prst="rect">
            <a:avLst/>
          </a:prstGeom>
          <a:noFill/>
          <a:ln/>
        </p:spPr>
        <p:txBody>
          <a:bodyPr wrap="square" lIns="0" tIns="0" rIns="0" bIns="0" rtlCol="0" anchor="ctr"/>
          <a:lstStyle/>
          <a:p>
            <a:pPr indent="0" marL="0">
              <a:buNone/>
            </a:pPr>
            <a:r>
              <a:rPr lang="en-US" sz="3000" b="1" dirty="0">
                <a:solidFill>
                  <a:srgbClr val="1A1F26"/>
                </a:solidFill>
                <a:latin typeface="Cambria" pitchFamily="34" charset="0"/>
                <a:ea typeface="Cambria" pitchFamily="34" charset="-122"/>
                <a:cs typeface="Cambria" pitchFamily="34" charset="-120"/>
              </a:rPr>
              <a:t>Default is WAIT — the path visualised</a:t>
            </a:r>
            <a:endParaRPr lang="en-US" sz="3000" dirty="0"/>
          </a:p>
        </p:txBody>
      </p:sp>
      <p:sp>
        <p:nvSpPr>
          <p:cNvPr id="4" name="Text 2"/>
          <p:cNvSpPr txBox="1"/>
          <p:nvPr/>
        </p:nvSpPr>
        <p:spPr>
          <a:xfrm>
            <a:off x="548640" y="1417320"/>
            <a:ext cx="11094415" cy="365760"/>
          </a:xfrm>
          <a:prstGeom prst="rect">
            <a:avLst/>
          </a:prstGeom>
          <a:noFill/>
          <a:ln/>
        </p:spPr>
        <p:txBody>
          <a:bodyPr wrap="square" lIns="0" tIns="0" rIns="0" bIns="0" rtlCol="0" anchor="ctr"/>
          <a:lstStyle/>
          <a:p>
            <a:pPr indent="0" marL="0">
              <a:buNone/>
            </a:pPr>
            <a:r>
              <a:rPr lang="en-US" sz="1300" i="1" dirty="0">
                <a:solidFill>
                  <a:srgbClr val="4A5560"/>
                </a:solidFill>
                <a:latin typeface="Calibri" pitchFamily="34" charset="0"/>
                <a:ea typeface="Calibri" pitchFamily="34" charset="-122"/>
                <a:cs typeface="Calibri" pitchFamily="34" charset="-120"/>
              </a:rPr>
              <a:t>SAFE has exactly one door in. Every other path — including every failure, exception, and low-confidence frame — leads to WAITING.</a:t>
            </a:r>
            <a:endParaRPr lang="en-US" sz="1300" dirty="0"/>
          </a:p>
        </p:txBody>
      </p:sp>
      <p:sp>
        <p:nvSpPr>
          <p:cNvPr id="5" name="Shape 3"/>
          <p:cNvSpPr/>
          <p:nvPr/>
        </p:nvSpPr>
        <p:spPr>
          <a:xfrm>
            <a:off x="548640" y="1965960"/>
            <a:ext cx="3931920" cy="566928"/>
          </a:xfrm>
          <a:prstGeom prst="roundRect">
            <a:avLst>
              <a:gd name="adj" fmla="val 9677"/>
            </a:avLst>
          </a:prstGeom>
          <a:solidFill>
            <a:srgbClr val="F3F4F6"/>
          </a:solidFill>
          <a:ln/>
        </p:spPr>
      </p:sp>
      <p:sp>
        <p:nvSpPr>
          <p:cNvPr id="6" name="Text 4"/>
          <p:cNvSpPr txBox="1"/>
          <p:nvPr/>
        </p:nvSpPr>
        <p:spPr>
          <a:xfrm>
            <a:off x="731520" y="1965960"/>
            <a:ext cx="3566160" cy="566928"/>
          </a:xfrm>
          <a:prstGeom prst="rect">
            <a:avLst/>
          </a:prstGeom>
          <a:noFill/>
          <a:ln/>
        </p:spPr>
        <p:txBody>
          <a:bodyPr wrap="square" lIns="0" tIns="0" rIns="0" bIns="0" rtlCol="0" anchor="ctr"/>
          <a:lstStyle/>
          <a:p>
            <a:pPr indent="0" marL="0">
              <a:buNone/>
            </a:pPr>
            <a:r>
              <a:rPr lang="en-US" sz="1250" b="1" dirty="0">
                <a:solidFill>
                  <a:srgbClr val="1A1F26"/>
                </a:solidFill>
                <a:latin typeface="Calibri" pitchFamily="34" charset="0"/>
                <a:ea typeface="Calibri" pitchFamily="34" charset="-122"/>
                <a:cs typeface="Calibri" pitchFamily="34" charset="-120"/>
              </a:rPr>
              <a:t>No crosswalk?</a:t>
            </a:r>
            <a:endParaRPr lang="en-US" sz="1250" dirty="0"/>
          </a:p>
        </p:txBody>
      </p:sp>
      <p:sp>
        <p:nvSpPr>
          <p:cNvPr id="7" name="Shape 5"/>
          <p:cNvSpPr/>
          <p:nvPr/>
        </p:nvSpPr>
        <p:spPr>
          <a:xfrm>
            <a:off x="4480560" y="2249424"/>
            <a:ext cx="640080" cy="0"/>
          </a:xfrm>
          <a:prstGeom prst="line">
            <a:avLst/>
          </a:prstGeom>
          <a:noFill/>
          <a:ln w="19050">
            <a:solidFill>
              <a:srgbClr val="C0362C"/>
            </a:solidFill>
            <a:prstDash val="dash"/>
          </a:ln>
        </p:spPr>
      </p:sp>
      <p:sp>
        <p:nvSpPr>
          <p:cNvPr id="8" name="Text 6"/>
          <p:cNvSpPr txBox="1"/>
          <p:nvPr/>
        </p:nvSpPr>
        <p:spPr>
          <a:xfrm>
            <a:off x="2148840" y="2542032"/>
            <a:ext cx="731520" cy="164592"/>
          </a:xfrm>
          <a:prstGeom prst="rect">
            <a:avLst/>
          </a:prstGeom>
          <a:noFill/>
          <a:ln/>
        </p:spPr>
        <p:txBody>
          <a:bodyPr wrap="square" lIns="0" tIns="0" rIns="0" bIns="0" rtlCol="0" anchor="ctr"/>
          <a:lstStyle/>
          <a:p>
            <a:pPr algn="ctr" indent="0" marL="0">
              <a:buNone/>
            </a:pPr>
            <a:r>
              <a:rPr lang="en-US" sz="1000" i="1" dirty="0">
                <a:solidFill>
                  <a:srgbClr val="1E7A46"/>
                </a:solidFill>
                <a:latin typeface="Calibri" pitchFamily="34" charset="0"/>
                <a:ea typeface="Calibri" pitchFamily="34" charset="-122"/>
                <a:cs typeface="Calibri" pitchFamily="34" charset="-120"/>
              </a:rPr>
              <a:t>↓ no</a:t>
            </a:r>
            <a:endParaRPr lang="en-US" sz="1000" dirty="0"/>
          </a:p>
        </p:txBody>
      </p:sp>
      <p:sp>
        <p:nvSpPr>
          <p:cNvPr id="9" name="Shape 7"/>
          <p:cNvSpPr/>
          <p:nvPr/>
        </p:nvSpPr>
        <p:spPr>
          <a:xfrm>
            <a:off x="548640" y="2697480"/>
            <a:ext cx="3931920" cy="566928"/>
          </a:xfrm>
          <a:prstGeom prst="roundRect">
            <a:avLst>
              <a:gd name="adj" fmla="val 9677"/>
            </a:avLst>
          </a:prstGeom>
          <a:solidFill>
            <a:srgbClr val="F3F4F6"/>
          </a:solidFill>
          <a:ln/>
        </p:spPr>
      </p:sp>
      <p:sp>
        <p:nvSpPr>
          <p:cNvPr id="10" name="Text 8"/>
          <p:cNvSpPr txBox="1"/>
          <p:nvPr/>
        </p:nvSpPr>
        <p:spPr>
          <a:xfrm>
            <a:off x="731520" y="2697480"/>
            <a:ext cx="3566160" cy="566928"/>
          </a:xfrm>
          <a:prstGeom prst="rect">
            <a:avLst/>
          </a:prstGeom>
          <a:noFill/>
          <a:ln/>
        </p:spPr>
        <p:txBody>
          <a:bodyPr wrap="square" lIns="0" tIns="0" rIns="0" bIns="0" rtlCol="0" anchor="ctr"/>
          <a:lstStyle/>
          <a:p>
            <a:pPr indent="0" marL="0">
              <a:buNone/>
            </a:pPr>
            <a:r>
              <a:rPr lang="en-US" sz="1250" b="1" dirty="0">
                <a:solidFill>
                  <a:srgbClr val="1A1F26"/>
                </a:solidFill>
                <a:latin typeface="Calibri" pitchFamily="34" charset="0"/>
                <a:ea typeface="Calibri" pitchFamily="34" charset="-122"/>
                <a:cs typeface="Calibri" pitchFamily="34" charset="-120"/>
              </a:rPr>
              <a:t>signal_red present?</a:t>
            </a:r>
            <a:endParaRPr lang="en-US" sz="1250" dirty="0"/>
          </a:p>
        </p:txBody>
      </p:sp>
      <p:sp>
        <p:nvSpPr>
          <p:cNvPr id="11" name="Shape 9"/>
          <p:cNvSpPr/>
          <p:nvPr/>
        </p:nvSpPr>
        <p:spPr>
          <a:xfrm>
            <a:off x="4480560" y="2980944"/>
            <a:ext cx="640080" cy="0"/>
          </a:xfrm>
          <a:prstGeom prst="line">
            <a:avLst/>
          </a:prstGeom>
          <a:noFill/>
          <a:ln w="19050">
            <a:solidFill>
              <a:srgbClr val="C0362C"/>
            </a:solidFill>
            <a:prstDash val="dash"/>
          </a:ln>
        </p:spPr>
      </p:sp>
      <p:sp>
        <p:nvSpPr>
          <p:cNvPr id="12" name="Text 10"/>
          <p:cNvSpPr txBox="1"/>
          <p:nvPr/>
        </p:nvSpPr>
        <p:spPr>
          <a:xfrm>
            <a:off x="2148840" y="3273552"/>
            <a:ext cx="731520" cy="164592"/>
          </a:xfrm>
          <a:prstGeom prst="rect">
            <a:avLst/>
          </a:prstGeom>
          <a:noFill/>
          <a:ln/>
        </p:spPr>
        <p:txBody>
          <a:bodyPr wrap="square" lIns="0" tIns="0" rIns="0" bIns="0" rtlCol="0" anchor="ctr"/>
          <a:lstStyle/>
          <a:p>
            <a:pPr algn="ctr" indent="0" marL="0">
              <a:buNone/>
            </a:pPr>
            <a:r>
              <a:rPr lang="en-US" sz="1000" i="1" dirty="0">
                <a:solidFill>
                  <a:srgbClr val="1E7A46"/>
                </a:solidFill>
                <a:latin typeface="Calibri" pitchFamily="34" charset="0"/>
                <a:ea typeface="Calibri" pitchFamily="34" charset="-122"/>
                <a:cs typeface="Calibri" pitchFamily="34" charset="-120"/>
              </a:rPr>
              <a:t>↓ no</a:t>
            </a:r>
            <a:endParaRPr lang="en-US" sz="1000" dirty="0"/>
          </a:p>
        </p:txBody>
      </p:sp>
      <p:sp>
        <p:nvSpPr>
          <p:cNvPr id="13" name="Shape 11"/>
          <p:cNvSpPr/>
          <p:nvPr/>
        </p:nvSpPr>
        <p:spPr>
          <a:xfrm>
            <a:off x="548640" y="3429000"/>
            <a:ext cx="3931920" cy="566928"/>
          </a:xfrm>
          <a:prstGeom prst="roundRect">
            <a:avLst>
              <a:gd name="adj" fmla="val 9677"/>
            </a:avLst>
          </a:prstGeom>
          <a:solidFill>
            <a:srgbClr val="F3F4F6"/>
          </a:solidFill>
          <a:ln/>
        </p:spPr>
      </p:sp>
      <p:sp>
        <p:nvSpPr>
          <p:cNvPr id="14" name="Text 12"/>
          <p:cNvSpPr txBox="1"/>
          <p:nvPr/>
        </p:nvSpPr>
        <p:spPr>
          <a:xfrm>
            <a:off x="731520" y="3429000"/>
            <a:ext cx="3566160" cy="566928"/>
          </a:xfrm>
          <a:prstGeom prst="rect">
            <a:avLst/>
          </a:prstGeom>
          <a:noFill/>
          <a:ln/>
        </p:spPr>
        <p:txBody>
          <a:bodyPr wrap="square" lIns="0" tIns="0" rIns="0" bIns="0" rtlCol="0" anchor="ctr"/>
          <a:lstStyle/>
          <a:p>
            <a:pPr indent="0" marL="0">
              <a:buNone/>
            </a:pPr>
            <a:r>
              <a:rPr lang="en-US" sz="1250" b="1" dirty="0">
                <a:solidFill>
                  <a:srgbClr val="1A1F26"/>
                </a:solidFill>
                <a:latin typeface="Calibri" pitchFamily="34" charset="0"/>
                <a:ea typeface="Calibri" pitchFamily="34" charset="-122"/>
                <a:cs typeface="Calibri" pitchFamily="34" charset="-120"/>
              </a:rPr>
              <a:t>Vehicle turning?</a:t>
            </a:r>
            <a:endParaRPr lang="en-US" sz="1250" dirty="0"/>
          </a:p>
        </p:txBody>
      </p:sp>
      <p:sp>
        <p:nvSpPr>
          <p:cNvPr id="15" name="Shape 13"/>
          <p:cNvSpPr/>
          <p:nvPr/>
        </p:nvSpPr>
        <p:spPr>
          <a:xfrm>
            <a:off x="4480560" y="3712464"/>
            <a:ext cx="640080" cy="0"/>
          </a:xfrm>
          <a:prstGeom prst="line">
            <a:avLst/>
          </a:prstGeom>
          <a:noFill/>
          <a:ln w="19050">
            <a:solidFill>
              <a:srgbClr val="C0362C"/>
            </a:solidFill>
            <a:prstDash val="dash"/>
          </a:ln>
        </p:spPr>
      </p:sp>
      <p:sp>
        <p:nvSpPr>
          <p:cNvPr id="16" name="Text 14"/>
          <p:cNvSpPr txBox="1"/>
          <p:nvPr/>
        </p:nvSpPr>
        <p:spPr>
          <a:xfrm>
            <a:off x="2148840" y="4005072"/>
            <a:ext cx="731520" cy="164592"/>
          </a:xfrm>
          <a:prstGeom prst="rect">
            <a:avLst/>
          </a:prstGeom>
          <a:noFill/>
          <a:ln/>
        </p:spPr>
        <p:txBody>
          <a:bodyPr wrap="square" lIns="0" tIns="0" rIns="0" bIns="0" rtlCol="0" anchor="ctr"/>
          <a:lstStyle/>
          <a:p>
            <a:pPr algn="ctr" indent="0" marL="0">
              <a:buNone/>
            </a:pPr>
            <a:r>
              <a:rPr lang="en-US" sz="1000" i="1" dirty="0">
                <a:solidFill>
                  <a:srgbClr val="1E7A46"/>
                </a:solidFill>
                <a:latin typeface="Calibri" pitchFamily="34" charset="0"/>
                <a:ea typeface="Calibri" pitchFamily="34" charset="-122"/>
                <a:cs typeface="Calibri" pitchFamily="34" charset="-120"/>
              </a:rPr>
              <a:t>↓ no</a:t>
            </a:r>
            <a:endParaRPr lang="en-US" sz="1000" dirty="0"/>
          </a:p>
        </p:txBody>
      </p:sp>
      <p:sp>
        <p:nvSpPr>
          <p:cNvPr id="17" name="Shape 15"/>
          <p:cNvSpPr/>
          <p:nvPr/>
        </p:nvSpPr>
        <p:spPr>
          <a:xfrm>
            <a:off x="548640" y="4160520"/>
            <a:ext cx="3931920" cy="566928"/>
          </a:xfrm>
          <a:prstGeom prst="roundRect">
            <a:avLst>
              <a:gd name="adj" fmla="val 9677"/>
            </a:avLst>
          </a:prstGeom>
          <a:solidFill>
            <a:srgbClr val="F3F4F6"/>
          </a:solidFill>
          <a:ln/>
        </p:spPr>
      </p:sp>
      <p:sp>
        <p:nvSpPr>
          <p:cNvPr id="18" name="Text 16"/>
          <p:cNvSpPr txBox="1"/>
          <p:nvPr/>
        </p:nvSpPr>
        <p:spPr>
          <a:xfrm>
            <a:off x="731520" y="4160520"/>
            <a:ext cx="3566160" cy="566928"/>
          </a:xfrm>
          <a:prstGeom prst="rect">
            <a:avLst/>
          </a:prstGeom>
          <a:noFill/>
          <a:ln/>
        </p:spPr>
        <p:txBody>
          <a:bodyPr wrap="square" lIns="0" tIns="0" rIns="0" bIns="0" rtlCol="0" anchor="ctr"/>
          <a:lstStyle/>
          <a:p>
            <a:pPr indent="0" marL="0">
              <a:buNone/>
            </a:pPr>
            <a:r>
              <a:rPr lang="en-US" sz="1250" b="1" dirty="0">
                <a:solidFill>
                  <a:srgbClr val="1A1F26"/>
                </a:solidFill>
                <a:latin typeface="Calibri" pitchFamily="34" charset="0"/>
                <a:ea typeface="Calibri" pitchFamily="34" charset="-122"/>
                <a:cs typeface="Calibri" pitchFamily="34" charset="-120"/>
              </a:rPr>
              <a:t>TTC &lt; 5.0s?</a:t>
            </a:r>
            <a:endParaRPr lang="en-US" sz="1250" dirty="0"/>
          </a:p>
        </p:txBody>
      </p:sp>
      <p:sp>
        <p:nvSpPr>
          <p:cNvPr id="19" name="Shape 17"/>
          <p:cNvSpPr/>
          <p:nvPr/>
        </p:nvSpPr>
        <p:spPr>
          <a:xfrm>
            <a:off x="4480560" y="4443984"/>
            <a:ext cx="640080" cy="0"/>
          </a:xfrm>
          <a:prstGeom prst="line">
            <a:avLst/>
          </a:prstGeom>
          <a:noFill/>
          <a:ln w="19050">
            <a:solidFill>
              <a:srgbClr val="C0362C"/>
            </a:solidFill>
            <a:prstDash val="dash"/>
          </a:ln>
        </p:spPr>
      </p:sp>
      <p:sp>
        <p:nvSpPr>
          <p:cNvPr id="20" name="Text 18"/>
          <p:cNvSpPr txBox="1"/>
          <p:nvPr/>
        </p:nvSpPr>
        <p:spPr>
          <a:xfrm>
            <a:off x="2148840" y="4736592"/>
            <a:ext cx="731520" cy="164592"/>
          </a:xfrm>
          <a:prstGeom prst="rect">
            <a:avLst/>
          </a:prstGeom>
          <a:noFill/>
          <a:ln/>
        </p:spPr>
        <p:txBody>
          <a:bodyPr wrap="square" lIns="0" tIns="0" rIns="0" bIns="0" rtlCol="0" anchor="ctr"/>
          <a:lstStyle/>
          <a:p>
            <a:pPr algn="ctr" indent="0" marL="0">
              <a:buNone/>
            </a:pPr>
            <a:r>
              <a:rPr lang="en-US" sz="1000" i="1" dirty="0">
                <a:solidFill>
                  <a:srgbClr val="1E7A46"/>
                </a:solidFill>
                <a:latin typeface="Calibri" pitchFamily="34" charset="0"/>
                <a:ea typeface="Calibri" pitchFamily="34" charset="-122"/>
                <a:cs typeface="Calibri" pitchFamily="34" charset="-120"/>
              </a:rPr>
              <a:t>↓ no</a:t>
            </a:r>
            <a:endParaRPr lang="en-US" sz="1000" dirty="0"/>
          </a:p>
        </p:txBody>
      </p:sp>
      <p:sp>
        <p:nvSpPr>
          <p:cNvPr id="21" name="Shape 19"/>
          <p:cNvSpPr/>
          <p:nvPr/>
        </p:nvSpPr>
        <p:spPr>
          <a:xfrm>
            <a:off x="548640" y="4892040"/>
            <a:ext cx="3931920" cy="566928"/>
          </a:xfrm>
          <a:prstGeom prst="roundRect">
            <a:avLst>
              <a:gd name="adj" fmla="val 9677"/>
            </a:avLst>
          </a:prstGeom>
          <a:solidFill>
            <a:srgbClr val="F3F4F6"/>
          </a:solidFill>
          <a:ln/>
        </p:spPr>
      </p:sp>
      <p:sp>
        <p:nvSpPr>
          <p:cNvPr id="22" name="Text 20"/>
          <p:cNvSpPr txBox="1"/>
          <p:nvPr/>
        </p:nvSpPr>
        <p:spPr>
          <a:xfrm>
            <a:off x="731520" y="4892040"/>
            <a:ext cx="3566160" cy="566928"/>
          </a:xfrm>
          <a:prstGeom prst="rect">
            <a:avLst/>
          </a:prstGeom>
          <a:noFill/>
          <a:ln/>
        </p:spPr>
        <p:txBody>
          <a:bodyPr wrap="square" lIns="0" tIns="0" rIns="0" bIns="0" rtlCol="0" anchor="ctr"/>
          <a:lstStyle/>
          <a:p>
            <a:pPr indent="0" marL="0">
              <a:buNone/>
            </a:pPr>
            <a:r>
              <a:rPr lang="en-US" sz="1250" b="1" dirty="0">
                <a:solidFill>
                  <a:srgbClr val="1A1F26"/>
                </a:solidFill>
                <a:latin typeface="Calibri" pitchFamily="34" charset="0"/>
                <a:ea typeface="Calibri" pitchFamily="34" charset="-122"/>
                <a:cs typeface="Calibri" pitchFamily="34" charset="-120"/>
              </a:rPr>
              <a:t>signal_green + road clear?</a:t>
            </a:r>
            <a:endParaRPr lang="en-US" sz="1250" dirty="0"/>
          </a:p>
        </p:txBody>
      </p:sp>
      <p:sp>
        <p:nvSpPr>
          <p:cNvPr id="23" name="Shape 21"/>
          <p:cNvSpPr/>
          <p:nvPr/>
        </p:nvSpPr>
        <p:spPr>
          <a:xfrm>
            <a:off x="4480560" y="5175504"/>
            <a:ext cx="640080" cy="0"/>
          </a:xfrm>
          <a:prstGeom prst="line">
            <a:avLst/>
          </a:prstGeom>
          <a:noFill/>
          <a:ln w="25400">
            <a:solidFill>
              <a:srgbClr val="1E7A46"/>
            </a:solidFill>
            <a:prstDash val="solid"/>
          </a:ln>
        </p:spPr>
      </p:sp>
      <p:sp>
        <p:nvSpPr>
          <p:cNvPr id="24" name="Shape 22"/>
          <p:cNvSpPr/>
          <p:nvPr/>
        </p:nvSpPr>
        <p:spPr>
          <a:xfrm>
            <a:off x="5120640" y="1965960"/>
            <a:ext cx="6522415" cy="2761488"/>
          </a:xfrm>
          <a:prstGeom prst="roundRect">
            <a:avLst>
              <a:gd name="adj" fmla="val 2649"/>
            </a:avLst>
          </a:prstGeom>
          <a:solidFill>
            <a:srgbClr val="C0362C"/>
          </a:solidFill>
          <a:ln/>
          <a:effectLst>
            <a:outerShdw sx="100000" sy="100000" kx="0" ky="0" algn="bl" rotWithShape="0" blurRad="76200" dist="25400" dir="5400000">
              <a:srgbClr val="8A94A0">
                <a:alpha val="30000"/>
              </a:srgbClr>
            </a:outerShdw>
          </a:effectLst>
        </p:spPr>
      </p:sp>
      <p:sp>
        <p:nvSpPr>
          <p:cNvPr id="25" name="Text 23"/>
          <p:cNvSpPr txBox="1"/>
          <p:nvPr/>
        </p:nvSpPr>
        <p:spPr>
          <a:xfrm>
            <a:off x="5120640" y="2240280"/>
            <a:ext cx="6522415"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WAITING</a:t>
            </a:r>
            <a:endParaRPr lang="en-US" sz="2600" dirty="0"/>
          </a:p>
        </p:txBody>
      </p:sp>
      <p:sp>
        <p:nvSpPr>
          <p:cNvPr id="26" name="Text 24"/>
          <p:cNvSpPr txBox="1"/>
          <p:nvPr/>
        </p:nvSpPr>
        <p:spPr>
          <a:xfrm>
            <a:off x="5440680" y="2880360"/>
            <a:ext cx="5882335" cy="1097280"/>
          </a:xfrm>
          <a:prstGeom prst="rect">
            <a:avLst/>
          </a:prstGeom>
          <a:noFill/>
          <a:ln/>
        </p:spPr>
        <p:txBody>
          <a:bodyPr wrap="square" lIns="0" tIns="0" rIns="0" bIns="0" rtlCol="0" anchor="ctr"/>
          <a:lstStyle/>
          <a:p>
            <a:pPr algn="ctr" indent="0" marL="0">
              <a:lnSpc>
                <a:spcPct val="130000"/>
              </a:lnSpc>
              <a:buNone/>
            </a:pPr>
            <a:r>
              <a:rPr lang="en-US" sz="1200" dirty="0">
                <a:solidFill>
                  <a:srgbClr val="FCE3E0"/>
                </a:solidFill>
                <a:latin typeface="Calibri" pitchFamily="34" charset="0"/>
                <a:ea typeface="Calibri" pitchFamily="34" charset="-122"/>
                <a:cs typeface="Calibri" pitchFamily="34" charset="-120"/>
              </a:rPr>
              <a:t>The default. Reached by four of the five checks shown, every exception, and every low-confidence read.</a:t>
            </a:r>
            <a:endParaRPr lang="en-US" sz="1200" dirty="0"/>
          </a:p>
        </p:txBody>
      </p:sp>
      <p:sp>
        <p:nvSpPr>
          <p:cNvPr id="27" name="Shape 25"/>
          <p:cNvSpPr/>
          <p:nvPr/>
        </p:nvSpPr>
        <p:spPr>
          <a:xfrm>
            <a:off x="5120640" y="4892040"/>
            <a:ext cx="6522415" cy="566928"/>
          </a:xfrm>
          <a:prstGeom prst="roundRect">
            <a:avLst>
              <a:gd name="adj" fmla="val 12903"/>
            </a:avLst>
          </a:prstGeom>
          <a:solidFill>
            <a:srgbClr val="1E7A46"/>
          </a:solidFill>
          <a:ln/>
          <a:effectLst>
            <a:outerShdw sx="100000" sy="100000" kx="0" ky="0" algn="bl" rotWithShape="0" blurRad="76200" dist="25400" dir="5400000">
              <a:srgbClr val="8A94A0">
                <a:alpha val="25000"/>
              </a:srgbClr>
            </a:outerShdw>
          </a:effectLst>
        </p:spPr>
      </p:sp>
      <p:sp>
        <p:nvSpPr>
          <p:cNvPr id="28" name="Text 26"/>
          <p:cNvSpPr txBox="1"/>
          <p:nvPr/>
        </p:nvSpPr>
        <p:spPr>
          <a:xfrm>
            <a:off x="5349240" y="4892040"/>
            <a:ext cx="6065215" cy="56692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SAFE_TO_CROSS  —  reached only when BOTH conditions hold</a:t>
            </a:r>
            <a:endParaRPr lang="en-US" sz="1300" dirty="0"/>
          </a:p>
        </p:txBody>
      </p:sp>
      <p:sp>
        <p:nvSpPr>
          <p:cNvPr id="29" name="Text 2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Workflow</a:t>
            </a:r>
            <a:endParaRPr lang="en-US" sz="1000" dirty="0"/>
          </a:p>
        </p:txBody>
      </p:sp>
      <p:sp>
        <p:nvSpPr>
          <p:cNvPr id="30" name="Text 2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16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F26"/>
        </a:solidFill>
      </p:bgPr>
    </p:bg>
    <p:spTree>
      <p:nvGrpSpPr>
        <p:cNvPr id="1" name=""/>
        <p:cNvGrpSpPr/>
        <p:nvPr/>
      </p:nvGrpSpPr>
      <p:grpSpPr>
        <a:xfrm>
          <a:off x="0" y="0"/>
          <a:ext cx="0" cy="0"/>
          <a:chOff x="0" y="0"/>
          <a:chExt cx="0" cy="0"/>
        </a:xfrm>
      </p:grpSpPr>
      <p:sp>
        <p:nvSpPr>
          <p:cNvPr id="2" name="Shape 0"/>
          <p:cNvSpPr/>
          <p:nvPr/>
        </p:nvSpPr>
        <p:spPr>
          <a:xfrm>
            <a:off x="-1280160" y="4389120"/>
            <a:ext cx="4023360" cy="4023360"/>
          </a:xfrm>
          <a:prstGeom prst="ellipse">
            <a:avLst/>
          </a:prstGeom>
          <a:solidFill>
            <a:srgbClr val="232A34"/>
          </a:solidFill>
          <a:ln/>
        </p:spPr>
      </p:sp>
      <p:sp>
        <p:nvSpPr>
          <p:cNvPr id="3" name="Text 1"/>
          <p:cNvSpPr txBox="1"/>
          <p:nvPr/>
        </p:nvSpPr>
        <p:spPr>
          <a:xfrm>
            <a:off x="548640" y="1188720"/>
            <a:ext cx="11094415"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this stands, honestly</a:t>
            </a:r>
            <a:endParaRPr lang="en-US" sz="2800" dirty="0"/>
          </a:p>
        </p:txBody>
      </p:sp>
      <p:sp>
        <p:nvSpPr>
          <p:cNvPr id="4" name="Text 2"/>
          <p:cNvSpPr txBox="1"/>
          <p:nvPr/>
        </p:nvSpPr>
        <p:spPr>
          <a:xfrm>
            <a:off x="548640" y="2103120"/>
            <a:ext cx="2377440" cy="365760"/>
          </a:xfrm>
          <a:prstGeom prst="rect">
            <a:avLst/>
          </a:prstGeom>
          <a:noFill/>
          <a:ln/>
        </p:spPr>
        <p:txBody>
          <a:bodyPr wrap="square" lIns="0" tIns="0" rIns="0" bIns="0" rtlCol="0" anchor="ctr"/>
          <a:lstStyle/>
          <a:p>
            <a:pPr indent="0" marL="0">
              <a:buNone/>
            </a:pPr>
            <a:r>
              <a:rPr lang="en-US" sz="1200" b="1" spc="150" kern="0" dirty="0">
                <a:solidFill>
                  <a:srgbClr val="D97706"/>
                </a:solidFill>
                <a:latin typeface="Calibri" pitchFamily="34" charset="0"/>
                <a:ea typeface="Calibri" pitchFamily="34" charset="-122"/>
                <a:cs typeface="Calibri" pitchFamily="34" charset="-120"/>
              </a:rPr>
              <a:t>BUILT</a:t>
            </a:r>
            <a:endParaRPr lang="en-US" sz="1200" dirty="0"/>
          </a:p>
        </p:txBody>
      </p:sp>
      <p:sp>
        <p:nvSpPr>
          <p:cNvPr id="5" name="Text 3"/>
          <p:cNvSpPr txBox="1"/>
          <p:nvPr/>
        </p:nvSpPr>
        <p:spPr>
          <a:xfrm>
            <a:off x="3108960" y="2057400"/>
            <a:ext cx="8534095" cy="777240"/>
          </a:xfrm>
          <a:prstGeom prst="rect">
            <a:avLst/>
          </a:prstGeom>
          <a:noFill/>
          <a:ln/>
        </p:spPr>
        <p:txBody>
          <a:bodyPr wrap="square" lIns="0" tIns="0" rIns="0" bIns="0" rtlCol="0" anchor="ctr"/>
          <a:lstStyle/>
          <a:p>
            <a:pPr indent="0" marL="0">
              <a:lnSpc>
                <a:spcPct val="125000"/>
              </a:lnSpc>
              <a:buNone/>
            </a:pPr>
            <a:r>
              <a:rPr lang="en-US" sz="1400" dirty="0">
                <a:solidFill>
                  <a:srgbClr val="C9D0D8"/>
                </a:solidFill>
                <a:latin typeface="Calibri" pitchFamily="34" charset="0"/>
                <a:ea typeface="Calibri" pitchFamily="34" charset="-122"/>
                <a:cs typeface="Calibri" pitchFamily="34" charset="-120"/>
              </a:rPr>
              <a:t>Detector + tracker + monocular TTC + 6-rule decision layer + threaded audio + per-frame SQLite logging</a:t>
            </a:r>
            <a:endParaRPr lang="en-US" sz="1400" dirty="0"/>
          </a:p>
        </p:txBody>
      </p:sp>
      <p:sp>
        <p:nvSpPr>
          <p:cNvPr id="6" name="Text 4"/>
          <p:cNvSpPr txBox="1"/>
          <p:nvPr/>
        </p:nvSpPr>
        <p:spPr>
          <a:xfrm>
            <a:off x="548640" y="3063240"/>
            <a:ext cx="2377440" cy="365760"/>
          </a:xfrm>
          <a:prstGeom prst="rect">
            <a:avLst/>
          </a:prstGeom>
          <a:noFill/>
          <a:ln/>
        </p:spPr>
        <p:txBody>
          <a:bodyPr wrap="square" lIns="0" tIns="0" rIns="0" bIns="0" rtlCol="0" anchor="ctr"/>
          <a:lstStyle/>
          <a:p>
            <a:pPr indent="0" marL="0">
              <a:buNone/>
            </a:pPr>
            <a:r>
              <a:rPr lang="en-US" sz="1200" b="1" spc="150" kern="0" dirty="0">
                <a:solidFill>
                  <a:srgbClr val="D97706"/>
                </a:solidFill>
                <a:latin typeface="Calibri" pitchFamily="34" charset="0"/>
                <a:ea typeface="Calibri" pitchFamily="34" charset="-122"/>
                <a:cs typeface="Calibri" pitchFamily="34" charset="-120"/>
              </a:rPr>
              <a:t>NOT YET CLAIMED</a:t>
            </a:r>
            <a:endParaRPr lang="en-US" sz="1200" dirty="0"/>
          </a:p>
        </p:txBody>
      </p:sp>
      <p:sp>
        <p:nvSpPr>
          <p:cNvPr id="7" name="Text 5"/>
          <p:cNvSpPr txBox="1"/>
          <p:nvPr/>
        </p:nvSpPr>
        <p:spPr>
          <a:xfrm>
            <a:off x="3108960" y="3017520"/>
            <a:ext cx="8534095" cy="777240"/>
          </a:xfrm>
          <a:prstGeom prst="rect">
            <a:avLst/>
          </a:prstGeom>
          <a:noFill/>
          <a:ln/>
        </p:spPr>
        <p:txBody>
          <a:bodyPr wrap="square" lIns="0" tIns="0" rIns="0" bIns="0" rtlCol="0" anchor="ctr"/>
          <a:lstStyle/>
          <a:p>
            <a:pPr indent="0" marL="0">
              <a:lnSpc>
                <a:spcPct val="125000"/>
              </a:lnSpc>
              <a:buNone/>
            </a:pPr>
            <a:r>
              <a:rPr lang="en-US" sz="1400" dirty="0">
                <a:solidFill>
                  <a:srgbClr val="C9D0D8"/>
                </a:solidFill>
                <a:latin typeface="Calibri" pitchFamily="34" charset="0"/>
                <a:ea typeface="Calibri" pitchFamily="34" charset="-122"/>
                <a:cs typeface="Calibri" pitchFamily="34" charset="-120"/>
              </a:rPr>
              <a:t>No false-safe rate, no overall accuracy figure, no proof on real footage — end-to-end validation is ongoing</a:t>
            </a:r>
            <a:endParaRPr lang="en-US" sz="1400" dirty="0"/>
          </a:p>
        </p:txBody>
      </p:sp>
      <p:sp>
        <p:nvSpPr>
          <p:cNvPr id="8" name="Text 6"/>
          <p:cNvSpPr txBox="1"/>
          <p:nvPr/>
        </p:nvSpPr>
        <p:spPr>
          <a:xfrm>
            <a:off x="548640" y="4023360"/>
            <a:ext cx="2377440" cy="365760"/>
          </a:xfrm>
          <a:prstGeom prst="rect">
            <a:avLst/>
          </a:prstGeom>
          <a:noFill/>
          <a:ln/>
        </p:spPr>
        <p:txBody>
          <a:bodyPr wrap="square" lIns="0" tIns="0" rIns="0" bIns="0" rtlCol="0" anchor="ctr"/>
          <a:lstStyle/>
          <a:p>
            <a:pPr indent="0" marL="0">
              <a:buNone/>
            </a:pPr>
            <a:r>
              <a:rPr lang="en-US" sz="1200" b="1" spc="150" kern="0" dirty="0">
                <a:solidFill>
                  <a:srgbClr val="D97706"/>
                </a:solidFill>
                <a:latin typeface="Calibri" pitchFamily="34" charset="0"/>
                <a:ea typeface="Calibri" pitchFamily="34" charset="-122"/>
                <a:cs typeface="Calibri" pitchFamily="34" charset="-120"/>
              </a:rPr>
              <a:t>NEXT ROUND</a:t>
            </a:r>
            <a:endParaRPr lang="en-US" sz="1200" dirty="0"/>
          </a:p>
        </p:txBody>
      </p:sp>
      <p:sp>
        <p:nvSpPr>
          <p:cNvPr id="9" name="Text 7"/>
          <p:cNvSpPr txBox="1"/>
          <p:nvPr/>
        </p:nvSpPr>
        <p:spPr>
          <a:xfrm>
            <a:off x="3108960" y="3977640"/>
            <a:ext cx="8534095" cy="777240"/>
          </a:xfrm>
          <a:prstGeom prst="rect">
            <a:avLst/>
          </a:prstGeom>
          <a:noFill/>
          <a:ln/>
        </p:spPr>
        <p:txBody>
          <a:bodyPr wrap="square" lIns="0" tIns="0" rIns="0" bIns="0" rtlCol="0" anchor="ctr"/>
          <a:lstStyle/>
          <a:p>
            <a:pPr indent="0" marL="0">
              <a:lnSpc>
                <a:spcPct val="125000"/>
              </a:lnSpc>
              <a:buNone/>
            </a:pPr>
            <a:r>
              <a:rPr lang="en-US" sz="1400" dirty="0">
                <a:solidFill>
                  <a:srgbClr val="C9D0D8"/>
                </a:solidFill>
                <a:latin typeface="Calibri" pitchFamily="34" charset="0"/>
                <a:ea typeface="Calibri" pitchFamily="34" charset="-122"/>
                <a:cs typeface="Calibri" pitchFamily="34" charset="-120"/>
              </a:rPr>
              <a:t>Ground-truth annotation, ByteTrack-linked TTC error on real tracks, and the false-safe rate measured honestly</a:t>
            </a:r>
            <a:endParaRPr lang="en-US" sz="1400" dirty="0"/>
          </a:p>
        </p:txBody>
      </p:sp>
      <p:sp>
        <p:nvSpPr>
          <p:cNvPr id="10" name="Text 8"/>
          <p:cNvSpPr txBox="1"/>
          <p:nvPr/>
        </p:nvSpPr>
        <p:spPr>
          <a:xfrm>
            <a:off x="548640" y="5760720"/>
            <a:ext cx="3657600" cy="457200"/>
          </a:xfrm>
          <a:prstGeom prst="rect">
            <a:avLst/>
          </a:prstGeom>
          <a:noFill/>
          <a:ln/>
        </p:spPr>
        <p:txBody>
          <a:bodyPr wrap="square" lIns="0" tIns="0" rIns="0" bIns="0" rtlCol="0" anchor="ctr"/>
          <a:lstStyle/>
          <a:p>
            <a:pPr indent="0" marL="0">
              <a:buNone/>
            </a:pPr>
            <a:r>
              <a:rPr lang="en-US" sz="2000" i="1" dirty="0">
                <a:solidFill>
                  <a:srgbClr val="4A5560"/>
                </a:solidFill>
                <a:latin typeface="Cambria" pitchFamily="34" charset="0"/>
                <a:ea typeface="Cambria" pitchFamily="34" charset="-122"/>
                <a:cs typeface="Cambria" pitchFamily="34" charset="-120"/>
              </a:rPr>
              <a:t>Questions?</a:t>
            </a:r>
            <a:endParaRPr lang="en-US" sz="2000" dirty="0"/>
          </a:p>
        </p:txBody>
      </p:sp>
      <p:sp>
        <p:nvSpPr>
          <p:cNvPr id="11" name="Text 9"/>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1000" dirty="0">
                <a:solidFill>
                  <a:srgbClr val="4A5560"/>
                </a:solidFill>
                <a:latin typeface="Calibri" pitchFamily="34" charset="0"/>
                <a:ea typeface="Calibri" pitchFamily="34" charset="-122"/>
                <a:cs typeface="Calibri" pitchFamily="34" charset="-120"/>
              </a:rPr>
              <a:t>Closing</a:t>
            </a:r>
            <a:endParaRPr lang="en-US" sz="1000" dirty="0"/>
          </a:p>
        </p:txBody>
      </p:sp>
      <p:sp>
        <p:nvSpPr>
          <p:cNvPr id="12" name="Text 1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4A5560"/>
                </a:solidFill>
                <a:latin typeface="Calibri" pitchFamily="34" charset="0"/>
                <a:ea typeface="Calibri" pitchFamily="34" charset="-122"/>
                <a:cs typeface="Calibri" pitchFamily="34" charset="-120"/>
              </a:rPr>
              <a:t>17 / 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2026-09-26T10:12:16Z</dcterms:created>
  <dcterms:modified xsi:type="dcterms:W3CDTF">2026-09-26T10:12:16Z</dcterms:modified>
</cp:coreProperties>
</file>